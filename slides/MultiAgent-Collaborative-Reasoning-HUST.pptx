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Lst>
  <p:notesMasterIdLst>
    <p:notesMasterId r:id="rId4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82" r:id="rId48"/>
    <p:sldId id="283" r:id="rId49"/>
    <p:sldId id="284" r:id="rId50"/>
    <p:sldId id="285" r:id="rId51"/>
    <p:sldId id="286" r:id="rId52"/>
    <p:sldId id="287" r:id="rId53"/>
    <p:sldId id="288" r:id="rId54"/>
    <p:sldId id="289" r:id="rId55"/>
    <p:sldId id="290" r:id="rId56"/>
    <p:sldId id="291" r:id="rId57"/>
    <p:sldId id="292" r:id="rId58"/>
    <p:sldId id="293" r:id="rId59"/>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0714"/>
  </p:normalViewPr>
  <p:slideViewPr>
    <p:cSldViewPr snapToGrid="0">
      <p:cViewPr varScale="1">
        <p:scale>
          <a:sx n="74" d="100"/>
          <a:sy n="74" d="100"/>
        </p:scale>
        <p:origin x="25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  <Relationship Id="rId48" Type="http://schemas.openxmlformats.org/officeDocument/2006/relationships/slide" Target="slides/slide27.xml"/>
  <Relationship Id="rId49" Type="http://schemas.openxmlformats.org/officeDocument/2006/relationships/slide" Target="slides/slide28.xml"/>
  <Relationship Id="rId50" Type="http://schemas.openxmlformats.org/officeDocument/2006/relationships/slide" Target="slides/slide29.xml"/>
  <Relationship Id="rId51" Type="http://schemas.openxmlformats.org/officeDocument/2006/relationships/slide" Target="slides/slide30.xml"/>
  <Relationship Id="rId52" Type="http://schemas.openxmlformats.org/officeDocument/2006/relationships/slide" Target="slides/slide31.xml"/>
  <Relationship Id="rId53" Type="http://schemas.openxmlformats.org/officeDocument/2006/relationships/slide" Target="slides/slide32.xml"/>
  <Relationship Id="rId54" Type="http://schemas.openxmlformats.org/officeDocument/2006/relationships/slide" Target="slides/slide33.xml"/>
  <Relationship Id="rId55" Type="http://schemas.openxmlformats.org/officeDocument/2006/relationships/slide" Target="slides/slide34.xml"/>
  <Relationship Id="rId56" Type="http://schemas.openxmlformats.org/officeDocument/2006/relationships/slide" Target="slides/slide35.xml"/>
  <Relationship Id="rId57" Type="http://schemas.openxmlformats.org/officeDocument/2006/relationships/slide" Target="slides/slide36.xml"/>
  <Relationship Id="rId58" Type="http://schemas.openxmlformats.org/officeDocument/2006/relationships/slide" Target="slides/slide37.xml"/>
  <Relationship Id="rId59" Type="http://schemas.openxmlformats.org/officeDocument/2006/relationships/slide" Target="slides/slide38.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666666"/>
                </a:solidFill>
                <a:latin typeface="Roboto Medium"/>
              </a:rPr>
              <a:t>Qwen3-4B, random topology (F1 / accuracy)</a:t>
            </a:r>
          </a:p>
        </c:rich>
      </c:tx>
      <c:layout/>
      <c:overlay val="0"/>
    </c:title>
    <c:autoTitleDeleted val="0"/>
    <c:plotArea>
      <c:barChart>
        <c:barDir val="col"/>
        <c:grouping val="clustered"/>
        <c:ser>
          <c:idx val="0"/>
          <c:order val="0"/>
          <c:tx>
            <c:strRef>
              <c:f>Sheet1!$B$1</c:f>
              <c:strCache>
                <c:ptCount val="1"/>
                <c:pt idx="0">
                  <c:v>AgentDropout</c:v>
                </c:pt>
              </c:strCache>
            </c:strRef>
          </c:tx>
          <c:spPr>
            <a:solidFill>
              <a:srgbClr val="B8C6D4"/>
            </a:solidFill>
          </c:spPr>
          <c:cat>
            <c:strRef>
              <c:f>Sheet1!$A$2:$A$6</c:f>
              <c:strCache>
                <c:ptCount val="5"/>
                <c:pt idx="0">
                  <c:v>HotpotQA</c:v>
                </c:pt>
                <c:pt idx="1">
                  <c:v>2Wiki</c:v>
                </c:pt>
                <c:pt idx="2">
                  <c:v>MuSiQue</c:v>
                </c:pt>
                <c:pt idx="3">
                  <c:v>MATH-500</c:v>
                </c:pt>
                <c:pt idx="4">
                  <c:v>MMLU-Pro</c:v>
                </c:pt>
              </c:strCache>
            </c:strRef>
          </c:cat>
          <c:val>
            <c:numRef>
              <c:f>Sheet1!$B$2:$B$6</c:f>
              <c:numCache>
                <c:formatCode>General</c:formatCode>
                <c:ptCount val="5"/>
                <c:pt idx="0">
                  <c:v>73.14</c:v>
                </c:pt>
                <c:pt idx="1">
                  <c:v>78.45</c:v>
                </c:pt>
                <c:pt idx="2">
                  <c:v>37.06</c:v>
                </c:pt>
                <c:pt idx="3">
                  <c:v>82.6</c:v>
                </c:pt>
                <c:pt idx="4">
                  <c:v>67.4</c:v>
                </c:pt>
              </c:numCache>
            </c:numRef>
          </c:val>
        </c:ser>
        <c:ser>
          <c:idx val="1"/>
          <c:order val="1"/>
          <c:tx>
            <c:strRef>
              <c:f>Sheet1!$C$1</c:f>
              <c:strCache>
                <c:ptCount val="1"/>
                <c:pt idx="0">
                  <c:v>AGENT-RADAR</c:v>
                </c:pt>
              </c:strCache>
            </c:strRef>
          </c:tx>
          <c:spPr>
            <a:solidFill>
              <a:srgbClr val="003366"/>
            </a:solidFill>
          </c:spPr>
          <c:cat>
            <c:strRef>
              <c:f>Sheet1!$A$2:$A$6</c:f>
              <c:strCache>
                <c:ptCount val="5"/>
                <c:pt idx="0">
                  <c:v>HotpotQA</c:v>
                </c:pt>
                <c:pt idx="1">
                  <c:v>2Wiki</c:v>
                </c:pt>
                <c:pt idx="2">
                  <c:v>MuSiQue</c:v>
                </c:pt>
                <c:pt idx="3">
                  <c:v>MATH-500</c:v>
                </c:pt>
                <c:pt idx="4">
                  <c:v>MMLU-Pro</c:v>
                </c:pt>
              </c:strCache>
            </c:strRef>
          </c:cat>
          <c:val>
            <c:numRef>
              <c:f>Sheet1!$C$2:$C$6</c:f>
              <c:numCache>
                <c:formatCode>General</c:formatCode>
                <c:ptCount val="5"/>
                <c:pt idx="0">
                  <c:v>80.78</c:v>
                </c:pt>
                <c:pt idx="1">
                  <c:v>80.81</c:v>
                </c:pt>
                <c:pt idx="2">
                  <c:v>39.72</c:v>
                </c:pt>
                <c:pt idx="3">
                  <c:v>88.8</c:v>
                </c:pt>
                <c:pt idx="4">
                  <c:v>69.4</c:v>
                </c:pt>
              </c:numCache>
            </c:numRef>
          </c:val>
        </c:ser>
        <c:dLbls>
          <c:numFmt formatCode="0.0" sourceLinked="0"/>
          <c:txPr>
            <a:bodyPr/>
            <a:lstStyle/>
            <a:p>
              <a:pPr>
                <a:defRPr sz="1100">
                  <a:latin typeface="Roboto Medium"/>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FDAE8"/>
            </a:solidFill>
          </a:ln>
        </c:spPr>
        <c:txPr>
          <a:bodyPr/>
          <a:lstStyle/>
          <a:p>
            <a:pPr>
              <a:defRPr sz="1200">
                <a:latin typeface="Roboto Medium"/>
              </a:defRPr>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legend>
      <c:legendPos val="b"/>
      <c:overlay val="0"/>
      <c:txPr>
        <a:bodyPr/>
        <a:lstStyle/>
        <a:p>
          <a:pPr>
            <a:defRPr sz="1200">
              <a:latin typeface="Roboto Medium"/>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Em xin chào cô và các bạn. Sau đây em xin phép thay mặt nhóm trình bày bài tập lớn dạng tiểu luận của nhóm em, với chủ đề số 3: Multi-Agent Systems và Collaborative Reasoning.</a:t>
            </a:r>
          </a:p>
          <a:p/>
          <a:p>
            <a:r>
              <a:t>Nói ngắn gọn, chủ đề này nghiên cứu cách nhiều agent dựa trên LLM cùng phối hợp để giải một bài toán, thay vì chỉ dùng một mô hình duy nhất. Nhóm em đã chọn 8 paper mới nhất trên arXiv, nộp từ tháng 5 đến tháng 9 năm 2026, để khảo sát, phân tích và so sánh.</a:t>
            </a:r>
          </a:p>
          <a:p/>
          <a:p>
            <a:r>
              <a:t>Nhóm em gồm 4 thành viên: em Trần Xuân Hương, bạn Vũ Tùng Dương, bạn Phạm Việt Dũng và bạn Lê Văn Đức. Mỗi bạn phụ trách 2 paper cùng một hướng và sẽ trình bày phần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Bài trình bày gồm sáu phần.</a:t>
            </a:r>
          </a:p>
          <a:p>
            <a:r>
              <a:t>- Phần một giới thiệu bối cảnh, các thách thức của multi-agent system và cách nhóm chọn 8 paper.</a:t>
            </a:r>
          </a:p>
          <a:p>
            <a:r>
              <a:t>- Phần hai đến phần năm là bốn hướng nghiên cứu, mỗi hướng có 2 paper: Safety &amp; Robustness, Orchestration &amp; Control, Communication &amp; Interaction và Domain Applications.</a:t>
            </a:r>
          </a:p>
          <a:p>
            <a:r>
              <a:t>- Phần sáu so sánh có hệ thống 8 paper, chỉ ra research gap và kết luận.</a:t>
            </a:r>
          </a:p>
          <a:p/>
          <a:p>
            <a:r>
              <a:t>Em sẽ trình bày phần một và phần hai, sau đó lần lượt là bạn Dương, bạn Dũng và bạn Đức.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Em xin bắt đầu với phần một: multi-agent system là gì, vì sao nó đang được quan tâm, bốn thách thức chính, và cách nhóm em chọn cũng như phân loại 8 paper.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Một agent dựa trên LLM gồm ba thành phần: backbone LLM, role prompt mô tả vai trò, và có thể thêm tool như web search hay code interpreter. Khi ghép nhiều agent lại, mỗi agent đảm nhận một vai trò, ví dụ người lập kế hoạch, người viết code, người phản biện, và chúng trao đổi message để cùng đi đến lời giải. Các framework tiêu biểu là CAMEL, AutoGen, MetaGPT và multi-agent debate.</a:t>
            </a:r>
          </a:p>
          <a:p/>
          <a:p>
            <a:r>
              <a:t>Ở bên phải là cách nhìn quan trọng nhất của cả bài: MAS có thể xem như một communication graph. Mỗi node là một agent; cạnh từ v_j sang v_i nghĩa là output của v_j trở thành context của v_i. Topology của đồ thị này quyết định hiệu năng, nên có những công trình tối ưu nó như GPTSwarm, G-Designer, hoặc cắt bớt cạnh như AgentPrune.</a:t>
            </a:r>
          </a:p>
          <a:p/>
          <a:p>
            <a:r>
              <a:t>Điểm em muốn nhấn mạnh là đến năm 2026, câu hỏi không còn là "cộng tác có giúp ích không", mà chuyển sang hiệu quả, luồng thông tin, an toàn và ứng dụng. Đây cũng chính là bốn hướng của 8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Khi đưa MAS vào thực tế, có bốn thách thức chính, và mỗi thách thức tương ứng với một số paper trong nhóm em chọn.</a:t>
            </a:r>
          </a:p>
          <a:p/>
          <a:p>
            <a:r>
              <a:t>- Thứ nhất là chi phí: mỗi agent là một hoặc nhiều lần gọi LLM, context lại dài dần qua các vòng, nên token, năng lượng GPU và latency đều tăng. ProgRouter và DAIN giải quyết vấn đề này.</a:t>
            </a:r>
          </a:p>
          <a:p>
            <a:r>
              <a:t>- Thứ hai là quá tải context: lịch sử hội thoại dài làm mô hình bỏ sót thông tin ở giữa, hiện tượng lost in the middle. Cách cũ là tóm tắt hoặc cắt bớt, nhưng đều mất thông tin. AGENT-RADAR đi theo hướng khác.</a:t>
            </a:r>
          </a:p>
          <a:p>
            <a:r>
              <a:t>- Thứ ba là lan truyền lỗi: output của agent này là input của agent kia, nên một hallucination hay một thông tin sai có thể lan theo cạnh và bị khuếch đại. Đây là nội dung của HalluProp và TIDE.</a:t>
            </a:r>
          </a:p>
          <a:p>
            <a:r>
              <a:t>- Thứ tư là bảo mật topology: topology là kết quả tối ưu tốn kém nên là tài sản trí tuệ, và nếu bị lộ thì kẻ tấn công biết agent nào quan trọng để tấn công. MIRAGE giải quyết vấn đề này.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Về cách chọn bài: nhóm em truy vấn arXiv với những bài có cả "multi-agent" và "collaborative reasoning" trong abstract, sắp theo ngày nộp, rồi lấy 8 bài mới nhất. Bài mới nhất là MIRAGE nộp ngày 29 tháng 9, bài cũ nhất là AGENT-RADAR ngày 28 tháng 5 năm 2026.</a:t>
            </a:r>
          </a:p>
          <a:p/>
          <a:p>
            <a:r>
              <a:t>Cách chọn này ưu tiên tính thời sự, nên tập bài khá đa dạng: có bài phương pháp tổng quát, bài về an toàn, và cả bài ứng dụng chuyên ngành như y tế hay đô thị.</a:t>
            </a:r>
          </a:p>
          <a:p/>
          <a:p>
            <a:r>
              <a:t>Một lưu ý là 7 trên 8 bài vẫn là preprint, chưa qua bình duyệt. Chỉ UrbanAgent đã được nhận ở KDD 2026. Vì vậy khi đọc, nhóm em không chỉ tóm tắt mà còn đánh giá phản biện từng bài.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Dựa trên câu hỏi chính mà mỗi bài giải quyết, nhóm em chia 8 paper thành bốn hướng, mỗi hướng 2 bài.</a:t>
            </a:r>
          </a:p>
          <a:p>
            <a:r>
              <a:t>- Safety &amp; Robustness hỏi: hệ thống có chống chịu được tấn công hay thông tin sai không? Gồm MIRAGE và TIDE.</a:t>
            </a:r>
          </a:p>
          <a:p>
            <a:r>
              <a:t>- Orchestration &amp; Control hỏi: ai chạy, chạy bằng mô hình nào, agent nào có rủi ro? Gồm ProgRouter và HalluProp.</a:t>
            </a:r>
          </a:p>
          <a:p>
            <a:r>
              <a:t>- Communication &amp; Interaction hỏi: agent nên trao đổi gì, với ai, mức độ nào? Gồm DAIN và AGENT-RADAR.</a:t>
            </a:r>
          </a:p>
          <a:p>
            <a:r>
              <a:t>- Domain Applications áp dụng cộng tác vào bài toán chuyên ngành: MAC-RRG cho X-quang và UrbanAgent cho đô thị.</a:t>
            </a:r>
          </a:p>
          <a:p/>
          <a:p>
            <a:r>
              <a:t>Cần lưu ý đây là phân loại theo mục tiêu chính; thực tế nhiều bài thuộc nhiều nhóm. Ví dụ HalluProp được xếp vào điều phối vì kết quả của nó dùng để cắt cạnh hay sửa vai trò, nhưng bản chất là một phương pháp an toàn.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Một cách nhìn bổ sung là xét thời điểm mỗi phương pháp tác động lên vòng đời của một MAS, đi từ trái sang phải.</a:t>
            </a:r>
          </a:p>
          <a:p>
            <a:r>
              <a:t>- Trước khi chạy: HalluProp chỉ dùng role prompt, câu hỏi và đồ thị để ước lượng rủi ro, khi chưa agent nào trả lời.</a:t>
            </a:r>
          </a:p>
          <a:p>
            <a:r>
              <a:t>- Khi điều phối: ProgRouter chọn model cho từng bước; DAIN chọn agent nào được kích hoạt.</a:t>
            </a:r>
          </a:p>
          <a:p>
            <a:r>
              <a:t>- Khi giao tiếp: AGENT-RADAR quyết định agent chú ý vào câu nào; DAIN và UrbanAgent học cách các agent kết nối; MAC-RRG đưa tri thức từ hai agent retrieval vào.</a:t>
            </a:r>
          </a:p>
          <a:p>
            <a:r>
              <a:t>- Khi trả kết quả ra ngoài: MIRAGE tách cái được thực thi khỏi cái được phơi bày để đánh lừa kẻ tấn công.</a:t>
            </a:r>
          </a:p>
          <a:p>
            <a:r>
              <a:t>- Cuối cùng, TIDE là một khung đánh giá, theo dõi dòng chảy bằng chứng đúng và sai qua toàn bộ quá trình.</a:t>
            </a:r>
          </a:p>
          <a:p/>
          <a:p>
            <a:r>
              <a:t>Hình này cho thấy các paper bổ sung cho nhau chứ không trùng lặp.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Tiếp theo là phần hai, hướng Safety &amp; Robustness. Hai paper ở đây nhìn an toàn từ hai phía: MIRAGE là một phương pháp phòng thủ, còn TIDE là một khung đánh giá cho thấy MAS dễ bị thông tin sai làm chệch hướng đến mức nào.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Paper đầu tiên là MIRAGE. Em bắt đầu bằng bối cảnh.</a:t>
            </a:r>
          </a:p>
          <a:p>
            <a:r>
              <a:t>Trong một hệ multi-agent, topology giao tiếp, tức agent nào chuyển output cho agent nào, quyết định rất nhiều đến chất lượng suy luận. Các topology tốt thường được tối ưu tự động bằng G-Designer, AGP hay ARG-Designer, nên chúng tốn tài nguyên để tạo ra và là tài sản trí tuệ của nhà phát triển.</a:t>
            </a:r>
          </a:p>
          <a:p>
            <a:r>
              <a:t>Vấn đề là tấn công CIA đã chỉ ra: chỉ với quyền truy vấn hộp đen, kẻ tấn công có thể ép hệ thống để lộ output trung gian của các agent, rồi suy ra cạnh, vì hai agent nối trực tiếp thì output phụ thuộc ngữ nghĩa vào nhau mạnh hơn.</a:t>
            </a:r>
          </a:p>
          <a:p>
            <a:r>
              <a:t>Lộ topology gây hai rủi ro, như hai ô bên phải: lộ agent then chốt để tấn công có chủ đích, và mất tài sản trí tuệ. Trong khi đó các phòng thủ hiện có chỉ bảo vệ nội dung tin nhắn hoặc hành vi, chưa có cái nào bảo vệ chính cấu trúc.</a:t>
            </a:r>
          </a:p>
          <a:p>
            <a:r>
              <a:t>Câu hỏi của paper: bảo vệ topology mà không làm giảm chất lượng tác vụ. Cái khó là phải phá bằng chứng làm lộ cạnh thật, nhưng vẫn giữ nguyên luồng thông tin mà tác vụ cần.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Tiếp theo là cách paper hình thức hóa bài toán.</a:t>
            </a:r>
          </a:p>
          <a:p>
            <a:r>
              <a:t>Một MAS được mô tả là cặp P và G: P là profile của các agent, G là một DAG. Cạnh từ a_j sang a_i nghĩa là output của a_j được đưa vào input của a_i. Mỗi agent sinh output từ role, câu hỏi và output của các agent tiền nhiệm, và decision agent cuối cùng đưa ra đáp án.</a:t>
            </a:r>
          </a:p>
          <a:p>
            <a:r>
              <a:t>Threat model là hộp đen: kẻ tấn công chỉ gửi query và đọc phản hồi cuối, không thấy prompt, không thấy tin nhắn nội bộ, không sửa được hệ thống. Nhưng họ có thể craft query để ép phản hồi lộ output trung gian, và đó chính là đầu vào của CIA.</a:t>
            </a:r>
          </a:p>
          <a:p>
            <a:r>
              <a:t>Mục tiêu phòng thủ bên phải: tìm hệ được bảo vệ S có dấu ngã sao cho topology mà kẻ tấn công suy ra khác topology thật càng nhiều càng tốt, với điều kiện chất lượng tác vụ không giảm quá epsilon.</a:t>
            </a:r>
          </a:p>
          <a:p>
            <a:r>
              <a:t>Hai yêu cầu này mâu thuẫn nhau: phải phá bằng chứng làm lộ G, nhưng lại phải giữ luồng thông tin. Vì vậy không thể đơn giản là cắt bớt giao tiếp, mà phải tách phần thực thi khỏi phần bị quan sát.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Em cảm ơn bạn Hương. Em là Dương, em xin trình bày phần ba: Orchestration &amp; Control. Hai paper trong phần này đều trả lời câu hỏi "nên điều khiển hệ thống như thế nào": ProgRouter chọn model nào cho mỗi bước để tiết kiệm chi phí, còn HalluProp tìm ra agent nào có rủi ro trước khi hệ thống chạy.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ProgRouter giải quyết bài toán chi phí. Trong workflow kiểu Magentic-One, một coordinator lập kế hoạch và giao việc cho các worker. Các router hiện có như RouteLLM hay MasRouter chỉ quyết định một lần cho mỗi câu hỏi, trong khi workflow cần quyết định ở từng bước: vai trò này, ở bước này, nên dùng model nào trong model zoo.</a:t>
            </a:r>
          </a:p>
          <a:p/>
          <a:p>
            <a:r>
              <a:t>ProgRouter có ba thành phần:</a:t>
            </a:r>
          </a:p>
          <a:p>
            <a:r>
              <a:t>- Progress scorer: chấm tiến độ của tác vụ từ 0 đến 1, dựa trên trạng thái tổng thể, phần việc đã xong và xu hướng.</a:t>
            </a:r>
          </a:p>
          <a:p>
            <a:r>
              <a:t>- Progress predictor: dự báo nếu dùng model m thì tiến độ tăng bao nhiêu, kết hợp nhánh đặc trưng bảng và nhánh embedding bằng XGBoost.</a:t>
            </a:r>
          </a:p>
          <a:p>
            <a:r>
              <a:t>- Online decision theo Lyapunov: điểm của mỗi model là lợi ích tiến độ trừ các khoản phạt chi phí và thời gian; phạt tăng mạnh khi ngân sách sắp cạn.</a:t>
            </a:r>
          </a:p>
          <a:p/>
          <a:p>
            <a:r>
              <a:t>Kết quả: trong ngân sách năng lượng, ProgRouter đạt 93.0% trên HumanEval+ và 79.4% trên MBPP, tốt nhất. Thú vị là 84% lần gọi chỉ dùng model 0.5B. Tuy nhiên trên MATH-500 nó thua CASCADIA 3.5 điểm, và kết quả chỉ báo cáo sau giai đoạn khởi động.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Paper thứ hai là HalluProp. Các phương pháp phát hiện hallucination hiện nay đều post-hoc: phải chạy hết hệ thống rồi mới kiểm tra, rất chậm. HalluProp hỏi: có thể biết agent nào rủi ro trước khi bất kỳ agent nào trả lời không, chỉ từ role prompt, câu hỏi và topology?</a:t>
            </a:r>
          </a:p>
          <a:p/>
          <a:p>
            <a:r>
              <a:t>Cách làm là tách rủi ro thành hai phần:</a:t>
            </a:r>
          </a:p>
          <a:p>
            <a:r>
              <a:t>- Intrinsic risk của từng agent: vai trò có khớp với câu hỏi không, đo bằng embedding BERT.</a:t>
            </a:r>
          </a:p>
          <a:p>
            <a:r>
              <a:t>- Propagation risk của từng cạnh: bên gửi có ảnh hưởng mạnh và bên nhận có dễ bị tác động không, nhân với hệ số theo bậc của node.</a:t>
            </a:r>
          </a:p>
          <a:p>
            <a:r>
              <a:t>Hai phần này được gộp bằng công thức Noisy-OR lặp 3 bước: một agent bị lỗi nếu tự nó lỗi, hoặc bị lỗi lan từ bất kỳ agent nào gửi tin cho nó.</a:t>
            </a:r>
          </a:p>
          <a:p/>
          <a:p>
            <a:r>
              <a:t>Kết quả: AUROC trung bình 84.6; thời gian chẩn đoán dưới 1 giây so với 53 đến 308 giây của các phương pháp post-hoc. Khi sửa prompt của agent rủi ro nhất thành vai trò kiểm chứng, accuracy đạt 67.6% so với 63.5% của GUARDIAN.</a:t>
            </a:r>
          </a:p>
          <a:p/>
          <a:p>
            <a:r>
              <a:t>Hạn chế là "hallucination" ở đây thực chất chỉ là trả lời sai, các vai trò được làm nhiễu có chủ đích, và phương pháp cần dữ liệu có nhãn.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Phần của em đến đây là hết. Em xin mời bạn Dũng trình bày phần bốn.</a:t>
            </a:r>
          </a:p>
          <a:p/>
          <a:p>
            <a:r>
              <a:t>(Bạn Dũng) Em cảm ơn bạn Dương. Em là Dũng, em xin trình bày phần bốn: Communication &amp; Interaction, tức các agent nên trao đổi thông tin gì và với ai. Hai paper là DAIN và AGENT-RADAR.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DAIN giải bài toán kết hợp dữ liệu đa phương thức, ví dụ ảnh MRI, gen và điểm nhận thức để chẩn đoán Alzheimer. Các mô hình Mixture-of-Experts hiện có dùng cấu trúc tĩnh và các expert không trao đổi với nhau.</a:t>
            </a:r>
          </a:p>
          <a:p/>
          <a:p>
            <a:r>
              <a:t>DAIN có 8 agent chia theo lý thuyết PID: 3 agent synergy, 3 agent uniqueness và 2 agent redundancy. Pipeline gồm bốn bước như trên hình:</a:t>
            </a:r>
          </a:p>
          <a:p>
            <a:r>
              <a:t>- Mã hóa từng phương thức thành một context vector.</a:t>
            </a:r>
          </a:p>
          <a:p>
            <a:r>
              <a:t>- Meta-Controller chọn một tập agent thưa để kích hoạt và sinh một soft communication graph phụ thuộc đầu vào.</a:t>
            </a:r>
          </a:p>
          <a:p>
            <a:r>
              <a:t>- Các agent truyền message qua một low-rank bottleneck.</a:t>
            </a:r>
          </a:p>
          <a:p>
            <a:r>
              <a:t>- Attention tổng hợp thành kết quả cuối.</a:t>
            </a:r>
          </a:p>
          <a:p/>
          <a:p>
            <a:r>
              <a:t>Kết quả: trung bình chỉ 3.2 đến 5.5 trên 8 agent được kích hoạt, và DAIN thắng các baseline MoE trên cả 5 dataset, ví dụ ADNI 73.5 so với 70.9.</a:t>
            </a:r>
          </a:p>
          <a:p/>
          <a:p>
            <a:r>
              <a:t>Nhưng nhóm em lưu ý một điểm quan trọng: agent ở đây là neural module, không phải LLM. Về bản chất, DAIN là MoE có message passing giữa các expert. Ngoài ra số liệu trong bài có chỗ không nhất quán giữa các bảng.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Paper thứ hai là AGENT-RADAR. Vấn đề: lịch sử hội thoại giữa các agent dài rất nhanh, nhiều nội dung lặp lại, nên mô tả nhiệm vụ và bằng chứng quan trọng bị chôn vùi ở giữa context. Các cách cũ là tóm tắt hoặc cắt bớt agent, nhưng đều mất thông tin.</a:t>
            </a:r>
          </a:p>
          <a:p/>
          <a:p>
            <a:r>
              <a:t>AGENT-RADAR giữ nguyên toàn bộ lịch sử, và chỉ "chỉnh hướng chú ý" của mô hình về những câu liên quan. Mỗi câu được chấm điểm bằng tích ba thành phần:</a:t>
            </a:r>
          </a:p>
          <a:p>
            <a:r>
              <a:t>- Spatial decay: agent càng xa trên đồ thị thì trọng số càng nhỏ.</a:t>
            </a:r>
          </a:p>
          <a:p>
            <a:r>
              <a:t>- Temporal decay: message càng cũ thì trọng số càng nhỏ.</a:t>
            </a:r>
          </a:p>
          <a:p>
            <a:r>
              <a:t>- Cosine similarity với câu hỏi hiện tại.</a:t>
            </a:r>
          </a:p>
          <a:p>
            <a:r>
              <a:t>Câu nào đạt ngưỡng 0.65 sẽ được nhấn mạnh bằng kỹ thuật SPA. Phương pháp không cần huấn luyện.</a:t>
            </a:r>
          </a:p>
          <a:p/>
          <a:p>
            <a:r>
              <a:t>Biểu đồ so sánh với baseline mạnh nhất là AgentDropout trên Qwen3-4B: AGENT-RADAR thắng cả 5 benchmark, ví dụ HotpotQA tăng 7.6 điểm và MATH-500 tăng 6.2 điểm. Latency chỉ tăng khoảng 23%.</a:t>
            </a:r>
          </a:p>
          <a:p/>
          <a:p>
            <a:r>
              <a:t>Hạn chế lớn nhất là cần truy cập logit của mô hình, nên không dùng được với model qua API. Ngoài ra tham số được chỉnh trên MuSiQue, cũng chính là một tập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Phần của em đến đây là hết. Em xin mời bạn Đức trình bày phần năm.</a:t>
            </a:r>
          </a:p>
          <a:p/>
          <a:p>
            <a:r>
              <a:t>(Bạn Đức) Em cảm ơn bạn Dũng. Em là Đức, em xin trình bày phần năm: Domain Applications, tức đưa cộng tác đa agent vào các bài toán chuyên ngành. Hai paper là MAC-RRG trong y tế và UrbanAgent trong quy hoạch đô thị.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MAC-RRG sinh báo cáo X-quang ngực tự động. Các phương pháp chỉ dùng LLM thì dễ hallucination vì thiếu tri thức y khoa; các phương pháp dùng knowledge graph lại chỉ đưa tri thức vào một lần, không xem lại bản nháp.</a:t>
            </a:r>
          </a:p>
          <a:p/>
          <a:p>
            <a:r>
              <a:t>Quy trình của MAC-RRG như trên hình:</a:t>
            </a:r>
          </a:p>
          <a:p>
            <a:r>
              <a:t>- Swin Transformer và Llama2-7B viết một bản nháp.</a:t>
            </a:r>
          </a:p>
          <a:p>
            <a:r>
              <a:t>- Trích các thực thể giải phẫu và bệnh lý từ bản nháp.</a:t>
            </a:r>
          </a:p>
          <a:p>
            <a:r>
              <a:t>- Hai agent tìm tri thức song song: MM-KG agent lấy các láng giềng trong knowledge graph y khoa, Knowledge agent truy xuất đoạn văn từ PubMedVision.</a:t>
            </a:r>
          </a:p>
          <a:p>
            <a:r>
              <a:t>- Tri thức được ghép với token hình ảnh làm tiền tố cho LLM viết lại báo cáo.</a:t>
            </a:r>
          </a:p>
          <a:p/>
          <a:p>
            <a:r>
              <a:t>Kết quả: BLEU-4 cao nhất trên cả ba dataset, và F1 lâm sàng trên CheXpert Plus đạt 0.295 so với 0.260 của R2GenGPT.</a:t>
            </a:r>
          </a:p>
          <a:p/>
          <a:p>
            <a:r>
              <a:t>Tuy vậy, nhóm em đánh giá chữ "multi-agent" ở đây chủ yếu là cách đặt tên: hai agent thực chất là module retrieval tất định, không giao tiếp hay thương lượng; còn "iterative" thực tế chỉ có một lượt tinh chỉnh. Mức tăng BLEU cũng khá nhỏ.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UrbanAgent dự đoán các chỉ số của một vùng đô thị như phát thải carbon, dân số và GDP từ bốn loại dữ liệu: ảnh vệ tinh, văn bản, điểm POI và mô hình tòa nhà 3D. Vấn đề là các nguồn này thường mâu thuẫn nhau, ví dụ ảnh vệ tinh thấy nhà thấp nhưng POI lại cho thấy thương mại dày đặc, và các mô hình cũ chỉ trộn chung nên che mất mâu thuẫn đó.</a:t>
            </a:r>
          </a:p>
          <a:p/>
          <a:p>
            <a:r>
              <a:t>UrbanAgent có hai giai đoạn:</a:t>
            </a:r>
          </a:p>
          <a:p>
            <a:r>
              <a:t>- Giai đoạn A: mỗi loại dữ liệu có một agent Qwen3-VL-4B biết dùng 4 tool như web search hay ảnh vệ tinh lịch sử, huấn luyện bằng SFT rồi GRPO, với phần thưởng cho cả kết quả, định dạng và cách dùng tool.</a:t>
            </a:r>
          </a:p>
          <a:p>
            <a:r>
              <a:t>- Giai đoạn B: xây đồ thị quan hệ giữa các agent với ba loại cạnh: corroboration khi các agent đồng ý, rectification khi lệch nhau nhiều, và supervisory khi agent tự tin hơn hướng dẫn agent kém tự tin. Sau 5 vòng, một final judge đưa ra dự đoán.</a:t>
            </a:r>
          </a:p>
          <a:p/>
          <a:p>
            <a:r>
              <a:t>Kết quả: R bình phương khoảng 0.63 đến 0.65 trên ba chỉ số, vẫn giữ khoảng 0.60 ở các thành phố chưa thấy, tăng trung bình 8.1% so với baseline mạnh nhất.</a:t>
            </a:r>
          </a:p>
          <a:p/>
          <a:p>
            <a:r>
              <a:t>Lưu ý là bước "debate" thực chất là một mạng GNN được huấn luyện, không phải tranh luận bằng ngôn ngữ, và dữ liệu khá nhỏ.</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Phần của em đến đây là hết. Em xin mời bạn Dũng quay lại trình bày phần so sánh.</a:t>
            </a:r>
          </a:p>
          <a:p/>
          <a:p>
            <a:r>
              <a:t>(Bạn Dũng) Sau khi đã đi qua từng paper, phần sáu sẽ đặt 8 paper cạnh nhau để so sánh, rút ra các nhận định chung, chỉ ra khoảng trống nghiên cứu và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Bảng này so sánh 8 paper theo năm tiêu chí: loại đóng góp, có cần huấn luyện không, có cần truy cập bên trong mô hình không, có báo cáo chi phí không, và có báo cáo phương sai hay kiểm định thống kê không.</a:t>
            </a:r>
          </a:p>
          <a:p/>
          <a:p>
            <a:r>
              <a:t>Ba điểm nổi bật:</a:t>
            </a:r>
          </a:p>
          <a:p>
            <a:r>
              <a:t>- Chỉ TIDE có kiểm định thống kê đầy đủ. Bảy bài còn lại không báo cáo phương sai, trong khi nhiều mức cải thiện chỉ 1 đến 3 điểm, có thể nằm trong khoảng nhiễu.</a:t>
            </a:r>
          </a:p>
          <a:p>
            <a:r>
              <a:t>- Chỉ ProgRouter đo chi phí thực bằng năng lượng GPU; AGENT-RADAR có báo cáo thời gian. Các bài còn lại thêm nhiều lần gọi mô hình nhưng không đo chi phí.</a:t>
            </a:r>
          </a:p>
          <a:p>
            <a:r>
              <a:t>- AGENT-RADAR là bài duy nhất bắt buộc truy cập logit, nên khó áp dụng với các model thương mại.</a:t>
            </a:r>
          </a:p>
          <a:p/>
          <a:p>
            <a:r>
              <a:t>Ngoài ra, dù nhiều bài dùng chung MMLU hay MATH, mỗi bài dùng tập con, topology và backbone khác nhau, nên không thể so sánh trực tiếp con số giữa các bài.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Phạm Việt Dũng)</a:t>
            </a:r>
          </a:p>
          <a:p/>
          <a:p>
            <a:r>
              <a:t>Từ việc so sánh, nhóm em rút ra ba nhận định chung.</a:t>
            </a:r>
          </a:p>
          <a:p/>
          <a:p>
            <a:r>
              <a:t>Thứ nhất, communication graph là đối tượng trung tâm. Sáu trên tám bài thao tác trực tiếp lên nó: MIRAGE giấu nó, HalluProp phân tích rủi ro trên nó, AGENT-RADAR dùng khoảng cách trên nó, DAIN và UrbanAgent học nó, TIDE truy vết bằng chứng trên nó.</a:t>
            </a:r>
          </a:p>
          <a:p/>
          <a:p>
            <a:r>
              <a:t>Thứ hai, lan truyền là rủi ro cốt lõi. TIDE cho thấy thảo luận khuếch đại sai lệch thay vì sửa sai, còn HalluProp cho thấy hallucination lan theo cạnh. Điều này thách thức giả định phổ biến rằng càng nhiều agent thảo luận thì kết quả càng đúng.</a:t>
            </a:r>
          </a:p>
          <a:p/>
          <a:p>
            <a:r>
              <a:t>Thứ ba, khái niệm "agent" đang bị dùng rất rộng: năm bài dùng LLM agent thật sự, UrbanAgent dùng LLM nhưng tổng hợp bằng mạng học được, còn DAIN và MAC-RRG gọi module neural hay module retrieval là agent. Điều này làm khó việc so sánh.</a:t>
            </a:r>
          </a:p>
          <a:p/>
          <a:p>
            <a:r>
              <a:t>Thêm một quan sát: hiệu quả không đến từ việc dùng nhiều agent hơn. ProgRouter dùng chủ yếu model 0.5B, còn DAIN tốt nhất khi chỉ dùng tối đa 4 trên 8 agent.</a:t>
            </a:r>
          </a:p>
          <a:p/>
          <a:p>
            <a:r>
              <a:t>Em xin mời bạn Dương trình bày phần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Vũ Tùng Dương)</a:t>
            </a:r>
          </a:p>
          <a:p/>
          <a:p>
            <a:r>
              <a:t>Dựa trên các nhận định đó, nhóm em xác định một số khoảng trống nghiên cứu, ở cột bên trái:</a:t>
            </a:r>
          </a:p>
          <a:p>
            <a:r>
              <a:t>- Chưa có benchmark chung đo đồng thời chất lượng, chi phí và độ bền vững.</a:t>
            </a:r>
          </a:p>
          <a:p>
            <a:r>
              <a:t>- Bảy trên tám bài không có phương sai hay kiểm định thống kê.</a:t>
            </a:r>
          </a:p>
          <a:p>
            <a:r>
              <a:t>- Quy mô thử nghiệm còn nhỏ: tối đa khoảng 8 agent, 2 đến 5 vòng.</a:t>
            </a:r>
          </a:p>
          <a:p>
            <a:r>
              <a:t>- Chưa có adaptive attacker, và chưa có phương pháp nào khôi phục được sự thật khi có agent nói dối.</a:t>
            </a:r>
          </a:p>
          <a:p>
            <a:r>
              <a:t>- Các phương pháp tối ưu hiệu năng chưa được thử trong điều kiện đối kháng.</a:t>
            </a:r>
          </a:p>
          <a:p/>
          <a:p>
            <a:r>
              <a:t>Từ đó nhóm em đề xuất bốn hướng, ở cột bên phải. Hướng đáng chú ý nhất là giao tiếp có nhận thức nguồn gốc: lấy điểm của AGENT-RADAR, nhân thêm với mức độ đáng tin của agent nguồn từ HalluProp, và giảm theo số bước chuyển tiếp. Điều này xuất phát trực tiếp từ phát hiện của TIDE rằng thông tin sai thường lan qua chuỗi dài hơn. Một hướng khác là kết hợp ProgRouter với HalluProp, để bước nào rủi ro cao thì giao cho model mạnh hơn.</a:t>
            </a:r>
          </a:p>
          <a:p/>
          <a:p>
            <a:r>
              <a:t>Em xin mời bạn Đức trình bày phần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Để tổng kết, nhóm em đã khảo sát 8 paper mới nhất về Multi-Agent Systems và Collaborative Reasoning, chia thành bốn hướng, mỗi hướng hai bài.</a:t>
            </a:r>
          </a:p>
          <a:p/>
          <a:p>
            <a:r>
              <a:t>Bốn ý chính nhóm em muốn cô và các bạn ghi nhớ:</a:t>
            </a:r>
          </a:p>
          <a:p>
            <a:r>
              <a:t>- Communication graph là trung tâm: nó quyết định hiệu năng, là kênh lan truyền rủi ro, và là tài sản cần bảo vệ.</a:t>
            </a:r>
          </a:p>
          <a:p>
            <a:r>
              <a:t>- Lan truyền lỗi là rủi ro lớn nhất, và thảo luận nhiều vòng không tự sửa được sai lệch.</a:t>
            </a:r>
          </a:p>
          <a:p>
            <a:r>
              <a:t>- Hiệu quả đến từ việc kích hoạt đúng agent, đúng model và chú ý đúng nội dung, chứ không phải dùng nhiều hơn.</a:t>
            </a:r>
          </a:p>
          <a:p>
            <a:r>
              <a:t>- Thực nghiệm trong lĩnh vực còn yếu: quy mô nhỏ, thiếu kiểm định, thiếu đo chi phí.</a:t>
            </a:r>
          </a:p>
          <a:p/>
          <a:p>
            <a:r>
              <a:t>Nhóm em cho rằng câu hỏi của lĩnh vực đang chuyển từ "nhiều agent có tốt hơn một agent không" sang "làm thế nào để một hệ nhiều agent vừa hiệu quả, vừa đáng tin cậy, vừa an toàn".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Lê Văn Đức)</a:t>
            </a:r>
          </a:p>
          <a:p/>
          <a:p>
            <a:r>
              <a:t>Bài trình bày của nhóm em đến đây là kết thúc. Bảng bên trái là phân công: mỗi bạn phụ trách 2 paper cùng hướng và một phần chung của báo cáo.</a:t>
            </a:r>
          </a:p>
          <a:p/>
          <a:p>
            <a:r>
              <a:t>Em xin thay mặt nhóm cảm ơn cô và các bạn đã lắng nghe. Nhóm em rất mong nhận được câu hỏi và góp ý ạ.</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Đây là bức tranh tổng thể của MIRAGE, gồm ba giai đoạn.</a:t>
            </a:r>
          </a:p>
          <a:p>
            <a:r>
              <a:t>- Giai đoạn một: từ topology thật G, tạo ra một phantom topology G phẩy, đủ khác G.</a:t>
            </a:r>
          </a:p>
          <a:p>
            <a:r>
              <a:t>- Giai đoạn hai: semantic edge realization, tức là làm cho các cạnh ảo trông như có thật trong output, đồng thời che các cạnh thật không có trong G phẩy.</a:t>
            </a:r>
          </a:p>
          <a:p>
            <a:r>
              <a:t>- Giai đoạn ba: protected execution với hai view. Execution view vẫn cho agent giao tiếp đúng theo G thật, nên kết quả tác vụ không đổi. Exposure view là thứ đưa ra ngoài: vết lập luận đã được che cộng với bằng chứng ảo, khiến kẻ tấn công suy ra một đồ thị gần với G phẩy.</a:t>
            </a:r>
          </a:p>
          <a:p>
            <a:r>
              <a:t>Ô bên trái nêu hai tập cạnh cần xử lý: E_p là các cạnh ảo cần làm lộ, E_h là các cạnh thật vắng mặt trong G phẩy cần che giấu.</a:t>
            </a:r>
          </a:p>
          <a:p>
            <a:r>
              <a:t>Ý tưởng cốt lõi là tách cấu trúc dùng để tính toán khỏi cấu trúc phơi bày ra ngoài.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Đi vào chi tiết bước một: tạo phantom topology.</a:t>
            </a:r>
          </a:p>
          <a:p>
            <a:r>
              <a:t>MIRAGE giữ nguyên tập agent và chỉ đi dây lại các cạnh, để thay đổi hệ thống ít nhất có thể. Có hai ràng buộc. Một là, cạnh mới phải tôn trọng thứ tự thực thi của đồ thị gốc, tức chỉ nối từ agent chạy trước sang agent chạy sau, nên không tạo chu trình. Hai là, mọi agent vẫn phải có đường đi tới decision agent, để không có nhánh thừa trông vô lý.</a:t>
            </a:r>
          </a:p>
          <a:p>
            <a:r>
              <a:t>Để đo G phẩy khác G bao nhiêu, paper định nghĩa Structural Camouflage Ratio: một trừ hệ số Jaccard giữa hai tập cạnh. Bằng 0 nghĩa là trùng, bằng 1 nghĩa là không chung cạnh nào.</a:t>
            </a:r>
          </a:p>
          <a:p>
            <a:r>
              <a:t>Lấy cảm hứng từ k-anonymity, paper định nghĩa topology anonymity set: tập các đồ thị khả thi có độ lệch ít nhất rho_0. Rho_0 điều khiển mức lệch, còn kích thước tập cho biết có bao nhiêu ứng viên để giấu G vào giữa. Một phần tử của tập này được chọn làm G phẩy.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Có G phẩy rồi, nhưng kẻ tấn công không nhìn thấy đồ thị mà nhìn thấy output. Vì vậy bước hai phải biến G phẩy thành bằng chứng ngữ nghĩa, theo hai hướng.</a:t>
            </a:r>
          </a:p>
          <a:p>
            <a:r>
              <a:t>Bên trái là Phantom Edge Materialization: với mỗi cạnh ảo, một LLM generator sinh ra một đoạn bằng chứng như thể agent đích thật sự đã dùng output của agent nguồn. Đoạn này phải tuân theo ba nguyên tắc: khớp vai trò agent nguồn, có ích cho agent đích, và nhất quán với output thật mà không thêm thông tin vô căn cứ.</a:t>
            </a:r>
          </a:p>
          <a:p>
            <a:r>
              <a:t>Bên phải là Genuine Edge Obfuscation: với các cạnh thật cần giấu, MIRAGE paraphrase output của agent thành M phiên bản, rồi chọn phiên bản vừa ít méo nghĩa nhất, vừa ít phụ thuộc nhất vào các tiền nhiệm cần giấu. Lambda cân bằng hai mục tiêu đó.</a:t>
            </a:r>
          </a:p>
          <a:p>
            <a:r>
              <a:t>Bước ba là dual-view execution: bên trong vẫn chạy theo G thật; thứ đưa ra ngoài là output đã che ghép với bằng chứng ảo, nên các phụ thuộc mà kẻ tấn công quan sát được bị dịch từ G sang G phẩy.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Về thực nghiệm: bốn dataset gồm MMLU, GSM8K, SVAMP và HumanEval, mỗi bộ 100 task; ba framework tối ưu topology để tạo MAS mục tiêu; tấn công là CIA. Độ đo là AUC, ACC, F1 của việc đoán cạnh, càng thấp càng tốt, AUC về 0.5 là lý tưởng.</a:t>
            </a:r>
          </a:p>
          <a:p>
            <a:r>
              <a:t>Bảng bên trái so sánh với hai phòng thủ prompt injection phổ biến là Instruction và Delimiters. Với hai cách này, AUC của tấn công vẫn từ 0.70 đến 0.81. MIRAGE đưa AUC xuống 0.64 đến 0.68 và F1 xuống quanh 0.4 đến 0.5.</a:t>
            </a:r>
          </a:p>
          <a:p>
            <a:r>
              <a:t>Ô đỏ cho thấy phát hiện query tấn công bằng perplexity gần như không phân biệt được, AUC chỉ 0.51 đến 0.60, nghĩa là không thể chặn tấn công ngay từ đầu vào.</a:t>
            </a:r>
          </a:p>
          <a:p>
            <a:r>
              <a:t>Và quan trọng là accuracy của tác vụ chỉ thay đổi nhỏ, vì tính toán bên trong vẫn chạy trên đồ thị thật.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Phần ablation trên G-Designer và MMLU cho thấy bỏ PEM hay bỏ GEO đều làm tấn công mạnh lên, nên cả hai hướng, làm lộ cạnh ảo và che cạnh thật, đều cần thiết.</a:t>
            </a:r>
          </a:p>
          <a:p>
            <a:r>
              <a:t>Về tham số: rho_0 có đánh đổi rõ ràng, lệch càng nhiều thì che càng tốt nhưng utility giảm. Số ứng viên paraphrase M có lợi nhưng bão hòa sau 5. Lambda nên chọn ở mức vừa phải.</a:t>
            </a:r>
          </a:p>
          <a:p>
            <a:r>
              <a:t>Case study trực quan hóa: không phòng thủ thì CIA khôi phục gần hết cạnh; có MIRAGE thì đồ thị suy ra lệch hẳn so với đồ thị thật.</a:t>
            </a:r>
          </a:p>
          <a:p>
            <a:r>
              <a:t>Nhận xét của nhóm: điểm mạnh là paper mở ra một chiều an toàn mới, thiết kế gọn và có hình thức hóa rõ. Hạn chế là chỉ thử một loại tấn công, chưa có kẻ tấn công thích nghi; AUC vẫn còn xa 0.5; quy mô nhỏ, không báo cáo chi phí; và chưa so với cách đơn giản nhất là đừng phơi bày vết trung gian.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Paper thứ hai là TIDE. Bối cảnh là hiện nay MAS thường được đánh giá bằng độ chính xác cuối cùng. Con số đó không cho biết bằng chứng riêng của từng agent có thực sự được đưa vào thảo luận và được tích hợp đúng hay không.</a:t>
            </a:r>
          </a:p>
          <a:p>
            <a:r>
              <a:t>Các nghiên cứu về gộp tri thức phân tán như HiddenBench chỉ xét thông tin đúng, không có đối kháng. Còn các nghiên cứu về khuếch đại lỗi thì chỉ nhìn output, không truy vết xem thông tin sai được chuyển tiếp qua các agent như thế nào.</a:t>
            </a:r>
          </a:p>
          <a:p>
            <a:r>
              <a:t>Paper lấy cảm hứng từ thí nghiệm hidden profile trong tâm lý học nhóm và xây dựng ForesightSafety-TIDE. Lưu ý đây là một khung đánh giá, không phải phương pháp MAS mới.</a:t>
            </a:r>
          </a:p>
          <a:p>
            <a:r>
              <a:t>Câu hỏi trung tâm: khi sự thật bị chia nhỏ cho nhiều agent và có một agent nói dối, bằng chứng đúng và sai cạnh tranh, lan truyền ra sao, và thảo luận có sửa được sai không.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Môi trường được xây từ 120 truyện Hi-ToM. Mỗi truyện có một đồ vật di chuyển qua chuỗi vị trí từ l_0 đến l_m, l_m là đích thật, còn l_{m-1} là vị trí ngay trước đó và sẽ được dùng làm decoy. Năm agent, mỗi agent chỉ thấy một đoạn của chuỗi.</a:t>
            </a:r>
          </a:p>
          <a:p>
            <a:r>
              <a:t>Môi trường được thiết kế để thỏa ba tính chất: không ai thấy toàn bộ chuỗi; nhưng gộp bằng chứng của cả nhóm thì xác định duy nhất đích, nên nếu nhóm sai thì đó là lỗi giao tiếp chứ không phải thiếu thông tin; và các cửa sổ chồng lấn một phần nên các agent phải đối chiếu với nhau.</a:t>
            </a:r>
          </a:p>
          <a:p>
            <a:r>
              <a:t>Mỗi truyện chạy hai điều kiện ghép cặp: C0 mọi agent trung thực, C1 key agent, tức người thấy bước di chuyển cuối, nói dối để đẩy nhóm về decoy. Hai điều kiện giống hệt nhau, chỉ khác thông tin của key agent, nên mọi khác biệt là do lừa dối.</a:t>
            </a:r>
          </a:p>
          <a:p>
            <a:r>
              <a:t>Bảng bên phải là ba cách nói dối: Event bịa thêm một bước di chuyển ngược về; Coverage kéo dài cửa sổ quan sát; Source gán sai thời điểm của một báo cáo cũ. Mỗi cơ chế 40 truyện.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Mỗi run có năm checkpoint. T0: mỗi agent phán đoán riêng chỉ từ cửa sổ quan sát. T1: đọc tin nhắn và testimony của các agent khác rồi cập nhật. Sau đó là ba vòng thảo luận công khai: R1 dựng các timeline ứng viên và tìm mâu thuẫn, R2 kiểm tra tính liên tục thời gian và độc lập nguồn, R3 phán quyết cuối. Sau mỗi checkpoint, mọi agent bỏ phiếu riêng, được phép trả lời UNKNOWN.</a:t>
            </a:r>
          </a:p>
          <a:p>
            <a:r>
              <a:t>Thiết lập: ba model GPT-5.5, DeepSeek-v4-pro và Grok-4.5, mỗi model tạo một hệ đồng nhất 5 agent, temperature 0; tổng cộng 720 run.</a:t>
            </a:r>
          </a:p>
          <a:p>
            <a:r>
              <a:t>Điểm hay của paper là đo ở hai mức. Mức kết quả: tỉ lệ đa số chọn đúng, chọn decoy, hoặc không đồng thuận. Mức quá trình: testimony được trích dẫn và được tán thành bao nhiêu, propagation order tức bằng chứng được chuyển tiếp qua bao nhiêu bước, và evidence lineage tức ai đang giữ gốc đúng, ai giữ gốc sai.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Kết quả chính: ở vòng cuối, tỉ lệ đa số chọn đúng giảm từ 72.5% ở C0 xuống chỉ 14.17% ở C1, giảm 58 điểm phần trăm. Ở mức cá nhân, phiếu đúng giảm từ 75% xuống 24%. Hiệu ứng có ý nghĩa thống kê với cả ba model.</a:t>
            </a:r>
          </a:p>
          <a:p>
            <a:r>
              <a:t>Trong 309 run thất bại ở C1, khoảng một nửa là đa số theo decoy, một nửa là không đồng thuận. Nghĩa là agent nói dối vừa kéo nhóm về đáp án sai, vừa làm nhóm bất định.</a:t>
            </a:r>
          </a:p>
          <a:p>
            <a:r>
              <a:t>Một điểm thú vị: Grok-4.5 tốt nhất khi mọi người trung thực nhưng lại tệ nhất khi có người nói dối. Gộp bằng chứng giỏi không có nghĩa là chống chịu tốt.</a:t>
            </a:r>
          </a:p>
          <a:p>
            <a:r>
              <a:t>Biểu đồ phía trên bên phải cho thấy tỉ lệ phiếu theo decoy tăng khoảng 38 đến 44 điểm ở cả ba model, không có khác biệt đáng kể giữa các model.</a:t>
            </a:r>
          </a:p>
          <a:p>
            <a:r>
              <a:t>Về diễn biến: ở T0 hai điều kiện như nhau; khoảng 85% khoảng cách cuối cùng đã hình thành ngay ở T1, khi chia sẻ testimony. Các vòng thảo luận sau đó ở C0 giúp tăng đáp án đúng, còn ở C1 lại biến sự bất định thành đồng thuận sai. Tức là thảo luận khuếch đại chiều hướng ban đầu chứ không tự sửa sai.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Slide này đi vào mức quá trình: tại sao nhóm lại tin thông tin sai.</a:t>
            </a:r>
          </a:p>
          <a:p>
            <a:r>
              <a:t>Trong mỗi run có hai agent thấy được bước cuối: key agent, người nói dối ở C1, và 2nd-key agent, luôn trung thực. Hai testimony được trích dẫn với tỉ lệ tương đương, nhưng testimony sai được tán thành 70.7%, trong khi testimony đúng chỉ 25.4%.</a:t>
            </a:r>
          </a:p>
          <a:p>
            <a:r>
              <a:t>Bảng ở giữa là propagation order: ở R1 cả hai gốc đều chỉ lan một bước, nhưng đến R3 gốc sai lan 2.66 bước so với 1.33 của gốc đúng. Tức là thông tin sai được chuyển tiếp xa hơn.</a:t>
            </a:r>
          </a:p>
          <a:p>
            <a:r>
              <a:t>Bên phải: số người giữ cả hai gốc tăng lên gần 58% ở R3, nhưng sự xâm nhập là bất đối xứng: 83% người chỉ có gốc đúng bị nhiễm thêm gốc sai, còn chiều ngược lại chỉ 38%. Và có cả hai gốc thì dưới 45% bỏ phiếu đúng, tức là có đủ thông tin cũng không tự sửa được.</a:t>
            </a:r>
          </a:p>
          <a:p>
            <a:r>
              <a:t>Thông điệp: kẻ nói dối không chặn được thông tin đúng đi vào thảo luận, mà làm nó không được chấp nhận.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Paper có hai phân tích sâu, đều chạy trên GPT-5.5.</a:t>
            </a:r>
          </a:p>
          <a:p>
            <a:r>
              <a:t>Thứ nhất là Deceiver-Exit: key agent nộp testimony ở T1 rồi rời nhóm, không thảo luận và không bỏ phiếu. Nếu nó rời đi mà không nói gì, nhóm vẫn đạt 93 lần đa số đúng, chứng tỏ bốn agent còn lại đủ bằng chứng. Nhưng nếu nó để lại testimony sai rồi rời đi, kết quả thấp hơn 46.67 điểm và gần giống C1. Ở vòng cuối vẫn có 197 agent trung thực tán thành testimony sai. Vậy thông tin sai tồn tại độc lập với người phát tán.</a:t>
            </a:r>
          </a:p>
          <a:p>
            <a:r>
              <a:t>Thứ hai là thêm observer không có bằng chứng. Khi observer được phát biểu, số lần đa số theo decoy giảm khoảng 90%, nhưng số lần đa số đúng cũng không tăng mà còn giảm. Họ giúp nhóm thận trọng hơn chứ không sửa được lỗi.</a:t>
            </a:r>
          </a:p>
          <a:p>
            <a:r>
              <a:t>Nhận xét của nhóm: điểm mạnh là thiết kế ghép cặp rất sạch, truy vết lineage và kiểm định thống kê chặt. Hạn chế là chỉ một tác vụ hẹp, hệ đồng nhất, decoy luôn là vị trí áp chót nên có thể thổi phồng sức mạnh của lừa dối, và chưa đề xuất phòng thủ. Gợi ý từ paper là hệ thống nên phân biệt bằng chứng tận mắt với bằng chứng chuyển tiếp, và kiểm tra nguồn gốc thay vì chỉ tìm đồng thuận.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THUYẾT TRÌNH (Người trình bày: Trần Xuân Hương)</a:t>
            </a:r>
          </a:p>
          <a:p/>
          <a:p>
            <a:r>
              <a:t>Để kết phần hai, nhóm em so sánh hai paper.</a:t>
            </a:r>
          </a:p>
          <a:p>
            <a:r>
              <a:t>Hai bài cùng hướng an toàn nhưng nhìn từ hai phía đối lập. MIRAGE là một phương pháp phòng thủ, mối đe dọa là kẻ tấn công bên ngoài muốn suy ra cấu trúc, tài sản cần bảo vệ là tính bí mật của topology. TIDE là một khung đánh giá, mối đe dọa là một agent bên trong nói dối, tài sản cần bảo vệ là tính đúng của kết luận tập thể.</a:t>
            </a:r>
          </a:p>
          <a:p>
            <a:r>
              <a:t>Về độ chặt chẽ, TIDE có kiểm định thống kê, MIRAGE thì không. Mỗi bài có một hạn chế chính: MIRAGE chỉ thử một tấn công, TIDE chỉ có một tác vụ và chưa có phòng thủ.</a:t>
            </a:r>
          </a:p>
          <a:p>
            <a:r>
              <a:t>Hai bài bổ sung cho nhau: TIDE cho thấy một khi thông tin sai đã vào hệ thống thì thảo luận rất khó sửa; MIRAGE giúp kẻ tấn công khó tìm ra agent then chốt để chèn thông tin sai. Nhưng chưa bài nào đề xuất cơ chế khôi phục sự thật sau khi bị tấn công, đây là một research gap nhóm em sẽ quay lại ở phần cuối.</a:t>
            </a:r>
          </a:p>
          <a:p/>
          <a:p>
            <a:r>
              <a:t>Đến đây là hết phần của em. Em xin mời bạn Dương trình bày phần tiếp theo.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3A10EA01-4F0F-465B-9E82-2B95E2B79F5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3" name="PlaceHolder 2">
            <a:extLst>
              <a:ext uri="{FF2B5EF4-FFF2-40B4-BE49-F238E27FC236}">
                <a16:creationId xmlns:a16="http://schemas.microsoft.com/office/drawing/2014/main" id="{AF0B21C6-64CC-4024-A8FB-57E278146C51}"/>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a:extLst>
              <a:ext uri="{FF2B5EF4-FFF2-40B4-BE49-F238E27FC236}">
                <a16:creationId xmlns:a16="http://schemas.microsoft.com/office/drawing/2014/main" id="{8F720294-D68E-4712-A131-B4ED59DDDFB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 name="PlaceHolder 2">
            <a:extLst>
              <a:ext uri="{FF2B5EF4-FFF2-40B4-BE49-F238E27FC236}">
                <a16:creationId xmlns:a16="http://schemas.microsoft.com/office/drawing/2014/main" id="{18547D8C-72A3-48A0-98A3-D156028898C0}"/>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a:extLst>
              <a:ext uri="{FF2B5EF4-FFF2-40B4-BE49-F238E27FC236}">
                <a16:creationId xmlns:a16="http://schemas.microsoft.com/office/drawing/2014/main" id="{8AE34AD6-D857-4517-9FD3-C05463A222B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7" name="PlaceHolder 2">
            <a:extLst>
              <a:ext uri="{FF2B5EF4-FFF2-40B4-BE49-F238E27FC236}">
                <a16:creationId xmlns:a16="http://schemas.microsoft.com/office/drawing/2014/main" id="{C9956E2F-B85B-41BF-8BA2-7A39114AED1D}"/>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8" name="PlaceHolder 3">
            <a:extLst>
              <a:ext uri="{FF2B5EF4-FFF2-40B4-BE49-F238E27FC236}">
                <a16:creationId xmlns:a16="http://schemas.microsoft.com/office/drawing/2014/main" id="{36A6F0BA-20EA-4ED2-881F-4A14517B1FFF}"/>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a:extLst>
              <a:ext uri="{FF2B5EF4-FFF2-40B4-BE49-F238E27FC236}">
                <a16:creationId xmlns:a16="http://schemas.microsoft.com/office/drawing/2014/main" id="{56C985C3-046F-40BE-BD94-00295AEE812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10" name="PlaceHolder 1">
            <a:extLst>
              <a:ext uri="{FF2B5EF4-FFF2-40B4-BE49-F238E27FC236}">
                <a16:creationId xmlns:a16="http://schemas.microsoft.com/office/drawing/2014/main" id="{5192E51B-9942-42A8-8404-468F4D7AA099}"/>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11" name="PlaceHolder 1">
            <a:extLst>
              <a:ext uri="{FF2B5EF4-FFF2-40B4-BE49-F238E27FC236}">
                <a16:creationId xmlns:a16="http://schemas.microsoft.com/office/drawing/2014/main" id="{6A237BB4-38F2-4539-9315-EFABD6FCDE2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 name="PlaceHolder 2">
            <a:extLst>
              <a:ext uri="{FF2B5EF4-FFF2-40B4-BE49-F238E27FC236}">
                <a16:creationId xmlns:a16="http://schemas.microsoft.com/office/drawing/2014/main" id="{FB71A63A-BEC7-42B1-AB9F-11634532E961}"/>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 name="PlaceHolder 3">
            <a:extLst>
              <a:ext uri="{FF2B5EF4-FFF2-40B4-BE49-F238E27FC236}">
                <a16:creationId xmlns:a16="http://schemas.microsoft.com/office/drawing/2014/main" id="{808A2F67-296E-4B30-938F-FA17281AC1DD}"/>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 name="PlaceHolder 4">
            <a:extLst>
              <a:ext uri="{FF2B5EF4-FFF2-40B4-BE49-F238E27FC236}">
                <a16:creationId xmlns:a16="http://schemas.microsoft.com/office/drawing/2014/main" id="{68360B90-F694-443C-833B-2C27B80CA5BD}"/>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15" name="PlaceHolder 1">
            <a:extLst>
              <a:ext uri="{FF2B5EF4-FFF2-40B4-BE49-F238E27FC236}">
                <a16:creationId xmlns:a16="http://schemas.microsoft.com/office/drawing/2014/main" id="{AB14271D-CF2F-44CB-BE96-B563F540715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 name="PlaceHolder 2">
            <a:extLst>
              <a:ext uri="{FF2B5EF4-FFF2-40B4-BE49-F238E27FC236}">
                <a16:creationId xmlns:a16="http://schemas.microsoft.com/office/drawing/2014/main" id="{7436EE3D-2F88-4275-9EEC-6742F0592820}"/>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 name="PlaceHolder 3">
            <a:extLst>
              <a:ext uri="{FF2B5EF4-FFF2-40B4-BE49-F238E27FC236}">
                <a16:creationId xmlns:a16="http://schemas.microsoft.com/office/drawing/2014/main" id="{E526BCDF-FEB6-4B4B-9556-32D010B5C650}"/>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 name="PlaceHolder 4">
            <a:extLst>
              <a:ext uri="{FF2B5EF4-FFF2-40B4-BE49-F238E27FC236}">
                <a16:creationId xmlns:a16="http://schemas.microsoft.com/office/drawing/2014/main" id="{AC51526B-E574-467F-93C6-BFD9826E0E64}"/>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19" name="PlaceHolder 1">
            <a:extLst>
              <a:ext uri="{FF2B5EF4-FFF2-40B4-BE49-F238E27FC236}">
                <a16:creationId xmlns:a16="http://schemas.microsoft.com/office/drawing/2014/main" id="{BC79914B-6EF3-4AC1-B60E-A8A55DBB63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0" name="PlaceHolder 2">
            <a:extLst>
              <a:ext uri="{FF2B5EF4-FFF2-40B4-BE49-F238E27FC236}">
                <a16:creationId xmlns:a16="http://schemas.microsoft.com/office/drawing/2014/main" id="{085A5653-18CB-4518-A208-DE86D0358704}"/>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 name="PlaceHolder 3">
            <a:extLst>
              <a:ext uri="{FF2B5EF4-FFF2-40B4-BE49-F238E27FC236}">
                <a16:creationId xmlns:a16="http://schemas.microsoft.com/office/drawing/2014/main" id="{378242C1-9748-4292-BCE7-50091404A36E}"/>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 name="PlaceHolder 4">
            <a:extLst>
              <a:ext uri="{FF2B5EF4-FFF2-40B4-BE49-F238E27FC236}">
                <a16:creationId xmlns:a16="http://schemas.microsoft.com/office/drawing/2014/main" id="{1BDDBC49-42F5-4BD7-97BC-98389DD8E668}"/>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3" name="PlaceHolder 1">
            <a:extLst>
              <a:ext uri="{FF2B5EF4-FFF2-40B4-BE49-F238E27FC236}">
                <a16:creationId xmlns:a16="http://schemas.microsoft.com/office/drawing/2014/main" id="{79821F77-D4D7-4396-A2EA-9B261889A17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4" name="PlaceHolder 2">
            <a:extLst>
              <a:ext uri="{FF2B5EF4-FFF2-40B4-BE49-F238E27FC236}">
                <a16:creationId xmlns:a16="http://schemas.microsoft.com/office/drawing/2014/main" id="{5FE4E8F9-8904-4897-A7D0-3C1DDB492FEA}"/>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 name="PlaceHolder 3">
            <a:extLst>
              <a:ext uri="{FF2B5EF4-FFF2-40B4-BE49-F238E27FC236}">
                <a16:creationId xmlns:a16="http://schemas.microsoft.com/office/drawing/2014/main" id="{73B91B7E-2A32-4B8F-8BB2-357F1995F45B}"/>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6" name="PlaceHolder 1">
            <a:extLst>
              <a:ext uri="{FF2B5EF4-FFF2-40B4-BE49-F238E27FC236}">
                <a16:creationId xmlns:a16="http://schemas.microsoft.com/office/drawing/2014/main" id="{22525618-A72A-461A-91BC-0C871B94835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 name="PlaceHolder 2">
            <a:extLst>
              <a:ext uri="{FF2B5EF4-FFF2-40B4-BE49-F238E27FC236}">
                <a16:creationId xmlns:a16="http://schemas.microsoft.com/office/drawing/2014/main" id="{C051D48F-A371-4F36-8A45-CDB179C76C5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 name="PlaceHolder 3">
            <a:extLst>
              <a:ext uri="{FF2B5EF4-FFF2-40B4-BE49-F238E27FC236}">
                <a16:creationId xmlns:a16="http://schemas.microsoft.com/office/drawing/2014/main" id="{5900D6A1-2CBB-454E-B687-EC2784AB2E00}"/>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 name="PlaceHolder 4">
            <a:extLst>
              <a:ext uri="{FF2B5EF4-FFF2-40B4-BE49-F238E27FC236}">
                <a16:creationId xmlns:a16="http://schemas.microsoft.com/office/drawing/2014/main" id="{648D25EC-68DB-494C-A25B-24E96AB17FED}"/>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 name="PlaceHolder 5">
            <a:extLst>
              <a:ext uri="{FF2B5EF4-FFF2-40B4-BE49-F238E27FC236}">
                <a16:creationId xmlns:a16="http://schemas.microsoft.com/office/drawing/2014/main" id="{417AEB4D-8AF7-4129-BB6A-204D1B03385A}"/>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a:extLst>
              <a:ext uri="{FF2B5EF4-FFF2-40B4-BE49-F238E27FC236}">
                <a16:creationId xmlns:a16="http://schemas.microsoft.com/office/drawing/2014/main" id="{29520CF2-6820-44A5-A59D-755F3CDD92C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32" name="PlaceHolder 2">
            <a:extLst>
              <a:ext uri="{FF2B5EF4-FFF2-40B4-BE49-F238E27FC236}">
                <a16:creationId xmlns:a16="http://schemas.microsoft.com/office/drawing/2014/main" id="{66574158-849C-4F8D-AACA-6308BD243BEE}"/>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3" name="PlaceHolder 3">
            <a:extLst>
              <a:ext uri="{FF2B5EF4-FFF2-40B4-BE49-F238E27FC236}">
                <a16:creationId xmlns:a16="http://schemas.microsoft.com/office/drawing/2014/main" id="{2A50673B-F44A-4B55-9E9A-C0EC174BB0BA}"/>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4" name="PlaceHolder 4">
            <a:extLst>
              <a:ext uri="{FF2B5EF4-FFF2-40B4-BE49-F238E27FC236}">
                <a16:creationId xmlns:a16="http://schemas.microsoft.com/office/drawing/2014/main" id="{CB6F9D4F-1462-48F3-820D-F5AFDEFE2802}"/>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5" name="PlaceHolder 5">
            <a:extLst>
              <a:ext uri="{FF2B5EF4-FFF2-40B4-BE49-F238E27FC236}">
                <a16:creationId xmlns:a16="http://schemas.microsoft.com/office/drawing/2014/main" id="{AD88CBF0-0FFB-4398-920D-8E906889DA7C}"/>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6" name="PlaceHolder 6">
            <a:extLst>
              <a:ext uri="{FF2B5EF4-FFF2-40B4-BE49-F238E27FC236}">
                <a16:creationId xmlns:a16="http://schemas.microsoft.com/office/drawing/2014/main" id="{3047B913-1B57-437F-A0C3-9D764F0B2F57}"/>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7" name="PlaceHolder 7">
            <a:extLst>
              <a:ext uri="{FF2B5EF4-FFF2-40B4-BE49-F238E27FC236}">
                <a16:creationId xmlns:a16="http://schemas.microsoft.com/office/drawing/2014/main" id="{10297024-D506-4BC4-8D6D-93DAE7717BFD}"/>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0" name="PlaceHolder 1">
            <a:extLst>
              <a:ext uri="{FF2B5EF4-FFF2-40B4-BE49-F238E27FC236}">
                <a16:creationId xmlns:a16="http://schemas.microsoft.com/office/drawing/2014/main" id="{44A083F2-988D-4A19-A477-B59FA53423E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41" name="PlaceHolder 2">
            <a:extLst>
              <a:ext uri="{FF2B5EF4-FFF2-40B4-BE49-F238E27FC236}">
                <a16:creationId xmlns:a16="http://schemas.microsoft.com/office/drawing/2014/main" id="{F1FD269A-0782-48A0-A909-D7C3835566FD}"/>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a:extLst>
              <a:ext uri="{FF2B5EF4-FFF2-40B4-BE49-F238E27FC236}">
                <a16:creationId xmlns:a16="http://schemas.microsoft.com/office/drawing/2014/main" id="{2631AB3B-F47E-43D9-8EDF-7CA86312B05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43" name="PlaceHolder 2">
            <a:extLst>
              <a:ext uri="{FF2B5EF4-FFF2-40B4-BE49-F238E27FC236}">
                <a16:creationId xmlns:a16="http://schemas.microsoft.com/office/drawing/2014/main" id="{470DFC1E-769D-45ED-A747-433D40645D8A}"/>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a:extLst>
              <a:ext uri="{FF2B5EF4-FFF2-40B4-BE49-F238E27FC236}">
                <a16:creationId xmlns:a16="http://schemas.microsoft.com/office/drawing/2014/main" id="{B168786B-3505-43F8-BEC8-51149C1321F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45" name="PlaceHolder 2">
            <a:extLst>
              <a:ext uri="{FF2B5EF4-FFF2-40B4-BE49-F238E27FC236}">
                <a16:creationId xmlns:a16="http://schemas.microsoft.com/office/drawing/2014/main" id="{82F0D1D1-84C2-4FC9-84DB-13F3F5F6BAB5}"/>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46" name="PlaceHolder 3">
            <a:extLst>
              <a:ext uri="{FF2B5EF4-FFF2-40B4-BE49-F238E27FC236}">
                <a16:creationId xmlns:a16="http://schemas.microsoft.com/office/drawing/2014/main" id="{18B21C41-A699-47F1-B271-61266C03A106}"/>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a:extLst>
              <a:ext uri="{FF2B5EF4-FFF2-40B4-BE49-F238E27FC236}">
                <a16:creationId xmlns:a16="http://schemas.microsoft.com/office/drawing/2014/main" id="{7270268D-27DB-4759-A61A-E3C9E3C6CC8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48" name="PlaceHolder 1">
            <a:extLst>
              <a:ext uri="{FF2B5EF4-FFF2-40B4-BE49-F238E27FC236}">
                <a16:creationId xmlns:a16="http://schemas.microsoft.com/office/drawing/2014/main" id="{67521514-7B52-4CCA-A5B6-34848D40950C}"/>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49" name="PlaceHolder 1">
            <a:extLst>
              <a:ext uri="{FF2B5EF4-FFF2-40B4-BE49-F238E27FC236}">
                <a16:creationId xmlns:a16="http://schemas.microsoft.com/office/drawing/2014/main" id="{956C7691-C649-4082-B5B0-E2A33EA5DB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0" name="PlaceHolder 2">
            <a:extLst>
              <a:ext uri="{FF2B5EF4-FFF2-40B4-BE49-F238E27FC236}">
                <a16:creationId xmlns:a16="http://schemas.microsoft.com/office/drawing/2014/main" id="{1FDDFC0F-2CAC-4082-B105-5705A94D6C21}"/>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1" name="PlaceHolder 3">
            <a:extLst>
              <a:ext uri="{FF2B5EF4-FFF2-40B4-BE49-F238E27FC236}">
                <a16:creationId xmlns:a16="http://schemas.microsoft.com/office/drawing/2014/main" id="{0EBDB5B4-7E4A-434E-847A-AEFC8CEB2676}"/>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2" name="PlaceHolder 4">
            <a:extLst>
              <a:ext uri="{FF2B5EF4-FFF2-40B4-BE49-F238E27FC236}">
                <a16:creationId xmlns:a16="http://schemas.microsoft.com/office/drawing/2014/main" id="{B6BD501C-6FA9-4912-8D88-2707B1E141CB}"/>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53" name="PlaceHolder 1">
            <a:extLst>
              <a:ext uri="{FF2B5EF4-FFF2-40B4-BE49-F238E27FC236}">
                <a16:creationId xmlns:a16="http://schemas.microsoft.com/office/drawing/2014/main" id="{2B8C8295-1E53-49D0-AD50-33812DAB9D3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4" name="PlaceHolder 2">
            <a:extLst>
              <a:ext uri="{FF2B5EF4-FFF2-40B4-BE49-F238E27FC236}">
                <a16:creationId xmlns:a16="http://schemas.microsoft.com/office/drawing/2014/main" id="{5CF4A466-2E87-4DD6-9F4D-8DA37C50EFBB}"/>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5" name="PlaceHolder 3">
            <a:extLst>
              <a:ext uri="{FF2B5EF4-FFF2-40B4-BE49-F238E27FC236}">
                <a16:creationId xmlns:a16="http://schemas.microsoft.com/office/drawing/2014/main" id="{F78E011A-1817-41DC-8A3E-048D0FD0BAD4}"/>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6" name="PlaceHolder 4">
            <a:extLst>
              <a:ext uri="{FF2B5EF4-FFF2-40B4-BE49-F238E27FC236}">
                <a16:creationId xmlns:a16="http://schemas.microsoft.com/office/drawing/2014/main" id="{8FAD12B0-C537-4398-8B8C-92A104239D15}"/>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57" name="PlaceHolder 1">
            <a:extLst>
              <a:ext uri="{FF2B5EF4-FFF2-40B4-BE49-F238E27FC236}">
                <a16:creationId xmlns:a16="http://schemas.microsoft.com/office/drawing/2014/main" id="{A610EF7F-A6E6-4E57-A0A6-977AAD31448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58" name="PlaceHolder 2">
            <a:extLst>
              <a:ext uri="{FF2B5EF4-FFF2-40B4-BE49-F238E27FC236}">
                <a16:creationId xmlns:a16="http://schemas.microsoft.com/office/drawing/2014/main" id="{F97A0D8D-6827-4003-AEB5-072C7B43556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59" name="PlaceHolder 3">
            <a:extLst>
              <a:ext uri="{FF2B5EF4-FFF2-40B4-BE49-F238E27FC236}">
                <a16:creationId xmlns:a16="http://schemas.microsoft.com/office/drawing/2014/main" id="{487C7197-F95E-4D4C-93DA-BFCA3625E386}"/>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0" name="PlaceHolder 4">
            <a:extLst>
              <a:ext uri="{FF2B5EF4-FFF2-40B4-BE49-F238E27FC236}">
                <a16:creationId xmlns:a16="http://schemas.microsoft.com/office/drawing/2014/main" id="{B995043D-CF7F-46B8-94E3-CD444029B5FD}"/>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61" name="PlaceHolder 1">
            <a:extLst>
              <a:ext uri="{FF2B5EF4-FFF2-40B4-BE49-F238E27FC236}">
                <a16:creationId xmlns:a16="http://schemas.microsoft.com/office/drawing/2014/main" id="{B2E47DD8-A714-47E8-98C4-8D01AB8D4BB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62" name="PlaceHolder 2">
            <a:extLst>
              <a:ext uri="{FF2B5EF4-FFF2-40B4-BE49-F238E27FC236}">
                <a16:creationId xmlns:a16="http://schemas.microsoft.com/office/drawing/2014/main" id="{101D36EC-4334-4C1E-B12C-7AADFAD72379}"/>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3" name="PlaceHolder 3">
            <a:extLst>
              <a:ext uri="{FF2B5EF4-FFF2-40B4-BE49-F238E27FC236}">
                <a16:creationId xmlns:a16="http://schemas.microsoft.com/office/drawing/2014/main" id="{632AE9A2-05A6-41B5-810A-4A7EC6F3E8E7}"/>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64" name="PlaceHolder 1">
            <a:extLst>
              <a:ext uri="{FF2B5EF4-FFF2-40B4-BE49-F238E27FC236}">
                <a16:creationId xmlns:a16="http://schemas.microsoft.com/office/drawing/2014/main" id="{59D20E98-25C9-4835-BAAF-F9C6456DA5F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65" name="PlaceHolder 2">
            <a:extLst>
              <a:ext uri="{FF2B5EF4-FFF2-40B4-BE49-F238E27FC236}">
                <a16:creationId xmlns:a16="http://schemas.microsoft.com/office/drawing/2014/main" id="{5D7359E2-B679-431F-8BD1-1AD13E6D497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6" name="PlaceHolder 3">
            <a:extLst>
              <a:ext uri="{FF2B5EF4-FFF2-40B4-BE49-F238E27FC236}">
                <a16:creationId xmlns:a16="http://schemas.microsoft.com/office/drawing/2014/main" id="{C501D40A-4FE1-43BD-BA89-2987BB3A65E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7" name="PlaceHolder 4">
            <a:extLst>
              <a:ext uri="{FF2B5EF4-FFF2-40B4-BE49-F238E27FC236}">
                <a16:creationId xmlns:a16="http://schemas.microsoft.com/office/drawing/2014/main" id="{E1A25D2A-BAE9-4B2D-88E2-4C132F9BB3DB}"/>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68" name="PlaceHolder 5">
            <a:extLst>
              <a:ext uri="{FF2B5EF4-FFF2-40B4-BE49-F238E27FC236}">
                <a16:creationId xmlns:a16="http://schemas.microsoft.com/office/drawing/2014/main" id="{9B0A5D43-E7A5-436F-AAD4-1F47203E95C3}"/>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a:extLst>
              <a:ext uri="{FF2B5EF4-FFF2-40B4-BE49-F238E27FC236}">
                <a16:creationId xmlns:a16="http://schemas.microsoft.com/office/drawing/2014/main" id="{430496B9-D835-48D3-AF57-9163E74B26B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70" name="PlaceHolder 2">
            <a:extLst>
              <a:ext uri="{FF2B5EF4-FFF2-40B4-BE49-F238E27FC236}">
                <a16:creationId xmlns:a16="http://schemas.microsoft.com/office/drawing/2014/main" id="{994877C3-E4BD-4B18-B0EA-D912D0616E73}"/>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1" name="PlaceHolder 3">
            <a:extLst>
              <a:ext uri="{FF2B5EF4-FFF2-40B4-BE49-F238E27FC236}">
                <a16:creationId xmlns:a16="http://schemas.microsoft.com/office/drawing/2014/main" id="{E54DB432-5C53-4C4B-B03F-1B13AFD3FE70}"/>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2" name="PlaceHolder 4">
            <a:extLst>
              <a:ext uri="{FF2B5EF4-FFF2-40B4-BE49-F238E27FC236}">
                <a16:creationId xmlns:a16="http://schemas.microsoft.com/office/drawing/2014/main" id="{036CE799-0FE1-4C75-8A2D-3D49A1970000}"/>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3" name="PlaceHolder 5">
            <a:extLst>
              <a:ext uri="{FF2B5EF4-FFF2-40B4-BE49-F238E27FC236}">
                <a16:creationId xmlns:a16="http://schemas.microsoft.com/office/drawing/2014/main" id="{7A56F5FA-10B1-4B70-B313-82726AA6AA0F}"/>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4" name="PlaceHolder 6">
            <a:extLst>
              <a:ext uri="{FF2B5EF4-FFF2-40B4-BE49-F238E27FC236}">
                <a16:creationId xmlns:a16="http://schemas.microsoft.com/office/drawing/2014/main" id="{305C3968-7AFF-4124-894B-B71098EF2F91}"/>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75" name="PlaceHolder 7">
            <a:extLst>
              <a:ext uri="{FF2B5EF4-FFF2-40B4-BE49-F238E27FC236}">
                <a16:creationId xmlns:a16="http://schemas.microsoft.com/office/drawing/2014/main" id="{AC4BFE98-C15F-4933-B0EE-E826482A8496}"/>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8" name="PlaceHolder 1">
            <a:extLst>
              <a:ext uri="{FF2B5EF4-FFF2-40B4-BE49-F238E27FC236}">
                <a16:creationId xmlns:a16="http://schemas.microsoft.com/office/drawing/2014/main" id="{09E52DF9-03EC-4BED-9E76-2AB5D8C5A52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79" name="PlaceHolder 2">
            <a:extLst>
              <a:ext uri="{FF2B5EF4-FFF2-40B4-BE49-F238E27FC236}">
                <a16:creationId xmlns:a16="http://schemas.microsoft.com/office/drawing/2014/main" id="{7FB7218A-F763-4E7D-8CDB-8199365FAC76}"/>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a:extLst>
              <a:ext uri="{FF2B5EF4-FFF2-40B4-BE49-F238E27FC236}">
                <a16:creationId xmlns:a16="http://schemas.microsoft.com/office/drawing/2014/main" id="{EE825364-A11D-457B-8480-10B48D31D29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81" name="PlaceHolder 2">
            <a:extLst>
              <a:ext uri="{FF2B5EF4-FFF2-40B4-BE49-F238E27FC236}">
                <a16:creationId xmlns:a16="http://schemas.microsoft.com/office/drawing/2014/main" id="{D4A073EA-CD1F-4EA5-9A3A-18E02E43F973}"/>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a:extLst>
              <a:ext uri="{FF2B5EF4-FFF2-40B4-BE49-F238E27FC236}">
                <a16:creationId xmlns:a16="http://schemas.microsoft.com/office/drawing/2014/main" id="{C5A657FD-F57D-4B2C-9EE8-57EB2C5BDBF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83" name="PlaceHolder 2">
            <a:extLst>
              <a:ext uri="{FF2B5EF4-FFF2-40B4-BE49-F238E27FC236}">
                <a16:creationId xmlns:a16="http://schemas.microsoft.com/office/drawing/2014/main" id="{C17C7A84-85E0-4BDB-AA67-997F1CE17930}"/>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84" name="PlaceHolder 3">
            <a:extLst>
              <a:ext uri="{FF2B5EF4-FFF2-40B4-BE49-F238E27FC236}">
                <a16:creationId xmlns:a16="http://schemas.microsoft.com/office/drawing/2014/main" id="{7AE98D83-529C-4FA2-A519-898983FE0534}"/>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a:extLst>
              <a:ext uri="{FF2B5EF4-FFF2-40B4-BE49-F238E27FC236}">
                <a16:creationId xmlns:a16="http://schemas.microsoft.com/office/drawing/2014/main" id="{F904B098-33C0-446B-BFAE-5B586C652AC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86" name="PlaceHolder 1">
            <a:extLst>
              <a:ext uri="{FF2B5EF4-FFF2-40B4-BE49-F238E27FC236}">
                <a16:creationId xmlns:a16="http://schemas.microsoft.com/office/drawing/2014/main" id="{BED13F68-56B1-4CAC-A3B7-B615BA28C3C0}"/>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87" name="PlaceHolder 1">
            <a:extLst>
              <a:ext uri="{FF2B5EF4-FFF2-40B4-BE49-F238E27FC236}">
                <a16:creationId xmlns:a16="http://schemas.microsoft.com/office/drawing/2014/main" id="{9BF2C1E1-5AAD-4D81-B0E5-EFB9A444525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88" name="PlaceHolder 2">
            <a:extLst>
              <a:ext uri="{FF2B5EF4-FFF2-40B4-BE49-F238E27FC236}">
                <a16:creationId xmlns:a16="http://schemas.microsoft.com/office/drawing/2014/main" id="{41B1374F-B1B9-4CAA-AD59-F2CC2BF14ED5}"/>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89" name="PlaceHolder 3">
            <a:extLst>
              <a:ext uri="{FF2B5EF4-FFF2-40B4-BE49-F238E27FC236}">
                <a16:creationId xmlns:a16="http://schemas.microsoft.com/office/drawing/2014/main" id="{85336D9B-7246-42ED-A831-2733930C0DA5}"/>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0" name="PlaceHolder 4">
            <a:extLst>
              <a:ext uri="{FF2B5EF4-FFF2-40B4-BE49-F238E27FC236}">
                <a16:creationId xmlns:a16="http://schemas.microsoft.com/office/drawing/2014/main" id="{1F152E9B-CC36-4D47-B60A-47F0FFBCC5AE}"/>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91" name="PlaceHolder 1">
            <a:extLst>
              <a:ext uri="{FF2B5EF4-FFF2-40B4-BE49-F238E27FC236}">
                <a16:creationId xmlns:a16="http://schemas.microsoft.com/office/drawing/2014/main" id="{A37C121F-D779-4AB8-8BDE-CCDCEDD92A8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92" name="PlaceHolder 2">
            <a:extLst>
              <a:ext uri="{FF2B5EF4-FFF2-40B4-BE49-F238E27FC236}">
                <a16:creationId xmlns:a16="http://schemas.microsoft.com/office/drawing/2014/main" id="{EA663E86-057B-4DD2-A066-FDD82DA753D6}"/>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3" name="PlaceHolder 3">
            <a:extLst>
              <a:ext uri="{FF2B5EF4-FFF2-40B4-BE49-F238E27FC236}">
                <a16:creationId xmlns:a16="http://schemas.microsoft.com/office/drawing/2014/main" id="{E43F5625-341F-4F53-8DB7-889C2BD7BE4A}"/>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4" name="PlaceHolder 4">
            <a:extLst>
              <a:ext uri="{FF2B5EF4-FFF2-40B4-BE49-F238E27FC236}">
                <a16:creationId xmlns:a16="http://schemas.microsoft.com/office/drawing/2014/main" id="{C83D55BB-473B-4E73-B797-C526170FA32A}"/>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95" name="PlaceHolder 1">
            <a:extLst>
              <a:ext uri="{FF2B5EF4-FFF2-40B4-BE49-F238E27FC236}">
                <a16:creationId xmlns:a16="http://schemas.microsoft.com/office/drawing/2014/main" id="{FA8263AF-A520-4E19-81B3-4BABC6F2F0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96" name="PlaceHolder 2">
            <a:extLst>
              <a:ext uri="{FF2B5EF4-FFF2-40B4-BE49-F238E27FC236}">
                <a16:creationId xmlns:a16="http://schemas.microsoft.com/office/drawing/2014/main" id="{299E8D52-20B6-470D-AD19-07EDA08AFF0A}"/>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7" name="PlaceHolder 3">
            <a:extLst>
              <a:ext uri="{FF2B5EF4-FFF2-40B4-BE49-F238E27FC236}">
                <a16:creationId xmlns:a16="http://schemas.microsoft.com/office/drawing/2014/main" id="{491D01F8-DDCB-4F2F-AEE8-D04E878BA85B}"/>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98" name="PlaceHolder 4">
            <a:extLst>
              <a:ext uri="{FF2B5EF4-FFF2-40B4-BE49-F238E27FC236}">
                <a16:creationId xmlns:a16="http://schemas.microsoft.com/office/drawing/2014/main" id="{DD185B24-0E3E-4F99-8C94-F038A7211992}"/>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99" name="PlaceHolder 1">
            <a:extLst>
              <a:ext uri="{FF2B5EF4-FFF2-40B4-BE49-F238E27FC236}">
                <a16:creationId xmlns:a16="http://schemas.microsoft.com/office/drawing/2014/main" id="{ACEA8A00-511B-44E4-81B5-522CCEF1B22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00" name="PlaceHolder 2">
            <a:extLst>
              <a:ext uri="{FF2B5EF4-FFF2-40B4-BE49-F238E27FC236}">
                <a16:creationId xmlns:a16="http://schemas.microsoft.com/office/drawing/2014/main" id="{40D18A39-F672-44E0-B6CC-4D94DD3D8449}"/>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1" name="PlaceHolder 3">
            <a:extLst>
              <a:ext uri="{FF2B5EF4-FFF2-40B4-BE49-F238E27FC236}">
                <a16:creationId xmlns:a16="http://schemas.microsoft.com/office/drawing/2014/main" id="{81B0B2EB-45A0-41CA-8B34-2868A7CE5B7E}"/>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102" name="PlaceHolder 1">
            <a:extLst>
              <a:ext uri="{FF2B5EF4-FFF2-40B4-BE49-F238E27FC236}">
                <a16:creationId xmlns:a16="http://schemas.microsoft.com/office/drawing/2014/main" id="{A5B28CAC-F0BF-452B-AD91-43EE17D2B28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03" name="PlaceHolder 2">
            <a:extLst>
              <a:ext uri="{FF2B5EF4-FFF2-40B4-BE49-F238E27FC236}">
                <a16:creationId xmlns:a16="http://schemas.microsoft.com/office/drawing/2014/main" id="{9CC4CFDA-1C96-4382-A88C-86F9F488B9D0}"/>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4" name="PlaceHolder 3">
            <a:extLst>
              <a:ext uri="{FF2B5EF4-FFF2-40B4-BE49-F238E27FC236}">
                <a16:creationId xmlns:a16="http://schemas.microsoft.com/office/drawing/2014/main" id="{C21319D9-6837-40EF-B39F-7040F579DBB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5" name="PlaceHolder 4">
            <a:extLst>
              <a:ext uri="{FF2B5EF4-FFF2-40B4-BE49-F238E27FC236}">
                <a16:creationId xmlns:a16="http://schemas.microsoft.com/office/drawing/2014/main" id="{A8727D4A-49D4-412F-A624-73DF0FE32201}"/>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6" name="PlaceHolder 5">
            <a:extLst>
              <a:ext uri="{FF2B5EF4-FFF2-40B4-BE49-F238E27FC236}">
                <a16:creationId xmlns:a16="http://schemas.microsoft.com/office/drawing/2014/main" id="{7451DCCF-9D06-4E68-895F-2914D79EFB7D}"/>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a:extLst>
              <a:ext uri="{FF2B5EF4-FFF2-40B4-BE49-F238E27FC236}">
                <a16:creationId xmlns:a16="http://schemas.microsoft.com/office/drawing/2014/main" id="{D21293F2-927D-47B7-A2CF-B2276B7B78F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08" name="PlaceHolder 2">
            <a:extLst>
              <a:ext uri="{FF2B5EF4-FFF2-40B4-BE49-F238E27FC236}">
                <a16:creationId xmlns:a16="http://schemas.microsoft.com/office/drawing/2014/main" id="{6FF53182-D700-4CE1-9258-0E20BCB81957}"/>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09" name="PlaceHolder 3">
            <a:extLst>
              <a:ext uri="{FF2B5EF4-FFF2-40B4-BE49-F238E27FC236}">
                <a16:creationId xmlns:a16="http://schemas.microsoft.com/office/drawing/2014/main" id="{C11EE271-93AE-48FE-83CF-27C48181769C}"/>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0" name="PlaceHolder 4">
            <a:extLst>
              <a:ext uri="{FF2B5EF4-FFF2-40B4-BE49-F238E27FC236}">
                <a16:creationId xmlns:a16="http://schemas.microsoft.com/office/drawing/2014/main" id="{2D1798BD-23DC-4F92-B132-AAB701BD9B36}"/>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1" name="PlaceHolder 5">
            <a:extLst>
              <a:ext uri="{FF2B5EF4-FFF2-40B4-BE49-F238E27FC236}">
                <a16:creationId xmlns:a16="http://schemas.microsoft.com/office/drawing/2014/main" id="{8D0797DA-010E-4438-ABA3-602940AC4914}"/>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2" name="PlaceHolder 6">
            <a:extLst>
              <a:ext uri="{FF2B5EF4-FFF2-40B4-BE49-F238E27FC236}">
                <a16:creationId xmlns:a16="http://schemas.microsoft.com/office/drawing/2014/main" id="{D5B7A535-9A37-4D6C-A073-6E26651B19CB}"/>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13" name="PlaceHolder 7">
            <a:extLst>
              <a:ext uri="{FF2B5EF4-FFF2-40B4-BE49-F238E27FC236}">
                <a16:creationId xmlns:a16="http://schemas.microsoft.com/office/drawing/2014/main" id="{034F792B-68C4-42E9-97FD-6147489E40F5}"/>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17" name="PlaceHolder 1">
            <a:extLst>
              <a:ext uri="{FF2B5EF4-FFF2-40B4-BE49-F238E27FC236}">
                <a16:creationId xmlns:a16="http://schemas.microsoft.com/office/drawing/2014/main" id="{A4C2F67D-2147-4712-9C93-377808522BB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18" name="PlaceHolder 2">
            <a:extLst>
              <a:ext uri="{FF2B5EF4-FFF2-40B4-BE49-F238E27FC236}">
                <a16:creationId xmlns:a16="http://schemas.microsoft.com/office/drawing/2014/main" id="{AEBB9ACF-74BA-45F3-98EC-6227EFFB4180}"/>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9" name="PlaceHolder 1">
            <a:extLst>
              <a:ext uri="{FF2B5EF4-FFF2-40B4-BE49-F238E27FC236}">
                <a16:creationId xmlns:a16="http://schemas.microsoft.com/office/drawing/2014/main" id="{987A50F5-A7C3-47EA-93A3-79F592C1A53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0" name="PlaceHolder 2">
            <a:extLst>
              <a:ext uri="{FF2B5EF4-FFF2-40B4-BE49-F238E27FC236}">
                <a16:creationId xmlns:a16="http://schemas.microsoft.com/office/drawing/2014/main" id="{01ED7D0A-F221-46EF-818B-95A8BEF2E333}"/>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1" name="PlaceHolder 1">
            <a:extLst>
              <a:ext uri="{FF2B5EF4-FFF2-40B4-BE49-F238E27FC236}">
                <a16:creationId xmlns:a16="http://schemas.microsoft.com/office/drawing/2014/main" id="{D09452CC-61D5-4543-B1BB-2094A9FEBF2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2" name="PlaceHolder 2">
            <a:extLst>
              <a:ext uri="{FF2B5EF4-FFF2-40B4-BE49-F238E27FC236}">
                <a16:creationId xmlns:a16="http://schemas.microsoft.com/office/drawing/2014/main" id="{B3BAE729-E61C-435F-B413-62D0E75B0CD4}"/>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23" name="PlaceHolder 3">
            <a:extLst>
              <a:ext uri="{FF2B5EF4-FFF2-40B4-BE49-F238E27FC236}">
                <a16:creationId xmlns:a16="http://schemas.microsoft.com/office/drawing/2014/main" id="{78142662-AA0A-4476-B4B2-B25DB9C3E1AB}"/>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4" name="PlaceHolder 1">
            <a:extLst>
              <a:ext uri="{FF2B5EF4-FFF2-40B4-BE49-F238E27FC236}">
                <a16:creationId xmlns:a16="http://schemas.microsoft.com/office/drawing/2014/main" id="{49714251-2A26-4A6C-90DF-8A591C55E8D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125" name="PlaceHolder 1">
            <a:extLst>
              <a:ext uri="{FF2B5EF4-FFF2-40B4-BE49-F238E27FC236}">
                <a16:creationId xmlns:a16="http://schemas.microsoft.com/office/drawing/2014/main" id="{96D853D4-B600-4312-9335-99022C9A12E4}"/>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126" name="PlaceHolder 1">
            <a:extLst>
              <a:ext uri="{FF2B5EF4-FFF2-40B4-BE49-F238E27FC236}">
                <a16:creationId xmlns:a16="http://schemas.microsoft.com/office/drawing/2014/main" id="{15A62FB6-D45E-4BC9-9762-9A5C429E66C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27" name="PlaceHolder 2">
            <a:extLst>
              <a:ext uri="{FF2B5EF4-FFF2-40B4-BE49-F238E27FC236}">
                <a16:creationId xmlns:a16="http://schemas.microsoft.com/office/drawing/2014/main" id="{2969A164-2576-4A10-B85C-A70D1FCA9B35}"/>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28" name="PlaceHolder 3">
            <a:extLst>
              <a:ext uri="{FF2B5EF4-FFF2-40B4-BE49-F238E27FC236}">
                <a16:creationId xmlns:a16="http://schemas.microsoft.com/office/drawing/2014/main" id="{DB4147B6-B660-45F2-BEED-77CC6F1991E2}"/>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29" name="PlaceHolder 4">
            <a:extLst>
              <a:ext uri="{FF2B5EF4-FFF2-40B4-BE49-F238E27FC236}">
                <a16:creationId xmlns:a16="http://schemas.microsoft.com/office/drawing/2014/main" id="{C5EAA700-BA0E-43AD-9853-41B9294D602D}"/>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130" name="PlaceHolder 1">
            <a:extLst>
              <a:ext uri="{FF2B5EF4-FFF2-40B4-BE49-F238E27FC236}">
                <a16:creationId xmlns:a16="http://schemas.microsoft.com/office/drawing/2014/main" id="{A01D9B28-3FC4-4FF3-A69A-D3784927660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31" name="PlaceHolder 2">
            <a:extLst>
              <a:ext uri="{FF2B5EF4-FFF2-40B4-BE49-F238E27FC236}">
                <a16:creationId xmlns:a16="http://schemas.microsoft.com/office/drawing/2014/main" id="{EEBBE78C-C3B0-45F7-8C64-98F7062B5254}"/>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2" name="PlaceHolder 3">
            <a:extLst>
              <a:ext uri="{FF2B5EF4-FFF2-40B4-BE49-F238E27FC236}">
                <a16:creationId xmlns:a16="http://schemas.microsoft.com/office/drawing/2014/main" id="{5F363A97-E4B6-4A1E-A899-31042E07AE13}"/>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3" name="PlaceHolder 4">
            <a:extLst>
              <a:ext uri="{FF2B5EF4-FFF2-40B4-BE49-F238E27FC236}">
                <a16:creationId xmlns:a16="http://schemas.microsoft.com/office/drawing/2014/main" id="{6177CF6C-FF4C-4B5C-B70A-F3F010D6EF75}"/>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134" name="PlaceHolder 1">
            <a:extLst>
              <a:ext uri="{FF2B5EF4-FFF2-40B4-BE49-F238E27FC236}">
                <a16:creationId xmlns:a16="http://schemas.microsoft.com/office/drawing/2014/main" id="{7D4C30AC-3B13-426E-A33A-96F99AC3B8C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35" name="PlaceHolder 2">
            <a:extLst>
              <a:ext uri="{FF2B5EF4-FFF2-40B4-BE49-F238E27FC236}">
                <a16:creationId xmlns:a16="http://schemas.microsoft.com/office/drawing/2014/main" id="{632B7235-6728-4A95-AF9A-3EC021BD09E2}"/>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6" name="PlaceHolder 3">
            <a:extLst>
              <a:ext uri="{FF2B5EF4-FFF2-40B4-BE49-F238E27FC236}">
                <a16:creationId xmlns:a16="http://schemas.microsoft.com/office/drawing/2014/main" id="{ECE1F142-FBF0-44FC-A63A-13268984963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37" name="PlaceHolder 4">
            <a:extLst>
              <a:ext uri="{FF2B5EF4-FFF2-40B4-BE49-F238E27FC236}">
                <a16:creationId xmlns:a16="http://schemas.microsoft.com/office/drawing/2014/main" id="{282DF918-CA60-408B-B6CE-D31DC83F5820}"/>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138" name="PlaceHolder 1">
            <a:extLst>
              <a:ext uri="{FF2B5EF4-FFF2-40B4-BE49-F238E27FC236}">
                <a16:creationId xmlns:a16="http://schemas.microsoft.com/office/drawing/2014/main" id="{540817C9-5C20-49E7-BC97-4A6F2BD4CC35}"/>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39" name="PlaceHolder 2">
            <a:extLst>
              <a:ext uri="{FF2B5EF4-FFF2-40B4-BE49-F238E27FC236}">
                <a16:creationId xmlns:a16="http://schemas.microsoft.com/office/drawing/2014/main" id="{C9E7E96E-903C-4232-BAFB-33AD1A58EE0A}"/>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0" name="PlaceHolder 3">
            <a:extLst>
              <a:ext uri="{FF2B5EF4-FFF2-40B4-BE49-F238E27FC236}">
                <a16:creationId xmlns:a16="http://schemas.microsoft.com/office/drawing/2014/main" id="{2A3BEE4B-B300-4851-A40B-CBED1BE69F97}"/>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141" name="PlaceHolder 1">
            <a:extLst>
              <a:ext uri="{FF2B5EF4-FFF2-40B4-BE49-F238E27FC236}">
                <a16:creationId xmlns:a16="http://schemas.microsoft.com/office/drawing/2014/main" id="{6E9929D7-DF56-463E-838A-02C4DED0AE61}"/>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42" name="PlaceHolder 2">
            <a:extLst>
              <a:ext uri="{FF2B5EF4-FFF2-40B4-BE49-F238E27FC236}">
                <a16:creationId xmlns:a16="http://schemas.microsoft.com/office/drawing/2014/main" id="{B5B7EE8E-2C16-415C-826F-265E3FC4ECE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3" name="PlaceHolder 3">
            <a:extLst>
              <a:ext uri="{FF2B5EF4-FFF2-40B4-BE49-F238E27FC236}">
                <a16:creationId xmlns:a16="http://schemas.microsoft.com/office/drawing/2014/main" id="{411F5477-0EB2-4D26-8888-69D16B98D333}"/>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4" name="PlaceHolder 4">
            <a:extLst>
              <a:ext uri="{FF2B5EF4-FFF2-40B4-BE49-F238E27FC236}">
                <a16:creationId xmlns:a16="http://schemas.microsoft.com/office/drawing/2014/main" id="{0411E72B-0142-418C-BB8F-E0EF9C18950A}"/>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5" name="PlaceHolder 5">
            <a:extLst>
              <a:ext uri="{FF2B5EF4-FFF2-40B4-BE49-F238E27FC236}">
                <a16:creationId xmlns:a16="http://schemas.microsoft.com/office/drawing/2014/main" id="{F4274417-4BFA-44F5-B477-3968944911DD}"/>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 name="PlaceHolder 1">
            <a:extLst>
              <a:ext uri="{FF2B5EF4-FFF2-40B4-BE49-F238E27FC236}">
                <a16:creationId xmlns:a16="http://schemas.microsoft.com/office/drawing/2014/main" id="{0B9FD4B2-F076-4021-B107-8080A8C8E7E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47" name="PlaceHolder 2">
            <a:extLst>
              <a:ext uri="{FF2B5EF4-FFF2-40B4-BE49-F238E27FC236}">
                <a16:creationId xmlns:a16="http://schemas.microsoft.com/office/drawing/2014/main" id="{BF1287B4-1EE5-4C96-895D-3C6425E85D2D}"/>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8" name="PlaceHolder 3">
            <a:extLst>
              <a:ext uri="{FF2B5EF4-FFF2-40B4-BE49-F238E27FC236}">
                <a16:creationId xmlns:a16="http://schemas.microsoft.com/office/drawing/2014/main" id="{9D1DE7FC-8589-4053-B107-298F3C473871}"/>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49" name="PlaceHolder 4">
            <a:extLst>
              <a:ext uri="{FF2B5EF4-FFF2-40B4-BE49-F238E27FC236}">
                <a16:creationId xmlns:a16="http://schemas.microsoft.com/office/drawing/2014/main" id="{C426F9B6-2259-4125-BBA4-576A5C000BC2}"/>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50" name="PlaceHolder 5">
            <a:extLst>
              <a:ext uri="{FF2B5EF4-FFF2-40B4-BE49-F238E27FC236}">
                <a16:creationId xmlns:a16="http://schemas.microsoft.com/office/drawing/2014/main" id="{0EFE588A-2F70-4982-A625-92881B293E99}"/>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51" name="PlaceHolder 6">
            <a:extLst>
              <a:ext uri="{FF2B5EF4-FFF2-40B4-BE49-F238E27FC236}">
                <a16:creationId xmlns:a16="http://schemas.microsoft.com/office/drawing/2014/main" id="{539763B9-6720-4224-B005-E9362D695ED2}"/>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52" name="PlaceHolder 7">
            <a:extLst>
              <a:ext uri="{FF2B5EF4-FFF2-40B4-BE49-F238E27FC236}">
                <a16:creationId xmlns:a16="http://schemas.microsoft.com/office/drawing/2014/main" id="{BD78B964-D535-40B7-86B2-FFE4CDA0196C}"/>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55" name="PlaceHolder 1">
            <a:extLst>
              <a:ext uri="{FF2B5EF4-FFF2-40B4-BE49-F238E27FC236}">
                <a16:creationId xmlns:a16="http://schemas.microsoft.com/office/drawing/2014/main" id="{F7ABAA29-C61F-4DD0-BB35-2F04C5F5DDD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56" name="PlaceHolder 2">
            <a:extLst>
              <a:ext uri="{FF2B5EF4-FFF2-40B4-BE49-F238E27FC236}">
                <a16:creationId xmlns:a16="http://schemas.microsoft.com/office/drawing/2014/main" id="{068D6E4C-6559-4CA0-B758-10AA58E686BD}"/>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7" name="PlaceHolder 1">
            <a:extLst>
              <a:ext uri="{FF2B5EF4-FFF2-40B4-BE49-F238E27FC236}">
                <a16:creationId xmlns:a16="http://schemas.microsoft.com/office/drawing/2014/main" id="{890FAB61-4FCB-4D86-A479-125B78DF2D1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58" name="PlaceHolder 2">
            <a:extLst>
              <a:ext uri="{FF2B5EF4-FFF2-40B4-BE49-F238E27FC236}">
                <a16:creationId xmlns:a16="http://schemas.microsoft.com/office/drawing/2014/main" id="{9DA84652-0C36-4F01-98C8-FB39F66FFFEE}"/>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9" name="PlaceHolder 1">
            <a:extLst>
              <a:ext uri="{FF2B5EF4-FFF2-40B4-BE49-F238E27FC236}">
                <a16:creationId xmlns:a16="http://schemas.microsoft.com/office/drawing/2014/main" id="{83B1FD53-6E79-4725-AF2A-C7EFED87FC6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0" name="PlaceHolder 2">
            <a:extLst>
              <a:ext uri="{FF2B5EF4-FFF2-40B4-BE49-F238E27FC236}">
                <a16:creationId xmlns:a16="http://schemas.microsoft.com/office/drawing/2014/main" id="{8405CB57-6A8D-4C32-8031-1518540282BE}"/>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61" name="PlaceHolder 3">
            <a:extLst>
              <a:ext uri="{FF2B5EF4-FFF2-40B4-BE49-F238E27FC236}">
                <a16:creationId xmlns:a16="http://schemas.microsoft.com/office/drawing/2014/main" id="{6ED0BF8E-7743-4EC3-ACBD-46DE89C9713D}"/>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2" name="PlaceHolder 1">
            <a:extLst>
              <a:ext uri="{FF2B5EF4-FFF2-40B4-BE49-F238E27FC236}">
                <a16:creationId xmlns:a16="http://schemas.microsoft.com/office/drawing/2014/main" id="{9BEA926A-F1FC-4771-A790-353C0689E17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163" name="PlaceHolder 1">
            <a:extLst>
              <a:ext uri="{FF2B5EF4-FFF2-40B4-BE49-F238E27FC236}">
                <a16:creationId xmlns:a16="http://schemas.microsoft.com/office/drawing/2014/main" id="{33EC7CB8-DE6A-4C0A-92B8-609246B9A227}"/>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164" name="PlaceHolder 1">
            <a:extLst>
              <a:ext uri="{FF2B5EF4-FFF2-40B4-BE49-F238E27FC236}">
                <a16:creationId xmlns:a16="http://schemas.microsoft.com/office/drawing/2014/main" id="{18565A48-0520-4CB7-8236-E4588587232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5" name="PlaceHolder 2">
            <a:extLst>
              <a:ext uri="{FF2B5EF4-FFF2-40B4-BE49-F238E27FC236}">
                <a16:creationId xmlns:a16="http://schemas.microsoft.com/office/drawing/2014/main" id="{5B17A7AF-5224-46E4-A0EF-B5EFE245B2E8}"/>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66" name="PlaceHolder 3">
            <a:extLst>
              <a:ext uri="{FF2B5EF4-FFF2-40B4-BE49-F238E27FC236}">
                <a16:creationId xmlns:a16="http://schemas.microsoft.com/office/drawing/2014/main" id="{C428037B-6C10-4297-93F2-65FA107488A5}"/>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67" name="PlaceHolder 4">
            <a:extLst>
              <a:ext uri="{FF2B5EF4-FFF2-40B4-BE49-F238E27FC236}">
                <a16:creationId xmlns:a16="http://schemas.microsoft.com/office/drawing/2014/main" id="{2207A104-A7D6-404A-BEB5-E173241E8BCB}"/>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168" name="PlaceHolder 1">
            <a:extLst>
              <a:ext uri="{FF2B5EF4-FFF2-40B4-BE49-F238E27FC236}">
                <a16:creationId xmlns:a16="http://schemas.microsoft.com/office/drawing/2014/main" id="{B1CB51F1-2B45-4BB2-A1FA-021EA23E0D5D}"/>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69" name="PlaceHolder 2">
            <a:extLst>
              <a:ext uri="{FF2B5EF4-FFF2-40B4-BE49-F238E27FC236}">
                <a16:creationId xmlns:a16="http://schemas.microsoft.com/office/drawing/2014/main" id="{CEA966DB-9615-4CA4-BE4A-A6915513BB56}"/>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0" name="PlaceHolder 3">
            <a:extLst>
              <a:ext uri="{FF2B5EF4-FFF2-40B4-BE49-F238E27FC236}">
                <a16:creationId xmlns:a16="http://schemas.microsoft.com/office/drawing/2014/main" id="{3B775B40-D4A0-4542-8919-3DF6AA1EE161}"/>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1" name="PlaceHolder 4">
            <a:extLst>
              <a:ext uri="{FF2B5EF4-FFF2-40B4-BE49-F238E27FC236}">
                <a16:creationId xmlns:a16="http://schemas.microsoft.com/office/drawing/2014/main" id="{72F4204A-3169-4B11-8BCE-BED396A3A8CB}"/>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172" name="PlaceHolder 1">
            <a:extLst>
              <a:ext uri="{FF2B5EF4-FFF2-40B4-BE49-F238E27FC236}">
                <a16:creationId xmlns:a16="http://schemas.microsoft.com/office/drawing/2014/main" id="{2B21A6C5-D02E-4A90-B643-D84E76691DF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73" name="PlaceHolder 2">
            <a:extLst>
              <a:ext uri="{FF2B5EF4-FFF2-40B4-BE49-F238E27FC236}">
                <a16:creationId xmlns:a16="http://schemas.microsoft.com/office/drawing/2014/main" id="{6F88EC52-F3F3-45ED-83BB-902E84177231}"/>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4" name="PlaceHolder 3">
            <a:extLst>
              <a:ext uri="{FF2B5EF4-FFF2-40B4-BE49-F238E27FC236}">
                <a16:creationId xmlns:a16="http://schemas.microsoft.com/office/drawing/2014/main" id="{CC26623D-CF4E-4CA3-80BE-9D41BFCA10E4}"/>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5" name="PlaceHolder 4">
            <a:extLst>
              <a:ext uri="{FF2B5EF4-FFF2-40B4-BE49-F238E27FC236}">
                <a16:creationId xmlns:a16="http://schemas.microsoft.com/office/drawing/2014/main" id="{9E81041E-84F4-4729-8DAB-3C3CE1D8F784}"/>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176" name="PlaceHolder 1">
            <a:extLst>
              <a:ext uri="{FF2B5EF4-FFF2-40B4-BE49-F238E27FC236}">
                <a16:creationId xmlns:a16="http://schemas.microsoft.com/office/drawing/2014/main" id="{157B0039-EDDB-4BF8-B806-C99EE7289645}"/>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77" name="PlaceHolder 2">
            <a:extLst>
              <a:ext uri="{FF2B5EF4-FFF2-40B4-BE49-F238E27FC236}">
                <a16:creationId xmlns:a16="http://schemas.microsoft.com/office/drawing/2014/main" id="{54F371C4-2B95-4DC3-8B45-D90C9376B246}"/>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78" name="PlaceHolder 3">
            <a:extLst>
              <a:ext uri="{FF2B5EF4-FFF2-40B4-BE49-F238E27FC236}">
                <a16:creationId xmlns:a16="http://schemas.microsoft.com/office/drawing/2014/main" id="{60531023-92EE-42F7-BD44-6CE2467BC616}"/>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179" name="PlaceHolder 1">
            <a:extLst>
              <a:ext uri="{FF2B5EF4-FFF2-40B4-BE49-F238E27FC236}">
                <a16:creationId xmlns:a16="http://schemas.microsoft.com/office/drawing/2014/main" id="{4C840580-38E6-447A-8E5F-F37FEBC0F67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80" name="PlaceHolder 2">
            <a:extLst>
              <a:ext uri="{FF2B5EF4-FFF2-40B4-BE49-F238E27FC236}">
                <a16:creationId xmlns:a16="http://schemas.microsoft.com/office/drawing/2014/main" id="{BBDF9BE8-C02A-45D6-8025-7EC133B8DAC9}"/>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1" name="PlaceHolder 3">
            <a:extLst>
              <a:ext uri="{FF2B5EF4-FFF2-40B4-BE49-F238E27FC236}">
                <a16:creationId xmlns:a16="http://schemas.microsoft.com/office/drawing/2014/main" id="{DDCBD312-1031-45F3-A9C9-A0E4C36D3A9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2" name="PlaceHolder 4">
            <a:extLst>
              <a:ext uri="{FF2B5EF4-FFF2-40B4-BE49-F238E27FC236}">
                <a16:creationId xmlns:a16="http://schemas.microsoft.com/office/drawing/2014/main" id="{F43C40AD-CC33-4302-B870-C491F9CB7A68}"/>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3" name="PlaceHolder 5">
            <a:extLst>
              <a:ext uri="{FF2B5EF4-FFF2-40B4-BE49-F238E27FC236}">
                <a16:creationId xmlns:a16="http://schemas.microsoft.com/office/drawing/2014/main" id="{52FB45AA-98D6-48FA-B056-B062D704DB45}"/>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4" name="PlaceHolder 1">
            <a:extLst>
              <a:ext uri="{FF2B5EF4-FFF2-40B4-BE49-F238E27FC236}">
                <a16:creationId xmlns:a16="http://schemas.microsoft.com/office/drawing/2014/main" id="{FC4F745D-ED6B-452A-AB1C-FA727B370FA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85" name="PlaceHolder 2">
            <a:extLst>
              <a:ext uri="{FF2B5EF4-FFF2-40B4-BE49-F238E27FC236}">
                <a16:creationId xmlns:a16="http://schemas.microsoft.com/office/drawing/2014/main" id="{5E7F0B82-401E-4CF1-BEEA-34F42CA5DC85}"/>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6" name="PlaceHolder 3">
            <a:extLst>
              <a:ext uri="{FF2B5EF4-FFF2-40B4-BE49-F238E27FC236}">
                <a16:creationId xmlns:a16="http://schemas.microsoft.com/office/drawing/2014/main" id="{F6B829DD-DFD6-4794-AE98-DE9358FACB0D}"/>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7" name="PlaceHolder 4">
            <a:extLst>
              <a:ext uri="{FF2B5EF4-FFF2-40B4-BE49-F238E27FC236}">
                <a16:creationId xmlns:a16="http://schemas.microsoft.com/office/drawing/2014/main" id="{1FF733BB-2AA2-43E5-B3CB-3FC96808328A}"/>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8" name="PlaceHolder 5">
            <a:extLst>
              <a:ext uri="{FF2B5EF4-FFF2-40B4-BE49-F238E27FC236}">
                <a16:creationId xmlns:a16="http://schemas.microsoft.com/office/drawing/2014/main" id="{D33667D2-4F6D-4FA2-AA53-9339A91109A2}"/>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89" name="PlaceHolder 6">
            <a:extLst>
              <a:ext uri="{FF2B5EF4-FFF2-40B4-BE49-F238E27FC236}">
                <a16:creationId xmlns:a16="http://schemas.microsoft.com/office/drawing/2014/main" id="{6FFDECCE-B2BC-48D6-B39A-F16701C4B138}"/>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90" name="PlaceHolder 7">
            <a:extLst>
              <a:ext uri="{FF2B5EF4-FFF2-40B4-BE49-F238E27FC236}">
                <a16:creationId xmlns:a16="http://schemas.microsoft.com/office/drawing/2014/main" id="{F919C1DB-20E4-4486-9726-34E3ED20E224}"/>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93" name="PlaceHolder 1">
            <a:extLst>
              <a:ext uri="{FF2B5EF4-FFF2-40B4-BE49-F238E27FC236}">
                <a16:creationId xmlns:a16="http://schemas.microsoft.com/office/drawing/2014/main" id="{8B240E33-D438-4F51-9F56-47314F86B21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94" name="PlaceHolder 2">
            <a:extLst>
              <a:ext uri="{FF2B5EF4-FFF2-40B4-BE49-F238E27FC236}">
                <a16:creationId xmlns:a16="http://schemas.microsoft.com/office/drawing/2014/main" id="{05AA68DE-F10E-467D-9219-8B39EED5468F}"/>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5" name="PlaceHolder 1">
            <a:extLst>
              <a:ext uri="{FF2B5EF4-FFF2-40B4-BE49-F238E27FC236}">
                <a16:creationId xmlns:a16="http://schemas.microsoft.com/office/drawing/2014/main" id="{3D324185-B736-4D59-B3B9-5EC20552800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96" name="PlaceHolder 2">
            <a:extLst>
              <a:ext uri="{FF2B5EF4-FFF2-40B4-BE49-F238E27FC236}">
                <a16:creationId xmlns:a16="http://schemas.microsoft.com/office/drawing/2014/main" id="{CB1E618A-B774-4825-A66C-C5E886CA8879}"/>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7" name="PlaceHolder 1">
            <a:extLst>
              <a:ext uri="{FF2B5EF4-FFF2-40B4-BE49-F238E27FC236}">
                <a16:creationId xmlns:a16="http://schemas.microsoft.com/office/drawing/2014/main" id="{CC2BE768-90EF-4609-884B-D795388AEAA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198" name="PlaceHolder 2">
            <a:extLst>
              <a:ext uri="{FF2B5EF4-FFF2-40B4-BE49-F238E27FC236}">
                <a16:creationId xmlns:a16="http://schemas.microsoft.com/office/drawing/2014/main" id="{FDD15309-C705-48E7-AE0D-4B16BFED07B8}"/>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199" name="PlaceHolder 3">
            <a:extLst>
              <a:ext uri="{FF2B5EF4-FFF2-40B4-BE49-F238E27FC236}">
                <a16:creationId xmlns:a16="http://schemas.microsoft.com/office/drawing/2014/main" id="{549BD06A-2938-47B9-ABE5-A66FBDCA41AB}"/>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0" name="PlaceHolder 1">
            <a:extLst>
              <a:ext uri="{FF2B5EF4-FFF2-40B4-BE49-F238E27FC236}">
                <a16:creationId xmlns:a16="http://schemas.microsoft.com/office/drawing/2014/main" id="{64F72384-8B6F-4818-826D-D899BD5C634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201" name="PlaceHolder 1">
            <a:extLst>
              <a:ext uri="{FF2B5EF4-FFF2-40B4-BE49-F238E27FC236}">
                <a16:creationId xmlns:a16="http://schemas.microsoft.com/office/drawing/2014/main" id="{4AE94F4B-1984-4E47-847F-4780FC2F66F8}"/>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202" name="PlaceHolder 1">
            <a:extLst>
              <a:ext uri="{FF2B5EF4-FFF2-40B4-BE49-F238E27FC236}">
                <a16:creationId xmlns:a16="http://schemas.microsoft.com/office/drawing/2014/main" id="{3D98C9AB-C351-4442-B8A6-605D62C3CF4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03" name="PlaceHolder 2">
            <a:extLst>
              <a:ext uri="{FF2B5EF4-FFF2-40B4-BE49-F238E27FC236}">
                <a16:creationId xmlns:a16="http://schemas.microsoft.com/office/drawing/2014/main" id="{69B18B26-0E0D-45F2-8C8E-3FC4E1433D69}"/>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4" name="PlaceHolder 3">
            <a:extLst>
              <a:ext uri="{FF2B5EF4-FFF2-40B4-BE49-F238E27FC236}">
                <a16:creationId xmlns:a16="http://schemas.microsoft.com/office/drawing/2014/main" id="{842FB0DB-E945-4B5A-A325-34A2466C8408}"/>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5" name="PlaceHolder 4">
            <a:extLst>
              <a:ext uri="{FF2B5EF4-FFF2-40B4-BE49-F238E27FC236}">
                <a16:creationId xmlns:a16="http://schemas.microsoft.com/office/drawing/2014/main" id="{44CDFE27-C2DD-43B1-B3B3-AFF5AB3E0DF3}"/>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206" name="PlaceHolder 1">
            <a:extLst>
              <a:ext uri="{FF2B5EF4-FFF2-40B4-BE49-F238E27FC236}">
                <a16:creationId xmlns:a16="http://schemas.microsoft.com/office/drawing/2014/main" id="{0C7BF402-6EA7-4539-B5E9-55A4DF7D9BD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07" name="PlaceHolder 2">
            <a:extLst>
              <a:ext uri="{FF2B5EF4-FFF2-40B4-BE49-F238E27FC236}">
                <a16:creationId xmlns:a16="http://schemas.microsoft.com/office/drawing/2014/main" id="{B2D8F460-616A-4115-9721-6D59218B218B}"/>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8" name="PlaceHolder 3">
            <a:extLst>
              <a:ext uri="{FF2B5EF4-FFF2-40B4-BE49-F238E27FC236}">
                <a16:creationId xmlns:a16="http://schemas.microsoft.com/office/drawing/2014/main" id="{99FFA2CE-F1CB-46C2-A048-BA6C502CAF5C}"/>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09" name="PlaceHolder 4">
            <a:extLst>
              <a:ext uri="{FF2B5EF4-FFF2-40B4-BE49-F238E27FC236}">
                <a16:creationId xmlns:a16="http://schemas.microsoft.com/office/drawing/2014/main" id="{AB4126A6-0A8C-4DD2-AB2F-65DF65501AC1}"/>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210" name="PlaceHolder 1">
            <a:extLst>
              <a:ext uri="{FF2B5EF4-FFF2-40B4-BE49-F238E27FC236}">
                <a16:creationId xmlns:a16="http://schemas.microsoft.com/office/drawing/2014/main" id="{8AB3C08C-14FF-4514-BE32-A56D407254C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11" name="PlaceHolder 2">
            <a:extLst>
              <a:ext uri="{FF2B5EF4-FFF2-40B4-BE49-F238E27FC236}">
                <a16:creationId xmlns:a16="http://schemas.microsoft.com/office/drawing/2014/main" id="{215BBEAD-BC7D-44AF-ADE6-2AAEED074CE2}"/>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2" name="PlaceHolder 3">
            <a:extLst>
              <a:ext uri="{FF2B5EF4-FFF2-40B4-BE49-F238E27FC236}">
                <a16:creationId xmlns:a16="http://schemas.microsoft.com/office/drawing/2014/main" id="{074BAE6B-44C9-40D9-939A-51B2FE7F9B12}"/>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3" name="PlaceHolder 4">
            <a:extLst>
              <a:ext uri="{FF2B5EF4-FFF2-40B4-BE49-F238E27FC236}">
                <a16:creationId xmlns:a16="http://schemas.microsoft.com/office/drawing/2014/main" id="{796B5544-5020-4558-AAF6-818E60445761}"/>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14" name="PlaceHolder 1">
            <a:extLst>
              <a:ext uri="{FF2B5EF4-FFF2-40B4-BE49-F238E27FC236}">
                <a16:creationId xmlns:a16="http://schemas.microsoft.com/office/drawing/2014/main" id="{800F7C61-E7E7-4E6B-8EC9-F41FB02E467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15" name="PlaceHolder 2">
            <a:extLst>
              <a:ext uri="{FF2B5EF4-FFF2-40B4-BE49-F238E27FC236}">
                <a16:creationId xmlns:a16="http://schemas.microsoft.com/office/drawing/2014/main" id="{795DFAB7-7F70-4B95-9DA9-E93364F199D8}"/>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6" name="PlaceHolder 3">
            <a:extLst>
              <a:ext uri="{FF2B5EF4-FFF2-40B4-BE49-F238E27FC236}">
                <a16:creationId xmlns:a16="http://schemas.microsoft.com/office/drawing/2014/main" id="{F0FC79F8-F9E1-4A98-B5A1-6A8F81C9BDF1}"/>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17" name="PlaceHolder 1">
            <a:extLst>
              <a:ext uri="{FF2B5EF4-FFF2-40B4-BE49-F238E27FC236}">
                <a16:creationId xmlns:a16="http://schemas.microsoft.com/office/drawing/2014/main" id="{A03B3062-E4DA-4E4E-A5CE-6166863C6CE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18" name="PlaceHolder 2">
            <a:extLst>
              <a:ext uri="{FF2B5EF4-FFF2-40B4-BE49-F238E27FC236}">
                <a16:creationId xmlns:a16="http://schemas.microsoft.com/office/drawing/2014/main" id="{CF3C676A-2E05-4B26-A956-CBF71F002256}"/>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19" name="PlaceHolder 3">
            <a:extLst>
              <a:ext uri="{FF2B5EF4-FFF2-40B4-BE49-F238E27FC236}">
                <a16:creationId xmlns:a16="http://schemas.microsoft.com/office/drawing/2014/main" id="{0CE55701-3DC9-4602-830C-76FB86C1524A}"/>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0" name="PlaceHolder 4">
            <a:extLst>
              <a:ext uri="{FF2B5EF4-FFF2-40B4-BE49-F238E27FC236}">
                <a16:creationId xmlns:a16="http://schemas.microsoft.com/office/drawing/2014/main" id="{CFC7780B-68E1-4A66-B2FB-E81898A516B6}"/>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1" name="PlaceHolder 5">
            <a:extLst>
              <a:ext uri="{FF2B5EF4-FFF2-40B4-BE49-F238E27FC236}">
                <a16:creationId xmlns:a16="http://schemas.microsoft.com/office/drawing/2014/main" id="{55B19E40-4682-46F6-BE46-6F59F6EBA293}"/>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22" name="PlaceHolder 1">
            <a:extLst>
              <a:ext uri="{FF2B5EF4-FFF2-40B4-BE49-F238E27FC236}">
                <a16:creationId xmlns:a16="http://schemas.microsoft.com/office/drawing/2014/main" id="{01E0C016-64F9-4C77-AEBC-B8BD806BAD0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23" name="PlaceHolder 2">
            <a:extLst>
              <a:ext uri="{FF2B5EF4-FFF2-40B4-BE49-F238E27FC236}">
                <a16:creationId xmlns:a16="http://schemas.microsoft.com/office/drawing/2014/main" id="{90BDCA87-E0F7-4BB6-8CB1-D60CFBB9DB38}"/>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4" name="PlaceHolder 3">
            <a:extLst>
              <a:ext uri="{FF2B5EF4-FFF2-40B4-BE49-F238E27FC236}">
                <a16:creationId xmlns:a16="http://schemas.microsoft.com/office/drawing/2014/main" id="{AEC93EA5-7A02-4608-9216-92CE6BC33D94}"/>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5" name="PlaceHolder 4">
            <a:extLst>
              <a:ext uri="{FF2B5EF4-FFF2-40B4-BE49-F238E27FC236}">
                <a16:creationId xmlns:a16="http://schemas.microsoft.com/office/drawing/2014/main" id="{745FDBCC-38C7-4A4C-887A-A9BDFDABE316}"/>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6" name="PlaceHolder 5">
            <a:extLst>
              <a:ext uri="{FF2B5EF4-FFF2-40B4-BE49-F238E27FC236}">
                <a16:creationId xmlns:a16="http://schemas.microsoft.com/office/drawing/2014/main" id="{8CE1076D-B65F-4EFB-B32D-641EB5A773D1}"/>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7" name="PlaceHolder 6">
            <a:extLst>
              <a:ext uri="{FF2B5EF4-FFF2-40B4-BE49-F238E27FC236}">
                <a16:creationId xmlns:a16="http://schemas.microsoft.com/office/drawing/2014/main" id="{E3991A36-A441-4378-893F-818912141235}"/>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28" name="PlaceHolder 7">
            <a:extLst>
              <a:ext uri="{FF2B5EF4-FFF2-40B4-BE49-F238E27FC236}">
                <a16:creationId xmlns:a16="http://schemas.microsoft.com/office/drawing/2014/main" id="{2CB79AD0-521B-4780-95E0-71B3CD2AB8FD}"/>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32" name="PlaceHolder 1">
            <a:extLst>
              <a:ext uri="{FF2B5EF4-FFF2-40B4-BE49-F238E27FC236}">
                <a16:creationId xmlns:a16="http://schemas.microsoft.com/office/drawing/2014/main" id="{B1A2F925-617C-485A-B8FD-97EB324F7DE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33" name="PlaceHolder 2">
            <a:extLst>
              <a:ext uri="{FF2B5EF4-FFF2-40B4-BE49-F238E27FC236}">
                <a16:creationId xmlns:a16="http://schemas.microsoft.com/office/drawing/2014/main" id="{D4E8553A-0C25-406E-8BDC-2E4C5043A132}"/>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4" name="PlaceHolder 1">
            <a:extLst>
              <a:ext uri="{FF2B5EF4-FFF2-40B4-BE49-F238E27FC236}">
                <a16:creationId xmlns:a16="http://schemas.microsoft.com/office/drawing/2014/main" id="{FBB44DF5-F345-40E6-B677-A73F411DA2C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35" name="PlaceHolder 2">
            <a:extLst>
              <a:ext uri="{FF2B5EF4-FFF2-40B4-BE49-F238E27FC236}">
                <a16:creationId xmlns:a16="http://schemas.microsoft.com/office/drawing/2014/main" id="{815B0133-EA6B-40AF-B924-329C4CDB13DF}"/>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6" name="PlaceHolder 1">
            <a:extLst>
              <a:ext uri="{FF2B5EF4-FFF2-40B4-BE49-F238E27FC236}">
                <a16:creationId xmlns:a16="http://schemas.microsoft.com/office/drawing/2014/main" id="{36FABD1D-4C74-4BDE-9C8E-86B8E7C078B8}"/>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37" name="PlaceHolder 2">
            <a:extLst>
              <a:ext uri="{FF2B5EF4-FFF2-40B4-BE49-F238E27FC236}">
                <a16:creationId xmlns:a16="http://schemas.microsoft.com/office/drawing/2014/main" id="{7C915D9D-F678-404E-86B2-A31773BC3872}"/>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38" name="PlaceHolder 3">
            <a:extLst>
              <a:ext uri="{FF2B5EF4-FFF2-40B4-BE49-F238E27FC236}">
                <a16:creationId xmlns:a16="http://schemas.microsoft.com/office/drawing/2014/main" id="{C8BF6C4C-21E4-4888-8BCA-0D79E7232D9E}"/>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9" name="PlaceHolder 1">
            <a:extLst>
              <a:ext uri="{FF2B5EF4-FFF2-40B4-BE49-F238E27FC236}">
                <a16:creationId xmlns:a16="http://schemas.microsoft.com/office/drawing/2014/main" id="{3E1FEC9A-9785-4B7B-A249-E1357F4C104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240" name="PlaceHolder 1">
            <a:extLst>
              <a:ext uri="{FF2B5EF4-FFF2-40B4-BE49-F238E27FC236}">
                <a16:creationId xmlns:a16="http://schemas.microsoft.com/office/drawing/2014/main" id="{1A78E9C6-F500-40AF-9FDF-0632666E3B2D}"/>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241" name="PlaceHolder 1">
            <a:extLst>
              <a:ext uri="{FF2B5EF4-FFF2-40B4-BE49-F238E27FC236}">
                <a16:creationId xmlns:a16="http://schemas.microsoft.com/office/drawing/2014/main" id="{BD3C0892-C236-433B-B315-3CF8DE8F89F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42" name="PlaceHolder 2">
            <a:extLst>
              <a:ext uri="{FF2B5EF4-FFF2-40B4-BE49-F238E27FC236}">
                <a16:creationId xmlns:a16="http://schemas.microsoft.com/office/drawing/2014/main" id="{8EAF4F94-5EA6-4975-B2BD-512D8862AA9C}"/>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3" name="PlaceHolder 3">
            <a:extLst>
              <a:ext uri="{FF2B5EF4-FFF2-40B4-BE49-F238E27FC236}">
                <a16:creationId xmlns:a16="http://schemas.microsoft.com/office/drawing/2014/main" id="{CD4A3ECB-AD8E-4493-B03A-ABD84618C22B}"/>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4" name="PlaceHolder 4">
            <a:extLst>
              <a:ext uri="{FF2B5EF4-FFF2-40B4-BE49-F238E27FC236}">
                <a16:creationId xmlns:a16="http://schemas.microsoft.com/office/drawing/2014/main" id="{574F7D80-AF28-4793-A83C-3CB3E2DA5120}"/>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245" name="PlaceHolder 1">
            <a:extLst>
              <a:ext uri="{FF2B5EF4-FFF2-40B4-BE49-F238E27FC236}">
                <a16:creationId xmlns:a16="http://schemas.microsoft.com/office/drawing/2014/main" id="{DE252033-DED2-4B16-B731-E0079BA7F6F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46" name="PlaceHolder 2">
            <a:extLst>
              <a:ext uri="{FF2B5EF4-FFF2-40B4-BE49-F238E27FC236}">
                <a16:creationId xmlns:a16="http://schemas.microsoft.com/office/drawing/2014/main" id="{EB2EA113-CCC3-4965-BEC1-202DE6E2CF5F}"/>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7" name="PlaceHolder 3">
            <a:extLst>
              <a:ext uri="{FF2B5EF4-FFF2-40B4-BE49-F238E27FC236}">
                <a16:creationId xmlns:a16="http://schemas.microsoft.com/office/drawing/2014/main" id="{E72C0544-66F5-4087-9545-F13206E46F2F}"/>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48" name="PlaceHolder 4">
            <a:extLst>
              <a:ext uri="{FF2B5EF4-FFF2-40B4-BE49-F238E27FC236}">
                <a16:creationId xmlns:a16="http://schemas.microsoft.com/office/drawing/2014/main" id="{AA2AA787-6688-436D-A1F6-ACB85844EF9B}"/>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249" name="PlaceHolder 1">
            <a:extLst>
              <a:ext uri="{FF2B5EF4-FFF2-40B4-BE49-F238E27FC236}">
                <a16:creationId xmlns:a16="http://schemas.microsoft.com/office/drawing/2014/main" id="{F5C65907-CBBD-49C2-BDEF-68C8B9C5793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50" name="PlaceHolder 2">
            <a:extLst>
              <a:ext uri="{FF2B5EF4-FFF2-40B4-BE49-F238E27FC236}">
                <a16:creationId xmlns:a16="http://schemas.microsoft.com/office/drawing/2014/main" id="{F7C44ED1-B763-4F04-8CC0-40989CCEAA87}"/>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1" name="PlaceHolder 3">
            <a:extLst>
              <a:ext uri="{FF2B5EF4-FFF2-40B4-BE49-F238E27FC236}">
                <a16:creationId xmlns:a16="http://schemas.microsoft.com/office/drawing/2014/main" id="{EBCB9EBE-67AE-432A-AA86-1A8DBD814807}"/>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2" name="PlaceHolder 4">
            <a:extLst>
              <a:ext uri="{FF2B5EF4-FFF2-40B4-BE49-F238E27FC236}">
                <a16:creationId xmlns:a16="http://schemas.microsoft.com/office/drawing/2014/main" id="{DB659149-26F4-4B60-81A6-98588CDA0984}"/>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53" name="PlaceHolder 1">
            <a:extLst>
              <a:ext uri="{FF2B5EF4-FFF2-40B4-BE49-F238E27FC236}">
                <a16:creationId xmlns:a16="http://schemas.microsoft.com/office/drawing/2014/main" id="{DCFD459D-3D19-427B-988D-E8FC9EC063E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54" name="PlaceHolder 2">
            <a:extLst>
              <a:ext uri="{FF2B5EF4-FFF2-40B4-BE49-F238E27FC236}">
                <a16:creationId xmlns:a16="http://schemas.microsoft.com/office/drawing/2014/main" id="{8C5B4BF2-3915-4695-9170-1A7B8EF6536D}"/>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5" name="PlaceHolder 3">
            <a:extLst>
              <a:ext uri="{FF2B5EF4-FFF2-40B4-BE49-F238E27FC236}">
                <a16:creationId xmlns:a16="http://schemas.microsoft.com/office/drawing/2014/main" id="{D08B899A-41F0-478A-B93F-23843ADBCD3F}"/>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56" name="PlaceHolder 1">
            <a:extLst>
              <a:ext uri="{FF2B5EF4-FFF2-40B4-BE49-F238E27FC236}">
                <a16:creationId xmlns:a16="http://schemas.microsoft.com/office/drawing/2014/main" id="{70F55802-B821-4D93-9BB9-1F84DAC47C62}"/>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57" name="PlaceHolder 2">
            <a:extLst>
              <a:ext uri="{FF2B5EF4-FFF2-40B4-BE49-F238E27FC236}">
                <a16:creationId xmlns:a16="http://schemas.microsoft.com/office/drawing/2014/main" id="{5ECEDB0C-ED5D-4E0D-8F3D-2BB5C325E9A8}"/>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8" name="PlaceHolder 3">
            <a:extLst>
              <a:ext uri="{FF2B5EF4-FFF2-40B4-BE49-F238E27FC236}">
                <a16:creationId xmlns:a16="http://schemas.microsoft.com/office/drawing/2014/main" id="{B0B2B577-1DED-4447-B500-04F74AB7653F}"/>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59" name="PlaceHolder 4">
            <a:extLst>
              <a:ext uri="{FF2B5EF4-FFF2-40B4-BE49-F238E27FC236}">
                <a16:creationId xmlns:a16="http://schemas.microsoft.com/office/drawing/2014/main" id="{389F5904-B8CD-45FF-BB46-270826E3209E}"/>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0" name="PlaceHolder 5">
            <a:extLst>
              <a:ext uri="{FF2B5EF4-FFF2-40B4-BE49-F238E27FC236}">
                <a16:creationId xmlns:a16="http://schemas.microsoft.com/office/drawing/2014/main" id="{F88E67E0-0E28-45CC-A4E8-E076282A6048}"/>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 name="PlaceHolder 1">
            <a:extLst>
              <a:ext uri="{FF2B5EF4-FFF2-40B4-BE49-F238E27FC236}">
                <a16:creationId xmlns:a16="http://schemas.microsoft.com/office/drawing/2014/main" id="{7105D7DB-F8DA-4A50-B2C5-966F9730FAFA}"/>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62" name="PlaceHolder 2">
            <a:extLst>
              <a:ext uri="{FF2B5EF4-FFF2-40B4-BE49-F238E27FC236}">
                <a16:creationId xmlns:a16="http://schemas.microsoft.com/office/drawing/2014/main" id="{981E5721-9FB4-4F97-9349-0395B6717D2D}"/>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3" name="PlaceHolder 3">
            <a:extLst>
              <a:ext uri="{FF2B5EF4-FFF2-40B4-BE49-F238E27FC236}">
                <a16:creationId xmlns:a16="http://schemas.microsoft.com/office/drawing/2014/main" id="{AD260D36-9C13-4F16-A6EB-89AAFB2D3CFF}"/>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4" name="PlaceHolder 4">
            <a:extLst>
              <a:ext uri="{FF2B5EF4-FFF2-40B4-BE49-F238E27FC236}">
                <a16:creationId xmlns:a16="http://schemas.microsoft.com/office/drawing/2014/main" id="{173BA01D-7D23-4B03-8B51-3FC8DACC8A2D}"/>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5" name="PlaceHolder 5">
            <a:extLst>
              <a:ext uri="{FF2B5EF4-FFF2-40B4-BE49-F238E27FC236}">
                <a16:creationId xmlns:a16="http://schemas.microsoft.com/office/drawing/2014/main" id="{3E09404B-22D2-42A1-8626-B94D5B87122D}"/>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6" name="PlaceHolder 6">
            <a:extLst>
              <a:ext uri="{FF2B5EF4-FFF2-40B4-BE49-F238E27FC236}">
                <a16:creationId xmlns:a16="http://schemas.microsoft.com/office/drawing/2014/main" id="{AB1AA377-67E9-4000-9EAF-7B5897A29940}"/>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67" name="PlaceHolder 7">
            <a:extLst>
              <a:ext uri="{FF2B5EF4-FFF2-40B4-BE49-F238E27FC236}">
                <a16:creationId xmlns:a16="http://schemas.microsoft.com/office/drawing/2014/main" id="{16CFEB67-E666-4FAF-8955-97848B0905DC}"/>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70" name="PlaceHolder 1">
            <a:extLst>
              <a:ext uri="{FF2B5EF4-FFF2-40B4-BE49-F238E27FC236}">
                <a16:creationId xmlns:a16="http://schemas.microsoft.com/office/drawing/2014/main" id="{872F8FE4-6BA4-4215-BA58-FDE4FEA4FDA7}"/>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1" name="PlaceHolder 2">
            <a:extLst>
              <a:ext uri="{FF2B5EF4-FFF2-40B4-BE49-F238E27FC236}">
                <a16:creationId xmlns:a16="http://schemas.microsoft.com/office/drawing/2014/main" id="{AA3B61F6-6FF3-4B84-9140-42783F289BAF}"/>
              </a:ext>
            </a:extLst>
          </p:cNvPr>
          <p:cNvSpPr>
            <a:spLocks noGrp="1"/>
          </p:cNvSpPr>
          <p:nvPr>
            <p:ph type="subTitle"/>
          </p:nvPr>
        </p:nvSpPr>
        <p:spPr>
          <a:xfrm>
            <a:off x="609480" y="1604520"/>
            <a:ext cx="10972440" cy="397728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a:extLst>
              <a:ext uri="{FF2B5EF4-FFF2-40B4-BE49-F238E27FC236}">
                <a16:creationId xmlns:a16="http://schemas.microsoft.com/office/drawing/2014/main" id="{57BF6896-B7B2-4CA4-B3CB-D988E992FE1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3" name="PlaceHolder 2">
            <a:extLst>
              <a:ext uri="{FF2B5EF4-FFF2-40B4-BE49-F238E27FC236}">
                <a16:creationId xmlns:a16="http://schemas.microsoft.com/office/drawing/2014/main" id="{58FC35EE-D97B-45BD-BA51-9A61DAD2F07D}"/>
              </a:ext>
            </a:extLst>
          </p:cNvPr>
          <p:cNvSpPr>
            <a:spLocks noGrp="1"/>
          </p:cNvSpPr>
          <p:nvPr>
            <p:ph type="body"/>
          </p:nvPr>
        </p:nvSpPr>
        <p:spPr>
          <a:xfrm>
            <a:off x="609480" y="1604520"/>
            <a:ext cx="1097244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a:extLst>
              <a:ext uri="{FF2B5EF4-FFF2-40B4-BE49-F238E27FC236}">
                <a16:creationId xmlns:a16="http://schemas.microsoft.com/office/drawing/2014/main" id="{DA638F13-01E2-48E1-B365-101EA74229EF}"/>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75" name="PlaceHolder 2">
            <a:extLst>
              <a:ext uri="{FF2B5EF4-FFF2-40B4-BE49-F238E27FC236}">
                <a16:creationId xmlns:a16="http://schemas.microsoft.com/office/drawing/2014/main" id="{8A3015CA-B8B6-4C13-9DEA-D12A8AA9F175}"/>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76" name="PlaceHolder 3">
            <a:extLst>
              <a:ext uri="{FF2B5EF4-FFF2-40B4-BE49-F238E27FC236}">
                <a16:creationId xmlns:a16="http://schemas.microsoft.com/office/drawing/2014/main" id="{A6525F05-4BD9-46BF-9302-AABD1F108FFC}"/>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a:extLst>
              <a:ext uri="{FF2B5EF4-FFF2-40B4-BE49-F238E27FC236}">
                <a16:creationId xmlns:a16="http://schemas.microsoft.com/office/drawing/2014/main" id="{B8BEF617-E12E-4B5E-980D-C40ED474952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a:xfrm>
          <a:off x="0" y="0"/>
          <a:ext cx="0" cy="0"/>
          <a:chOff x="0" y="0"/>
          <a:chExt cx="0" cy="0"/>
        </a:xfrm>
      </p:grpSpPr>
      <p:sp>
        <p:nvSpPr>
          <p:cNvPr id="278" name="PlaceHolder 1">
            <a:extLst>
              <a:ext uri="{FF2B5EF4-FFF2-40B4-BE49-F238E27FC236}">
                <a16:creationId xmlns:a16="http://schemas.microsoft.com/office/drawing/2014/main" id="{3E22D2F2-D36E-4093-AB70-B659CA43CE7B}"/>
              </a:ext>
            </a:extLst>
          </p:cNvPr>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endParaRPr sz="3200" b="0" strike="noStrike" spc="-1">
              <a:latin typeface="Arial"/>
              <a:ea typeface="Arial"/>
              <a:cs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a:xfrm>
          <a:off x="0" y="0"/>
          <a:ext cx="0" cy="0"/>
          <a:chOff x="0" y="0"/>
          <a:chExt cx="0" cy="0"/>
        </a:xfrm>
      </p:grpSpPr>
      <p:sp>
        <p:nvSpPr>
          <p:cNvPr id="279" name="PlaceHolder 1">
            <a:extLst>
              <a:ext uri="{FF2B5EF4-FFF2-40B4-BE49-F238E27FC236}">
                <a16:creationId xmlns:a16="http://schemas.microsoft.com/office/drawing/2014/main" id="{BC81C0D4-941C-4B5E-B636-6EC4DDE7531C}"/>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80" name="PlaceHolder 2">
            <a:extLst>
              <a:ext uri="{FF2B5EF4-FFF2-40B4-BE49-F238E27FC236}">
                <a16:creationId xmlns:a16="http://schemas.microsoft.com/office/drawing/2014/main" id="{62845A23-A213-4362-87B0-F0AD7055FA4D}"/>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1" name="PlaceHolder 3">
            <a:extLst>
              <a:ext uri="{FF2B5EF4-FFF2-40B4-BE49-F238E27FC236}">
                <a16:creationId xmlns:a16="http://schemas.microsoft.com/office/drawing/2014/main" id="{DDDAB137-C2FA-4832-89FB-5F3A77C0DC0A}"/>
              </a:ext>
            </a:extLst>
          </p:cNvPr>
          <p:cNvSpPr>
            <a:spLocks noGrp="1"/>
          </p:cNvSpPr>
          <p:nvPr>
            <p:ph type="body"/>
          </p:nvPr>
        </p:nvSpPr>
        <p:spPr>
          <a:xfrm>
            <a:off x="623196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2" name="PlaceHolder 4">
            <a:extLst>
              <a:ext uri="{FF2B5EF4-FFF2-40B4-BE49-F238E27FC236}">
                <a16:creationId xmlns:a16="http://schemas.microsoft.com/office/drawing/2014/main" id="{9935B0BF-86B3-4F3B-8663-59BA0193F355}"/>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a:xfrm>
          <a:off x="0" y="0"/>
          <a:ext cx="0" cy="0"/>
          <a:chOff x="0" y="0"/>
          <a:chExt cx="0" cy="0"/>
        </a:xfrm>
      </p:grpSpPr>
      <p:sp>
        <p:nvSpPr>
          <p:cNvPr id="283" name="PlaceHolder 1">
            <a:extLst>
              <a:ext uri="{FF2B5EF4-FFF2-40B4-BE49-F238E27FC236}">
                <a16:creationId xmlns:a16="http://schemas.microsoft.com/office/drawing/2014/main" id="{27E4DFB8-62FB-4C55-98D1-61F803B2C26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84" name="PlaceHolder 2">
            <a:extLst>
              <a:ext uri="{FF2B5EF4-FFF2-40B4-BE49-F238E27FC236}">
                <a16:creationId xmlns:a16="http://schemas.microsoft.com/office/drawing/2014/main" id="{720FB4FD-E94A-43DF-A2DD-DC309E8D4AFC}"/>
              </a:ext>
            </a:extLst>
          </p:cNvPr>
          <p:cNvSpPr>
            <a:spLocks noGrp="1"/>
          </p:cNvSpPr>
          <p:nvPr>
            <p:ph type="body"/>
          </p:nvPr>
        </p:nvSpPr>
        <p:spPr>
          <a:xfrm>
            <a:off x="609480" y="1604520"/>
            <a:ext cx="5354280" cy="397728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5" name="PlaceHolder 3">
            <a:extLst>
              <a:ext uri="{FF2B5EF4-FFF2-40B4-BE49-F238E27FC236}">
                <a16:creationId xmlns:a16="http://schemas.microsoft.com/office/drawing/2014/main" id="{EB9269E5-4C85-4A6C-9516-F0923D2E40A6}"/>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6" name="PlaceHolder 4">
            <a:extLst>
              <a:ext uri="{FF2B5EF4-FFF2-40B4-BE49-F238E27FC236}">
                <a16:creationId xmlns:a16="http://schemas.microsoft.com/office/drawing/2014/main" id="{8F7919D1-542F-45F0-812B-74C1FFDDB2D8}"/>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a:xfrm>
          <a:off x="0" y="0"/>
          <a:ext cx="0" cy="0"/>
          <a:chOff x="0" y="0"/>
          <a:chExt cx="0" cy="0"/>
        </a:xfrm>
      </p:grpSpPr>
      <p:sp>
        <p:nvSpPr>
          <p:cNvPr id="287" name="PlaceHolder 1">
            <a:extLst>
              <a:ext uri="{FF2B5EF4-FFF2-40B4-BE49-F238E27FC236}">
                <a16:creationId xmlns:a16="http://schemas.microsoft.com/office/drawing/2014/main" id="{A1EBB560-F923-48DB-B9F9-0308A8CA162E}"/>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88" name="PlaceHolder 2">
            <a:extLst>
              <a:ext uri="{FF2B5EF4-FFF2-40B4-BE49-F238E27FC236}">
                <a16:creationId xmlns:a16="http://schemas.microsoft.com/office/drawing/2014/main" id="{7009595E-0ED3-462C-8D4B-8AD7FFC7D1FB}"/>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89" name="PlaceHolder 3">
            <a:extLst>
              <a:ext uri="{FF2B5EF4-FFF2-40B4-BE49-F238E27FC236}">
                <a16:creationId xmlns:a16="http://schemas.microsoft.com/office/drawing/2014/main" id="{057C8F2F-D255-486A-9152-DA2A47FD9A2D}"/>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0" name="PlaceHolder 4">
            <a:extLst>
              <a:ext uri="{FF2B5EF4-FFF2-40B4-BE49-F238E27FC236}">
                <a16:creationId xmlns:a16="http://schemas.microsoft.com/office/drawing/2014/main" id="{172AF54F-D991-48ED-8149-D9207BBD21F6}"/>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a:xfrm>
          <a:off x="0" y="0"/>
          <a:ext cx="0" cy="0"/>
          <a:chOff x="0" y="0"/>
          <a:chExt cx="0" cy="0"/>
        </a:xfrm>
      </p:grpSpPr>
      <p:sp>
        <p:nvSpPr>
          <p:cNvPr id="291" name="PlaceHolder 1">
            <a:extLst>
              <a:ext uri="{FF2B5EF4-FFF2-40B4-BE49-F238E27FC236}">
                <a16:creationId xmlns:a16="http://schemas.microsoft.com/office/drawing/2014/main" id="{75DD044F-B7DB-4D24-86DF-092166591EC6}"/>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92" name="PlaceHolder 2">
            <a:extLst>
              <a:ext uri="{FF2B5EF4-FFF2-40B4-BE49-F238E27FC236}">
                <a16:creationId xmlns:a16="http://schemas.microsoft.com/office/drawing/2014/main" id="{FA64BC37-BA6B-4976-AB52-E6B5476370BB}"/>
              </a:ext>
            </a:extLst>
          </p:cNvPr>
          <p:cNvSpPr>
            <a:spLocks noGrp="1"/>
          </p:cNvSpPr>
          <p:nvPr>
            <p:ph type="body"/>
          </p:nvPr>
        </p:nvSpPr>
        <p:spPr>
          <a:xfrm>
            <a:off x="609480" y="160452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3" name="PlaceHolder 3">
            <a:extLst>
              <a:ext uri="{FF2B5EF4-FFF2-40B4-BE49-F238E27FC236}">
                <a16:creationId xmlns:a16="http://schemas.microsoft.com/office/drawing/2014/main" id="{A47F8A3C-ABC2-46A3-8041-50789AACEA41}"/>
              </a:ext>
            </a:extLst>
          </p:cNvPr>
          <p:cNvSpPr>
            <a:spLocks noGrp="1"/>
          </p:cNvSpPr>
          <p:nvPr>
            <p:ph type="body"/>
          </p:nvPr>
        </p:nvSpPr>
        <p:spPr>
          <a:xfrm>
            <a:off x="609480" y="3682080"/>
            <a:ext cx="109724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a:xfrm>
          <a:off x="0" y="0"/>
          <a:ext cx="0" cy="0"/>
          <a:chOff x="0" y="0"/>
          <a:chExt cx="0" cy="0"/>
        </a:xfrm>
      </p:grpSpPr>
      <p:sp>
        <p:nvSpPr>
          <p:cNvPr id="294" name="PlaceHolder 1">
            <a:extLst>
              <a:ext uri="{FF2B5EF4-FFF2-40B4-BE49-F238E27FC236}">
                <a16:creationId xmlns:a16="http://schemas.microsoft.com/office/drawing/2014/main" id="{DAFDE688-815B-4719-A285-74888D35E289}"/>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295" name="PlaceHolder 2">
            <a:extLst>
              <a:ext uri="{FF2B5EF4-FFF2-40B4-BE49-F238E27FC236}">
                <a16:creationId xmlns:a16="http://schemas.microsoft.com/office/drawing/2014/main" id="{E743A035-7585-41AA-A26E-EB110C29E2CA}"/>
              </a:ext>
            </a:extLst>
          </p:cNvPr>
          <p:cNvSpPr>
            <a:spLocks noGrp="1"/>
          </p:cNvSpPr>
          <p:nvPr>
            <p:ph type="body"/>
          </p:nvPr>
        </p:nvSpPr>
        <p:spPr>
          <a:xfrm>
            <a:off x="60948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6" name="PlaceHolder 3">
            <a:extLst>
              <a:ext uri="{FF2B5EF4-FFF2-40B4-BE49-F238E27FC236}">
                <a16:creationId xmlns:a16="http://schemas.microsoft.com/office/drawing/2014/main" id="{AC04AD1D-C450-46E3-87C4-205B7F5B3FBF}"/>
              </a:ext>
            </a:extLst>
          </p:cNvPr>
          <p:cNvSpPr>
            <a:spLocks noGrp="1"/>
          </p:cNvSpPr>
          <p:nvPr>
            <p:ph type="body"/>
          </p:nvPr>
        </p:nvSpPr>
        <p:spPr>
          <a:xfrm>
            <a:off x="6231960" y="160452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7" name="PlaceHolder 4">
            <a:extLst>
              <a:ext uri="{FF2B5EF4-FFF2-40B4-BE49-F238E27FC236}">
                <a16:creationId xmlns:a16="http://schemas.microsoft.com/office/drawing/2014/main" id="{FE604D92-694A-4292-A01E-33C478ED624E}"/>
              </a:ext>
            </a:extLst>
          </p:cNvPr>
          <p:cNvSpPr>
            <a:spLocks noGrp="1"/>
          </p:cNvSpPr>
          <p:nvPr>
            <p:ph type="body"/>
          </p:nvPr>
        </p:nvSpPr>
        <p:spPr>
          <a:xfrm>
            <a:off x="60948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298" name="PlaceHolder 5">
            <a:extLst>
              <a:ext uri="{FF2B5EF4-FFF2-40B4-BE49-F238E27FC236}">
                <a16:creationId xmlns:a16="http://schemas.microsoft.com/office/drawing/2014/main" id="{BBEDA656-2368-4B98-BDB7-528A0614E782}"/>
              </a:ext>
            </a:extLst>
          </p:cNvPr>
          <p:cNvSpPr>
            <a:spLocks noGrp="1"/>
          </p:cNvSpPr>
          <p:nvPr>
            <p:ph type="body"/>
          </p:nvPr>
        </p:nvSpPr>
        <p:spPr>
          <a:xfrm>
            <a:off x="6231960" y="3682080"/>
            <a:ext cx="535428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a:extLst>
              <a:ext uri="{FF2B5EF4-FFF2-40B4-BE49-F238E27FC236}">
                <a16:creationId xmlns:a16="http://schemas.microsoft.com/office/drawing/2014/main" id="{F5797D40-2AD7-4EBD-8ADB-664195EDA04B}"/>
              </a:ext>
            </a:extLst>
          </p:cNvPr>
          <p:cNvSpPr>
            <a:spLocks noGrp="1"/>
          </p:cNvSpPr>
          <p:nvPr>
            <p:ph type="title"/>
          </p:nvPr>
        </p:nvSpPr>
        <p:spPr>
          <a:xfrm>
            <a:off x="609480" y="273600"/>
            <a:ext cx="10972440" cy="1144800"/>
          </a:xfrm>
          <a:prstGeom prst="rect">
            <a:avLst/>
          </a:prstGeom>
        </p:spPr>
        <p:txBody>
          <a:bodyPr lIns="0" tIns="0" rIns="0" bIns="0" anchor="ctr">
            <a:noAutofit/>
          </a:bodyPr>
          <a:lstStyle/>
          <a:p>
            <a:endParaRPr sz="1800" b="0" strike="noStrike" spc="-1">
              <a:solidFill>
                <a:srgbClr val="000000"/>
              </a:solidFill>
              <a:latin typeface="Calibri"/>
              <a:ea typeface="Calibri"/>
              <a:cs typeface="Calibri"/>
            </a:endParaRPr>
          </a:p>
        </p:txBody>
      </p:sp>
      <p:sp>
        <p:nvSpPr>
          <p:cNvPr id="300" name="PlaceHolder 2">
            <a:extLst>
              <a:ext uri="{FF2B5EF4-FFF2-40B4-BE49-F238E27FC236}">
                <a16:creationId xmlns:a16="http://schemas.microsoft.com/office/drawing/2014/main" id="{28DEC02E-1229-4E1F-962A-B514F2721C0D}"/>
              </a:ext>
            </a:extLst>
          </p:cNvPr>
          <p:cNvSpPr>
            <a:spLocks noGrp="1"/>
          </p:cNvSpPr>
          <p:nvPr>
            <p:ph type="body"/>
          </p:nvPr>
        </p:nvSpPr>
        <p:spPr>
          <a:xfrm>
            <a:off x="60948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1" name="PlaceHolder 3">
            <a:extLst>
              <a:ext uri="{FF2B5EF4-FFF2-40B4-BE49-F238E27FC236}">
                <a16:creationId xmlns:a16="http://schemas.microsoft.com/office/drawing/2014/main" id="{8697D6E2-91B8-4BDF-A46B-CA53559F7462}"/>
              </a:ext>
            </a:extLst>
          </p:cNvPr>
          <p:cNvSpPr>
            <a:spLocks noGrp="1"/>
          </p:cNvSpPr>
          <p:nvPr>
            <p:ph type="body"/>
          </p:nvPr>
        </p:nvSpPr>
        <p:spPr>
          <a:xfrm>
            <a:off x="431964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2" name="PlaceHolder 4">
            <a:extLst>
              <a:ext uri="{FF2B5EF4-FFF2-40B4-BE49-F238E27FC236}">
                <a16:creationId xmlns:a16="http://schemas.microsoft.com/office/drawing/2014/main" id="{08993661-F65F-46C4-BFD0-6BFDA3A09F6E}"/>
              </a:ext>
            </a:extLst>
          </p:cNvPr>
          <p:cNvSpPr>
            <a:spLocks noGrp="1"/>
          </p:cNvSpPr>
          <p:nvPr>
            <p:ph type="body"/>
          </p:nvPr>
        </p:nvSpPr>
        <p:spPr>
          <a:xfrm>
            <a:off x="8029800" y="160452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3" name="PlaceHolder 5">
            <a:extLst>
              <a:ext uri="{FF2B5EF4-FFF2-40B4-BE49-F238E27FC236}">
                <a16:creationId xmlns:a16="http://schemas.microsoft.com/office/drawing/2014/main" id="{E0E9007E-706E-462D-BC58-EEFF1CADC549}"/>
              </a:ext>
            </a:extLst>
          </p:cNvPr>
          <p:cNvSpPr>
            <a:spLocks noGrp="1"/>
          </p:cNvSpPr>
          <p:nvPr>
            <p:ph type="body"/>
          </p:nvPr>
        </p:nvSpPr>
        <p:spPr>
          <a:xfrm>
            <a:off x="60948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4" name="PlaceHolder 6">
            <a:extLst>
              <a:ext uri="{FF2B5EF4-FFF2-40B4-BE49-F238E27FC236}">
                <a16:creationId xmlns:a16="http://schemas.microsoft.com/office/drawing/2014/main" id="{9977D28C-F65F-4556-A3D0-A9409AD14A85}"/>
              </a:ext>
            </a:extLst>
          </p:cNvPr>
          <p:cNvSpPr>
            <a:spLocks noGrp="1"/>
          </p:cNvSpPr>
          <p:nvPr>
            <p:ph type="body"/>
          </p:nvPr>
        </p:nvSpPr>
        <p:spPr>
          <a:xfrm>
            <a:off x="431964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
        <p:nvSpPr>
          <p:cNvPr id="305" name="PlaceHolder 7">
            <a:extLst>
              <a:ext uri="{FF2B5EF4-FFF2-40B4-BE49-F238E27FC236}">
                <a16:creationId xmlns:a16="http://schemas.microsoft.com/office/drawing/2014/main" id="{F6BDB51C-2743-4BAA-9148-289FD62ED339}"/>
              </a:ext>
            </a:extLst>
          </p:cNvPr>
          <p:cNvSpPr>
            <a:spLocks noGrp="1"/>
          </p:cNvSpPr>
          <p:nvPr>
            <p:ph type="body"/>
          </p:nvPr>
        </p:nvSpPr>
        <p:spPr>
          <a:xfrm>
            <a:off x="8029800" y="3682080"/>
            <a:ext cx="3533040" cy="1896840"/>
          </a:xfrm>
          <a:prstGeom prst="rect">
            <a:avLst/>
          </a:prstGeom>
        </p:spPr>
        <p:txBody>
          <a:bodyPr lIns="0" tIns="0" rIns="0" bIns="0">
            <a:normAutofit/>
          </a:bodyPr>
          <a:lstStyle/>
          <a:p>
            <a:endParaRPr sz="2800" b="0" strike="noStrike" spc="-1">
              <a:solidFill>
                <a:srgbClr val="000000"/>
              </a:solidFill>
              <a:latin typeface="Calibri"/>
              <a:ea typeface="Calibri"/>
              <a:cs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theme" Target="../theme/theme5.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slideLayout" Target="../slideLayouts/slideLayout70.xml"/><Relationship Id="rId11" Type="http://schemas.openxmlformats.org/officeDocument/2006/relationships/slideLayout" Target="../slideLayouts/slideLayout71.xml"/><Relationship Id="rId12" Type="http://schemas.openxmlformats.org/officeDocument/2006/relationships/slideLayout" Target="../slideLayouts/slideLayout72.xml"/><Relationship Id="rId13" Type="http://schemas.openxmlformats.org/officeDocument/2006/relationships/theme" Target="../theme/theme6.xml"/><Relationship Id="rId14"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 Id="rId9" Type="http://schemas.openxmlformats.org/officeDocument/2006/relationships/slideLayout" Target="../slideLayouts/slideLayout81.xml"/><Relationship Id="rId10" Type="http://schemas.openxmlformats.org/officeDocument/2006/relationships/slideLayout" Target="../slideLayouts/slideLayout82.xml"/><Relationship Id="rId11" Type="http://schemas.openxmlformats.org/officeDocument/2006/relationships/slideLayout" Target="../slideLayouts/slideLayout83.xml"/><Relationship Id="rId12" Type="http://schemas.openxmlformats.org/officeDocument/2006/relationships/slideLayout" Target="../slideLayouts/slideLayout84.xml"/><Relationship Id="rId13" Type="http://schemas.openxmlformats.org/officeDocument/2006/relationships/theme" Target="../theme/theme7.xml"/><Relationship Id="rId1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9" Type="http://schemas.openxmlformats.org/officeDocument/2006/relationships/slideLayout" Target="../slideLayouts/slideLayout93.xml"/><Relationship Id="rId10" Type="http://schemas.openxmlformats.org/officeDocument/2006/relationships/slideLayout" Target="../slideLayouts/slideLayout94.xml"/><Relationship Id="rId11" Type="http://schemas.openxmlformats.org/officeDocument/2006/relationships/slideLayout" Target="../slideLayouts/slideLayout95.xml"/><Relationship Id="rId12" Type="http://schemas.openxmlformats.org/officeDocument/2006/relationships/slideLayout" Target="../slideLayouts/slideLayout96.xml"/><Relationship Id="rId13" Type="http://schemas.openxmlformats.org/officeDocument/2006/relationships/theme" Target="../theme/theme8.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1D90E9D0-B5A8-463A-9DB0-5428B36055E0}"/>
              </a:ext>
            </a:extLst>
          </p:cNvPr>
          <p:cNvSpPr>
            <a:spLocks noGrp="1"/>
          </p:cNvSpPr>
          <p:nvPr>
            <p:ph type="title"/>
          </p:nvPr>
        </p:nvSpPr>
        <p:spPr>
          <a:xfrm>
            <a:off x="609480" y="273600"/>
            <a:ext cx="10972440" cy="1144800"/>
          </a:xfrm>
          <a:prstGeom prst="rect">
            <a:avLst/>
          </a:prstGeom>
        </p:spPr>
        <p:txBody>
          <a:bodyPr lIns="0" tIns="0" rIns="0" bIns="0" anchor="ctr">
            <a:noAutofit/>
          </a:bodyPr>
          <a:lstStyle/>
          <a:p>
            <a:r>
              <a:rPr sz="1800" b="0" strike="noStrike" spc="-1">
                <a:solidFill>
                  <a:srgbClr val="000000"/>
                </a:solidFill>
                <a:latin typeface="Calibri"/>
                <a:ea typeface="Calibri"/>
                <a:cs typeface="Calibri"/>
              </a:rPr>
              <a:t>Click to edit the title text format</a:t>
            </a:r>
          </a:p>
        </p:txBody>
      </p:sp>
      <p:sp>
        <p:nvSpPr>
          <p:cNvPr id="3" name="PlaceHolder 2">
            <a:extLst>
              <a:ext uri="{FF2B5EF4-FFF2-40B4-BE49-F238E27FC236}">
                <a16:creationId xmlns:a16="http://schemas.microsoft.com/office/drawing/2014/main" id="{BB73EBD6-BBA5-4D2A-A4AE-48E8C2C768AC}"/>
              </a:ext>
            </a:extLst>
          </p:cNvPr>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a:buChar char=""/>
            </a:pPr>
            <a:r>
              <a:rPr sz="2800" b="0" strike="noStrike" spc="-1">
                <a:solidFill>
                  <a:srgbClr val="000000"/>
                </a:solidFill>
                <a:latin typeface="Calibri"/>
                <a:ea typeface="Calibri"/>
                <a:cs typeface="Calibri"/>
              </a:rPr>
              <a:t>Click to edit the outline text format</a:t>
            </a:r>
          </a:p>
          <a:p>
            <a:pPr marL="864000" lvl="1" indent="-324000">
              <a:spcBef>
                <a:spcPts val="1134"/>
              </a:spcBef>
              <a:buClr>
                <a:srgbClr val="FFFFFF"/>
              </a:buClr>
              <a:buSzPct val="75000"/>
              <a:buFont typeface="Symbol"/>
              <a:buChar char=""/>
            </a:pPr>
            <a:r>
              <a:rPr sz="2000" b="0" strike="noStrike" spc="-1">
                <a:solidFill>
                  <a:srgbClr val="000000"/>
                </a:solidFill>
                <a:latin typeface="Calibri"/>
                <a:ea typeface="Calibri"/>
                <a:cs typeface="Calibri"/>
              </a:rPr>
              <a:t>Second Outline Level</a:t>
            </a:r>
          </a:p>
          <a:p>
            <a:pPr marL="1296000" lvl="2" indent="-288000">
              <a:spcBef>
                <a:spcPts val="850"/>
              </a:spcBef>
              <a:buClr>
                <a:srgbClr val="FFFFFF"/>
              </a:buClr>
              <a:buSzPct val="45000"/>
              <a:buFont typeface="Wingdings"/>
              <a:buChar char=""/>
            </a:pPr>
            <a:r>
              <a:rPr sz="1800" b="0" strike="noStrike" spc="-1">
                <a:solidFill>
                  <a:srgbClr val="000000"/>
                </a:solidFill>
                <a:latin typeface="Calibri"/>
                <a:ea typeface="Calibri"/>
                <a:cs typeface="Calibri"/>
              </a:rPr>
              <a:t>Third Outline Level</a:t>
            </a:r>
          </a:p>
          <a:p>
            <a:pPr marL="1728000" lvl="3" indent="-216000">
              <a:spcBef>
                <a:spcPts val="567"/>
              </a:spcBef>
              <a:buClr>
                <a:srgbClr val="FFFFFF"/>
              </a:buClr>
              <a:buSzPct val="75000"/>
              <a:buFont typeface="Symbol"/>
              <a:buChar char=""/>
            </a:pPr>
            <a:r>
              <a:rPr sz="1800" b="0" strike="noStrike" spc="-1">
                <a:solidFill>
                  <a:srgbClr val="000000"/>
                </a:solidFill>
                <a:latin typeface="Calibri"/>
                <a:ea typeface="Calibri"/>
                <a:cs typeface="Calibri"/>
              </a:rPr>
              <a:t>Fourth Outline Level</a:t>
            </a:r>
          </a:p>
          <a:p>
            <a:pPr marL="2160000" lvl="4" indent="-216000">
              <a:spcBef>
                <a:spcPts val="283"/>
              </a:spcBef>
              <a:buClr>
                <a:srgbClr val="FFFFFF"/>
              </a:buClr>
              <a:buSzPct val="45000"/>
              <a:buFont typeface="Wingdings"/>
              <a:buChar char=""/>
            </a:pPr>
            <a:r>
              <a:rPr sz="2000" b="0" strike="noStrike" spc="-1">
                <a:solidFill>
                  <a:srgbClr val="000000"/>
                </a:solidFill>
                <a:latin typeface="Calibri"/>
                <a:ea typeface="Calibri"/>
                <a:cs typeface="Calibri"/>
              </a:rPr>
              <a:t>Fifth Outline Level</a:t>
            </a:r>
          </a:p>
          <a:p>
            <a:pPr marL="2592000" lvl="5" indent="-216000">
              <a:spcBef>
                <a:spcPts val="283"/>
              </a:spcBef>
              <a:buClr>
                <a:srgbClr val="FFFFFF"/>
              </a:buClr>
              <a:buSzPct val="45000"/>
              <a:buFont typeface="Wingdings"/>
              <a:buChar char=""/>
            </a:pPr>
            <a:r>
              <a:rPr sz="2000" b="0" strike="noStrike" spc="-1">
                <a:solidFill>
                  <a:srgbClr val="000000"/>
                </a:solidFill>
                <a:latin typeface="Calibri"/>
                <a:ea typeface="Calibri"/>
                <a:cs typeface="Calibri"/>
              </a:rPr>
              <a:t>Sixth Outline Level</a:t>
            </a:r>
          </a:p>
          <a:p>
            <a:pPr marL="3024000" lvl="6" indent="-216000">
              <a:spcBef>
                <a:spcPts val="283"/>
              </a:spcBef>
              <a:buClr>
                <a:srgbClr val="FFFFFF"/>
              </a:buClr>
              <a:buSzPct val="45000"/>
              <a:buFont typeface="Wingdings"/>
              <a:buChar char=""/>
            </a:pPr>
            <a:r>
              <a:rPr sz="2000" b="0" strike="noStrike" spc="-1">
                <a:solidFill>
                  <a:srgbClr val="000000"/>
                </a:solidFill>
                <a:latin typeface="Calibri"/>
                <a:ea typeface="Calibri"/>
                <a:cs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a:extLst>
              <a:ext uri="{FF2B5EF4-FFF2-40B4-BE49-F238E27FC236}">
                <a16:creationId xmlns:a16="http://schemas.microsoft.com/office/drawing/2014/main" id="{F10A4C01-7EC0-4A9B-AB9B-9C5257F005C3}"/>
              </a:ext>
            </a:extLst>
          </p:cNvPr>
          <p:cNvSpPr>
            <a:spLocks noGrp="1"/>
          </p:cNvSpPr>
          <p:nvPr>
            <p:ph type="title"/>
          </p:nvPr>
        </p:nvSpPr>
        <p:spPr>
          <a:xfrm>
            <a:off x="609480" y="273600"/>
            <a:ext cx="10972440" cy="1144800"/>
          </a:xfrm>
          <a:prstGeom prst="rect">
            <a:avLst/>
          </a:prstGeom>
        </p:spPr>
        <p:txBody>
          <a:bodyPr lIns="0" tIns="0" rIns="0" bIns="0" anchor="ctr">
            <a:noAutofit/>
          </a:bodyPr>
          <a:lstStyle/>
          <a:p>
            <a:r>
              <a:rPr sz="1800" b="0" strike="noStrike" spc="-1">
                <a:solidFill>
                  <a:srgbClr val="000000"/>
                </a:solidFill>
                <a:latin typeface="Calibri"/>
                <a:ea typeface="Calibri"/>
                <a:cs typeface="Calibri"/>
              </a:rPr>
              <a:t>Click to edit the title text format</a:t>
            </a:r>
          </a:p>
        </p:txBody>
      </p:sp>
      <p:sp>
        <p:nvSpPr>
          <p:cNvPr id="39" name="PlaceHolder 2">
            <a:extLst>
              <a:ext uri="{FF2B5EF4-FFF2-40B4-BE49-F238E27FC236}">
                <a16:creationId xmlns:a16="http://schemas.microsoft.com/office/drawing/2014/main" id="{68F8188F-4548-4E24-88C0-A1E27EC28FF4}"/>
              </a:ext>
            </a:extLst>
          </p:cNvPr>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a:buChar char=""/>
            </a:pPr>
            <a:r>
              <a:rPr sz="2800" b="0" strike="noStrike" spc="-1">
                <a:solidFill>
                  <a:srgbClr val="000000"/>
                </a:solidFill>
                <a:latin typeface="Calibri"/>
                <a:ea typeface="Calibri"/>
                <a:cs typeface="Calibri"/>
              </a:rPr>
              <a:t>Click to edit the outline text format</a:t>
            </a:r>
          </a:p>
          <a:p>
            <a:pPr marL="864000" lvl="1" indent="-324000">
              <a:spcBef>
                <a:spcPts val="1134"/>
              </a:spcBef>
              <a:buClr>
                <a:srgbClr val="000000"/>
              </a:buClr>
              <a:buSzPct val="75000"/>
              <a:buFont typeface="Symbol"/>
              <a:buChar char=""/>
            </a:pPr>
            <a:r>
              <a:rPr sz="2000" b="0" strike="noStrike" spc="-1">
                <a:solidFill>
                  <a:srgbClr val="000000"/>
                </a:solidFill>
                <a:latin typeface="Calibri"/>
                <a:ea typeface="Calibri"/>
                <a:cs typeface="Calibri"/>
              </a:rPr>
              <a:t>Second Outline Level</a:t>
            </a:r>
          </a:p>
          <a:p>
            <a:pPr marL="1296000" lvl="2" indent="-288000">
              <a:spcBef>
                <a:spcPts val="850"/>
              </a:spcBef>
              <a:buClr>
                <a:srgbClr val="000000"/>
              </a:buClr>
              <a:buSzPct val="45000"/>
              <a:buFont typeface="Wingdings"/>
              <a:buChar char=""/>
            </a:pPr>
            <a:r>
              <a:rPr sz="1800" b="0" strike="noStrike" spc="-1">
                <a:solidFill>
                  <a:srgbClr val="000000"/>
                </a:solidFill>
                <a:latin typeface="Calibri"/>
                <a:ea typeface="Calibri"/>
                <a:cs typeface="Calibri"/>
              </a:rPr>
              <a:t>Third Outline Level</a:t>
            </a:r>
          </a:p>
          <a:p>
            <a:pPr marL="1728000" lvl="3" indent="-216000">
              <a:spcBef>
                <a:spcPts val="567"/>
              </a:spcBef>
              <a:buClr>
                <a:srgbClr val="000000"/>
              </a:buClr>
              <a:buSzPct val="75000"/>
              <a:buFont typeface="Symbol"/>
              <a:buChar char=""/>
            </a:pPr>
            <a:r>
              <a:rPr sz="1800" b="0" strike="noStrike" spc="-1">
                <a:solidFill>
                  <a:srgbClr val="000000"/>
                </a:solidFill>
                <a:latin typeface="Calibri"/>
                <a:ea typeface="Calibri"/>
                <a:cs typeface="Calibri"/>
              </a:rPr>
              <a:t>Fourth Outline Level</a:t>
            </a:r>
          </a:p>
          <a:p>
            <a:pPr marL="2160000" lvl="4"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Fifth Outline Level</a:t>
            </a:r>
          </a:p>
          <a:p>
            <a:pPr marL="2592000" lvl="5"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Sixth Outline Level</a:t>
            </a:r>
          </a:p>
          <a:p>
            <a:pPr marL="3024000" lvl="6"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a:extLst>
              <a:ext uri="{FF2B5EF4-FFF2-40B4-BE49-F238E27FC236}">
                <a16:creationId xmlns:a16="http://schemas.microsoft.com/office/drawing/2014/main" id="{EB34FB83-8B20-4907-B4B0-3566341D6598}"/>
              </a:ext>
            </a:extLst>
          </p:cNvPr>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sz="2800" b="0" strike="noStrike" spc="-1">
                <a:solidFill>
                  <a:srgbClr val="000000"/>
                </a:solidFill>
                <a:latin typeface="Lato"/>
                <a:ea typeface="Lato"/>
                <a:cs typeface="Lato"/>
              </a:rPr>
              <a:t>Click to edit Master text styles</a:t>
            </a:r>
            <a:endParaRPr sz="2800" b="0" strike="noStrike" spc="-1">
              <a:solidFill>
                <a:srgbClr val="000000"/>
              </a:solidFill>
              <a:latin typeface="Calibri"/>
              <a:ea typeface="Calibri"/>
              <a:cs typeface="Calibri"/>
            </a:endParaRPr>
          </a:p>
          <a:p>
            <a:pPr marL="685800" lvl="1" indent="-228240">
              <a:lnSpc>
                <a:spcPct val="90000"/>
              </a:lnSpc>
              <a:spcBef>
                <a:spcPts val="499"/>
              </a:spcBef>
              <a:buClr>
                <a:srgbClr val="000000"/>
              </a:buClr>
              <a:buFont typeface="Arial"/>
              <a:buChar char="•"/>
            </a:pPr>
            <a:r>
              <a:rPr sz="2400" b="0" strike="noStrike" spc="-1">
                <a:solidFill>
                  <a:srgbClr val="000000"/>
                </a:solidFill>
                <a:latin typeface="Lato"/>
                <a:ea typeface="Lato"/>
                <a:cs typeface="Lato"/>
              </a:rPr>
              <a:t>Second level</a:t>
            </a:r>
            <a:endParaRPr sz="2400" b="0" strike="noStrike" spc="-1">
              <a:solidFill>
                <a:srgbClr val="000000"/>
              </a:solidFill>
              <a:latin typeface="Calibri"/>
              <a:ea typeface="Calibri"/>
              <a:cs typeface="Calibri"/>
            </a:endParaRPr>
          </a:p>
          <a:p>
            <a:pPr marL="1143000" lvl="2" indent="-228240">
              <a:lnSpc>
                <a:spcPct val="90000"/>
              </a:lnSpc>
              <a:spcBef>
                <a:spcPts val="499"/>
              </a:spcBef>
              <a:buClr>
                <a:srgbClr val="000000"/>
              </a:buClr>
              <a:buFont typeface="Arial"/>
              <a:buChar char="•"/>
            </a:pPr>
            <a:r>
              <a:rPr sz="2000" b="0" strike="noStrike" spc="-1">
                <a:solidFill>
                  <a:srgbClr val="000000"/>
                </a:solidFill>
                <a:latin typeface="Lato"/>
                <a:ea typeface="Lato"/>
                <a:cs typeface="Lato"/>
              </a:rPr>
              <a:t>Third level</a:t>
            </a:r>
            <a:endParaRPr sz="2000" b="0" strike="noStrike" spc="-1">
              <a:solidFill>
                <a:srgbClr val="000000"/>
              </a:solidFill>
              <a:latin typeface="Calibri"/>
              <a:ea typeface="Calibri"/>
              <a:cs typeface="Calibri"/>
            </a:endParaRPr>
          </a:p>
          <a:p>
            <a:pPr marL="1600200" lvl="3"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Fourth level</a:t>
            </a:r>
            <a:endParaRPr sz="1800" b="0" strike="noStrike" spc="-1">
              <a:solidFill>
                <a:srgbClr val="000000"/>
              </a:solidFill>
              <a:latin typeface="Calibri"/>
              <a:ea typeface="Calibri"/>
              <a:cs typeface="Calibri"/>
            </a:endParaRPr>
          </a:p>
          <a:p>
            <a:pPr marL="2057400" lvl="4"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Fifth level</a:t>
            </a:r>
            <a:endParaRPr sz="1800" b="0" strike="noStrike" spc="-1">
              <a:solidFill>
                <a:srgbClr val="000000"/>
              </a:solidFill>
              <a:latin typeface="Calibri"/>
              <a:ea typeface="Calibri"/>
              <a:cs typeface="Calibri"/>
            </a:endParaRPr>
          </a:p>
        </p:txBody>
      </p:sp>
      <p:sp>
        <p:nvSpPr>
          <p:cNvPr id="77" name="PlaceHolder 2">
            <a:extLst>
              <a:ext uri="{FF2B5EF4-FFF2-40B4-BE49-F238E27FC236}">
                <a16:creationId xmlns:a16="http://schemas.microsoft.com/office/drawing/2014/main" id="{02D9A1C1-BE19-4C07-86EF-9B413F41F8AA}"/>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1:……………………………………..</a:t>
            </a:r>
            <a:endParaRPr sz="2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14" name="PlaceHolder 1">
            <a:extLst>
              <a:ext uri="{FF2B5EF4-FFF2-40B4-BE49-F238E27FC236}">
                <a16:creationId xmlns:a16="http://schemas.microsoft.com/office/drawing/2014/main" id="{39465CDB-33ED-4336-8000-67F76CBB4315}"/>
              </a:ext>
            </a:extLst>
          </p:cNvPr>
          <p:cNvSpPr>
            <a:spLocks noGrp="1"/>
          </p:cNvSpPr>
          <p:nvPr>
            <p:ph type="body"/>
          </p:nvPr>
        </p:nvSpPr>
        <p:spPr>
          <a:xfrm>
            <a:off x="330120" y="1406880"/>
            <a:ext cx="5765400" cy="465552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Chart</a:t>
            </a:r>
            <a:endParaRPr sz="1800" b="0" strike="noStrike" spc="-1">
              <a:solidFill>
                <a:srgbClr val="000000"/>
              </a:solidFill>
              <a:latin typeface="Calibri"/>
              <a:ea typeface="Calibri"/>
              <a:cs typeface="Calibri"/>
            </a:endParaRPr>
          </a:p>
        </p:txBody>
      </p:sp>
      <p:sp>
        <p:nvSpPr>
          <p:cNvPr id="115" name="PlaceHolder 2">
            <a:extLst>
              <a:ext uri="{FF2B5EF4-FFF2-40B4-BE49-F238E27FC236}">
                <a16:creationId xmlns:a16="http://schemas.microsoft.com/office/drawing/2014/main" id="{7F90F3E0-D175-4DD5-89D5-5BC74359BA7B}"/>
              </a:ext>
            </a:extLst>
          </p:cNvPr>
          <p:cNvSpPr>
            <a:spLocks noGrp="1"/>
          </p:cNvSpPr>
          <p:nvPr>
            <p:ph type="body"/>
          </p:nvPr>
        </p:nvSpPr>
        <p:spPr>
          <a:xfrm>
            <a:off x="6238800" y="1414440"/>
            <a:ext cx="5444640" cy="465588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Picture</a:t>
            </a:r>
            <a:endParaRPr sz="1800" b="0" strike="noStrike" spc="-1">
              <a:solidFill>
                <a:srgbClr val="000000"/>
              </a:solidFill>
              <a:latin typeface="Calibri"/>
              <a:ea typeface="Calibri"/>
              <a:cs typeface="Calibri"/>
            </a:endParaRPr>
          </a:p>
        </p:txBody>
      </p:sp>
      <p:sp>
        <p:nvSpPr>
          <p:cNvPr id="116" name="PlaceHolder 3">
            <a:extLst>
              <a:ext uri="{FF2B5EF4-FFF2-40B4-BE49-F238E27FC236}">
                <a16:creationId xmlns:a16="http://schemas.microsoft.com/office/drawing/2014/main" id="{030E4AC2-1AB6-4CC1-AB1D-EA6901F83036}"/>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2:……………………………………..</a:t>
            </a:r>
            <a:endParaRPr sz="2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53" name="PlaceHolder 1">
            <a:extLst>
              <a:ext uri="{FF2B5EF4-FFF2-40B4-BE49-F238E27FC236}">
                <a16:creationId xmlns:a16="http://schemas.microsoft.com/office/drawing/2014/main" id="{99803A32-40CA-4288-84F3-72B045A80DAB}"/>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3:……………………………………..</a:t>
            </a:r>
            <a:endParaRPr sz="2800" b="0" strike="noStrike" spc="-1">
              <a:solidFill>
                <a:srgbClr val="000000"/>
              </a:solidFill>
              <a:latin typeface="Calibri"/>
              <a:ea typeface="Calibri"/>
              <a:cs typeface="Calibri"/>
            </a:endParaRPr>
          </a:p>
        </p:txBody>
      </p:sp>
      <p:sp>
        <p:nvSpPr>
          <p:cNvPr id="154" name="PlaceHolder 2">
            <a:extLst>
              <a:ext uri="{FF2B5EF4-FFF2-40B4-BE49-F238E27FC236}">
                <a16:creationId xmlns:a16="http://schemas.microsoft.com/office/drawing/2014/main" id="{1BE6E8D5-3494-445B-8586-598C493D9ABF}"/>
              </a:ext>
            </a:extLst>
          </p:cNvPr>
          <p:cNvSpPr>
            <a:spLocks noGrp="1"/>
          </p:cNvSpPr>
          <p:nvPr>
            <p:ph type="body"/>
          </p:nvPr>
        </p:nvSpPr>
        <p:spPr>
          <a:xfrm>
            <a:off x="337680" y="1032480"/>
            <a:ext cx="11515320" cy="49384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sz="2800" b="0" strike="noStrike" spc="-1">
                <a:solidFill>
                  <a:srgbClr val="000000"/>
                </a:solidFill>
                <a:latin typeface="Lato"/>
                <a:ea typeface="Lato"/>
                <a:cs typeface="Lato"/>
              </a:rPr>
              <a:t>Click to edit Master text styles</a:t>
            </a:r>
            <a:endParaRPr sz="2800" b="0" strike="noStrike" spc="-1">
              <a:solidFill>
                <a:srgbClr val="000000"/>
              </a:solidFill>
              <a:latin typeface="Calibri"/>
              <a:ea typeface="Calibri"/>
              <a:cs typeface="Calibri"/>
            </a:endParaRPr>
          </a:p>
          <a:p>
            <a:pPr marL="685800" lvl="1" indent="-228240">
              <a:lnSpc>
                <a:spcPct val="90000"/>
              </a:lnSpc>
              <a:spcBef>
                <a:spcPts val="499"/>
              </a:spcBef>
              <a:buClr>
                <a:srgbClr val="000000"/>
              </a:buClr>
              <a:buFont typeface="Arial"/>
              <a:buChar char="•"/>
            </a:pPr>
            <a:r>
              <a:rPr sz="2400" b="0" strike="noStrike" spc="-1">
                <a:solidFill>
                  <a:srgbClr val="000000"/>
                </a:solidFill>
                <a:latin typeface="Lato"/>
                <a:ea typeface="Lato"/>
                <a:cs typeface="Lato"/>
              </a:rPr>
              <a:t>Second level</a:t>
            </a:r>
            <a:endParaRPr sz="2400" b="0" strike="noStrike" spc="-1">
              <a:solidFill>
                <a:srgbClr val="000000"/>
              </a:solidFill>
              <a:latin typeface="Calibri"/>
              <a:ea typeface="Calibri"/>
              <a:cs typeface="Calibri"/>
            </a:endParaRPr>
          </a:p>
          <a:p>
            <a:pPr marL="1143000" lvl="2" indent="-228240">
              <a:lnSpc>
                <a:spcPct val="90000"/>
              </a:lnSpc>
              <a:spcBef>
                <a:spcPts val="499"/>
              </a:spcBef>
              <a:buClr>
                <a:srgbClr val="000000"/>
              </a:buClr>
              <a:buFont typeface="Arial"/>
              <a:buChar char="•"/>
            </a:pPr>
            <a:r>
              <a:rPr sz="2000" b="0" strike="noStrike" spc="-1">
                <a:solidFill>
                  <a:srgbClr val="000000"/>
                </a:solidFill>
                <a:latin typeface="Lato"/>
                <a:ea typeface="Lato"/>
                <a:cs typeface="Lato"/>
              </a:rPr>
              <a:t>Third level</a:t>
            </a:r>
            <a:endParaRPr sz="2000" b="0" strike="noStrike" spc="-1">
              <a:solidFill>
                <a:srgbClr val="000000"/>
              </a:solidFill>
              <a:latin typeface="Calibri"/>
              <a:ea typeface="Calibri"/>
              <a:cs typeface="Calibri"/>
            </a:endParaRPr>
          </a:p>
          <a:p>
            <a:pPr marL="1600200" lvl="3"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Fourth level</a:t>
            </a:r>
            <a:endParaRPr sz="1800" b="0" strike="noStrike" spc="-1">
              <a:solidFill>
                <a:srgbClr val="000000"/>
              </a:solidFill>
              <a:latin typeface="Calibri"/>
              <a:ea typeface="Calibri"/>
              <a:cs typeface="Calibri"/>
            </a:endParaRPr>
          </a:p>
          <a:p>
            <a:pPr marL="2057400" lvl="4"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Fifth level</a:t>
            </a:r>
            <a:endParaRPr sz="1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91" name="PlaceHolder 1">
            <a:extLst>
              <a:ext uri="{FF2B5EF4-FFF2-40B4-BE49-F238E27FC236}">
                <a16:creationId xmlns:a16="http://schemas.microsoft.com/office/drawing/2014/main" id="{360F2F93-F625-47BA-8D0C-5AC68FF6F1EA}"/>
              </a:ext>
            </a:extLst>
          </p:cNvPr>
          <p:cNvSpPr>
            <a:spLocks noGrp="1"/>
          </p:cNvSpPr>
          <p:nvPr>
            <p:ph type="body"/>
          </p:nvPr>
        </p:nvSpPr>
        <p:spPr>
          <a:xfrm>
            <a:off x="4558320" y="1248480"/>
            <a:ext cx="7391160" cy="52048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sz="2800" b="0" strike="noStrike" spc="-1">
                <a:solidFill>
                  <a:srgbClr val="000000"/>
                </a:solidFill>
                <a:latin typeface="Lato"/>
                <a:ea typeface="Lato"/>
                <a:cs typeface="Lato"/>
              </a:rPr>
              <a:t>Click to edit Master text styles</a:t>
            </a:r>
            <a:endParaRPr sz="2800" b="0" strike="noStrike" spc="-1">
              <a:solidFill>
                <a:srgbClr val="000000"/>
              </a:solidFill>
              <a:latin typeface="Calibri"/>
              <a:ea typeface="Calibri"/>
              <a:cs typeface="Calibri"/>
            </a:endParaRPr>
          </a:p>
          <a:p>
            <a:pPr marL="685800" lvl="1" indent="-228240">
              <a:lnSpc>
                <a:spcPct val="90000"/>
              </a:lnSpc>
              <a:spcBef>
                <a:spcPts val="499"/>
              </a:spcBef>
              <a:buClr>
                <a:srgbClr val="000000"/>
              </a:buClr>
              <a:buFont typeface="Arial"/>
              <a:buChar char="•"/>
            </a:pPr>
            <a:r>
              <a:rPr sz="2400" b="0" strike="noStrike" spc="-1">
                <a:solidFill>
                  <a:srgbClr val="000000"/>
                </a:solidFill>
                <a:latin typeface="Lato"/>
                <a:ea typeface="Lato"/>
                <a:cs typeface="Lato"/>
              </a:rPr>
              <a:t>Second level</a:t>
            </a:r>
            <a:endParaRPr sz="2400" b="0" strike="noStrike" spc="-1">
              <a:solidFill>
                <a:srgbClr val="000000"/>
              </a:solidFill>
              <a:latin typeface="Calibri"/>
              <a:ea typeface="Calibri"/>
              <a:cs typeface="Calibri"/>
            </a:endParaRPr>
          </a:p>
          <a:p>
            <a:pPr marL="1143000" lvl="2" indent="-228240">
              <a:lnSpc>
                <a:spcPct val="90000"/>
              </a:lnSpc>
              <a:spcBef>
                <a:spcPts val="499"/>
              </a:spcBef>
              <a:buClr>
                <a:srgbClr val="000000"/>
              </a:buClr>
              <a:buFont typeface="Arial"/>
              <a:buChar char="•"/>
            </a:pPr>
            <a:r>
              <a:rPr sz="2000" b="0" strike="noStrike" spc="-1">
                <a:solidFill>
                  <a:srgbClr val="000000"/>
                </a:solidFill>
                <a:latin typeface="Lato"/>
                <a:ea typeface="Lato"/>
                <a:cs typeface="Lato"/>
              </a:rPr>
              <a:t>Third level</a:t>
            </a:r>
            <a:endParaRPr sz="2000" b="0" strike="noStrike" spc="-1">
              <a:solidFill>
                <a:srgbClr val="000000"/>
              </a:solidFill>
              <a:latin typeface="Calibri"/>
              <a:ea typeface="Calibri"/>
              <a:cs typeface="Calibri"/>
            </a:endParaRPr>
          </a:p>
          <a:p>
            <a:pPr marL="1600200" lvl="3"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Fourth level</a:t>
            </a:r>
            <a:endParaRPr sz="1800" b="0" strike="noStrike" spc="-1">
              <a:solidFill>
                <a:srgbClr val="000000"/>
              </a:solidFill>
              <a:latin typeface="Calibri"/>
              <a:ea typeface="Calibri"/>
              <a:cs typeface="Calibri"/>
            </a:endParaRPr>
          </a:p>
          <a:p>
            <a:pPr marL="2057400" lvl="4" indent="-228240">
              <a:lnSpc>
                <a:spcPct val="90000"/>
              </a:lnSpc>
              <a:spcBef>
                <a:spcPts val="499"/>
              </a:spcBef>
              <a:buClr>
                <a:srgbClr val="000000"/>
              </a:buClr>
              <a:buFont typeface="Arial"/>
              <a:buChar char="•"/>
            </a:pPr>
            <a:r>
              <a:rPr sz="1800" b="0" strike="noStrike" spc="-1">
                <a:solidFill>
                  <a:srgbClr val="000000"/>
                </a:solidFill>
                <a:latin typeface="Lato"/>
                <a:ea typeface="Lato"/>
                <a:cs typeface="Lato"/>
              </a:rPr>
              <a:t>Fifth level</a:t>
            </a:r>
            <a:endParaRPr sz="1800" b="0" strike="noStrike" spc="-1">
              <a:solidFill>
                <a:srgbClr val="000000"/>
              </a:solidFill>
              <a:latin typeface="Calibri"/>
              <a:ea typeface="Calibri"/>
              <a:cs typeface="Calibri"/>
            </a:endParaRPr>
          </a:p>
        </p:txBody>
      </p:sp>
      <p:sp>
        <p:nvSpPr>
          <p:cNvPr id="192" name="PlaceHolder 2">
            <a:extLst>
              <a:ext uri="{FF2B5EF4-FFF2-40B4-BE49-F238E27FC236}">
                <a16:creationId xmlns:a16="http://schemas.microsoft.com/office/drawing/2014/main" id="{31565F90-C15F-4E68-BC10-0B6773945128}"/>
              </a:ext>
            </a:extLst>
          </p:cNvPr>
          <p:cNvSpPr>
            <a:spLocks noGrp="1"/>
          </p:cNvSpPr>
          <p:nvPr>
            <p:ph type="title"/>
          </p:nvPr>
        </p:nvSpPr>
        <p:spPr>
          <a:xfrm>
            <a:off x="4558320" y="404280"/>
            <a:ext cx="7391160" cy="435600"/>
          </a:xfrm>
          <a:prstGeom prst="rect">
            <a:avLst/>
          </a:prstGeom>
        </p:spPr>
        <p:txBody>
          <a:bodyPr lIns="90000" tIns="45000" rIns="90000" bIns="45000">
            <a:noAutofit/>
          </a:bodyPr>
          <a:lstStyle/>
          <a:p>
            <a:pPr>
              <a:lnSpc>
                <a:spcPct val="90000"/>
              </a:lnSpc>
              <a:buNone/>
            </a:pPr>
            <a:r>
              <a:rPr sz="2800" b="1" strike="noStrike" spc="-1">
                <a:solidFill>
                  <a:srgbClr val="000000"/>
                </a:solidFill>
                <a:latin typeface="Lato"/>
                <a:ea typeface="Lato"/>
                <a:cs typeface="Lato"/>
              </a:rPr>
              <a:t>Title 4:……………………………………..</a:t>
            </a:r>
            <a:endParaRPr sz="2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29" name="PlaceHolder 1">
            <a:extLst>
              <a:ext uri="{FF2B5EF4-FFF2-40B4-BE49-F238E27FC236}">
                <a16:creationId xmlns:a16="http://schemas.microsoft.com/office/drawing/2014/main" id="{3B71BFF2-34EB-4770-8004-03AA09E74D00}"/>
              </a:ext>
            </a:extLst>
          </p:cNvPr>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buNone/>
            </a:pPr>
            <a:r>
              <a:rPr sz="2800" b="1" strike="noStrike" spc="-1">
                <a:solidFill>
                  <a:srgbClr val="FFFFFF"/>
                </a:solidFill>
                <a:latin typeface="Lato"/>
                <a:ea typeface="Lato"/>
                <a:cs typeface="Lato"/>
              </a:rPr>
              <a:t>Title 5:……………………………………..</a:t>
            </a:r>
            <a:endParaRPr sz="2800" b="0" strike="noStrike" spc="-1">
              <a:solidFill>
                <a:srgbClr val="000000"/>
              </a:solidFill>
              <a:latin typeface="Calibri"/>
              <a:ea typeface="Calibri"/>
              <a:cs typeface="Calibri"/>
            </a:endParaRPr>
          </a:p>
        </p:txBody>
      </p:sp>
      <p:sp>
        <p:nvSpPr>
          <p:cNvPr id="230" name="PlaceHolder 2">
            <a:extLst>
              <a:ext uri="{FF2B5EF4-FFF2-40B4-BE49-F238E27FC236}">
                <a16:creationId xmlns:a16="http://schemas.microsoft.com/office/drawing/2014/main" id="{396340AE-DC99-4147-A4D1-D4A0ABBD55F8}"/>
              </a:ext>
            </a:extLst>
          </p:cNvPr>
          <p:cNvSpPr>
            <a:spLocks noGrp="1"/>
          </p:cNvSpPr>
          <p:nvPr>
            <p:ph type="body"/>
          </p:nvPr>
        </p:nvSpPr>
        <p:spPr>
          <a:xfrm>
            <a:off x="338760" y="1406520"/>
            <a:ext cx="5756760" cy="466992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Chart</a:t>
            </a:r>
            <a:endParaRPr sz="1800" b="0" strike="noStrike" spc="-1">
              <a:solidFill>
                <a:srgbClr val="000000"/>
              </a:solidFill>
              <a:latin typeface="Calibri"/>
              <a:ea typeface="Calibri"/>
              <a:cs typeface="Calibri"/>
            </a:endParaRPr>
          </a:p>
        </p:txBody>
      </p:sp>
      <p:sp>
        <p:nvSpPr>
          <p:cNvPr id="231" name="PlaceHolder 3">
            <a:extLst>
              <a:ext uri="{FF2B5EF4-FFF2-40B4-BE49-F238E27FC236}">
                <a16:creationId xmlns:a16="http://schemas.microsoft.com/office/drawing/2014/main" id="{4801E4DC-8E7B-4F32-8E16-E3933AF1A1EC}"/>
              </a:ext>
            </a:extLst>
          </p:cNvPr>
          <p:cNvSpPr>
            <a:spLocks noGrp="1"/>
          </p:cNvSpPr>
          <p:nvPr>
            <p:ph type="body"/>
          </p:nvPr>
        </p:nvSpPr>
        <p:spPr>
          <a:xfrm>
            <a:off x="6210360" y="1392120"/>
            <a:ext cx="5592240" cy="4684320"/>
          </a:xfrm>
          <a:prstGeom prst="rect">
            <a:avLst/>
          </a:prstGeom>
        </p:spPr>
        <p:txBody>
          <a:bodyPr lIns="90000" tIns="45000" rIns="90000" bIns="45000">
            <a:noAutofit/>
          </a:bodyPr>
          <a:lstStyle/>
          <a:p>
            <a:pPr>
              <a:lnSpc>
                <a:spcPct val="100000"/>
              </a:lnSpc>
              <a:buNone/>
            </a:pPr>
            <a:r>
              <a:rPr sz="1800" b="0" strike="noStrike" spc="-1">
                <a:solidFill>
                  <a:srgbClr val="000000"/>
                </a:solidFill>
                <a:latin typeface="Lato"/>
                <a:ea typeface="Lato"/>
                <a:cs typeface="Lato"/>
              </a:rPr>
              <a:t>Table</a:t>
            </a:r>
            <a:endParaRPr sz="1800" b="0" strike="noStrike" spc="-1">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a:extLst>
              <a:ext uri="{FF2B5EF4-FFF2-40B4-BE49-F238E27FC236}">
                <a16:creationId xmlns:a16="http://schemas.microsoft.com/office/drawing/2014/main" id="{E6413D03-2F9E-4A01-AEB1-B6CA2B5C5E94}"/>
              </a:ext>
            </a:extLst>
          </p:cNvPr>
          <p:cNvSpPr>
            <a:spLocks noGrp="1"/>
          </p:cNvSpPr>
          <p:nvPr>
            <p:ph type="title"/>
          </p:nvPr>
        </p:nvSpPr>
        <p:spPr>
          <a:xfrm>
            <a:off x="609480" y="273600"/>
            <a:ext cx="10972440" cy="1144800"/>
          </a:xfrm>
          <a:prstGeom prst="rect">
            <a:avLst/>
          </a:prstGeom>
        </p:spPr>
        <p:txBody>
          <a:bodyPr lIns="0" tIns="0" rIns="0" bIns="0" anchor="ctr">
            <a:noAutofit/>
          </a:bodyPr>
          <a:lstStyle/>
          <a:p>
            <a:r>
              <a:rPr sz="1800" b="0" strike="noStrike" spc="-1">
                <a:solidFill>
                  <a:srgbClr val="000000"/>
                </a:solidFill>
                <a:latin typeface="Calibri"/>
                <a:ea typeface="Calibri"/>
                <a:cs typeface="Calibri"/>
              </a:rPr>
              <a:t>Click to edit the title text format</a:t>
            </a:r>
          </a:p>
        </p:txBody>
      </p:sp>
      <p:sp>
        <p:nvSpPr>
          <p:cNvPr id="269" name="PlaceHolder 2">
            <a:extLst>
              <a:ext uri="{FF2B5EF4-FFF2-40B4-BE49-F238E27FC236}">
                <a16:creationId xmlns:a16="http://schemas.microsoft.com/office/drawing/2014/main" id="{9E165498-8993-4E94-8E82-850A0F00B4A9}"/>
              </a:ext>
            </a:extLst>
          </p:cNvPr>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a:buChar char=""/>
            </a:pPr>
            <a:r>
              <a:rPr sz="2800" b="0" strike="noStrike" spc="-1">
                <a:solidFill>
                  <a:srgbClr val="000000"/>
                </a:solidFill>
                <a:latin typeface="Calibri"/>
                <a:ea typeface="Calibri"/>
                <a:cs typeface="Calibri"/>
              </a:rPr>
              <a:t>Click to edit the outline text format</a:t>
            </a:r>
          </a:p>
          <a:p>
            <a:pPr marL="864000" lvl="1" indent="-324000">
              <a:spcBef>
                <a:spcPts val="1134"/>
              </a:spcBef>
              <a:buClr>
                <a:srgbClr val="000000"/>
              </a:buClr>
              <a:buSzPct val="75000"/>
              <a:buFont typeface="Symbol"/>
              <a:buChar char=""/>
            </a:pPr>
            <a:r>
              <a:rPr sz="2000" b="0" strike="noStrike" spc="-1">
                <a:solidFill>
                  <a:srgbClr val="000000"/>
                </a:solidFill>
                <a:latin typeface="Calibri"/>
                <a:ea typeface="Calibri"/>
                <a:cs typeface="Calibri"/>
              </a:rPr>
              <a:t>Second Outline Level</a:t>
            </a:r>
          </a:p>
          <a:p>
            <a:pPr marL="1296000" lvl="2" indent="-288000">
              <a:spcBef>
                <a:spcPts val="850"/>
              </a:spcBef>
              <a:buClr>
                <a:srgbClr val="000000"/>
              </a:buClr>
              <a:buSzPct val="45000"/>
              <a:buFont typeface="Wingdings"/>
              <a:buChar char=""/>
            </a:pPr>
            <a:r>
              <a:rPr sz="1800" b="0" strike="noStrike" spc="-1">
                <a:solidFill>
                  <a:srgbClr val="000000"/>
                </a:solidFill>
                <a:latin typeface="Calibri"/>
                <a:ea typeface="Calibri"/>
                <a:cs typeface="Calibri"/>
              </a:rPr>
              <a:t>Third Outline Level</a:t>
            </a:r>
          </a:p>
          <a:p>
            <a:pPr marL="1728000" lvl="3" indent="-216000">
              <a:spcBef>
                <a:spcPts val="567"/>
              </a:spcBef>
              <a:buClr>
                <a:srgbClr val="000000"/>
              </a:buClr>
              <a:buSzPct val="75000"/>
              <a:buFont typeface="Symbol"/>
              <a:buChar char=""/>
            </a:pPr>
            <a:r>
              <a:rPr sz="1800" b="0" strike="noStrike" spc="-1">
                <a:solidFill>
                  <a:srgbClr val="000000"/>
                </a:solidFill>
                <a:latin typeface="Calibri"/>
                <a:ea typeface="Calibri"/>
                <a:cs typeface="Calibri"/>
              </a:rPr>
              <a:t>Fourth Outline Level</a:t>
            </a:r>
          </a:p>
          <a:p>
            <a:pPr marL="2160000" lvl="4"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Fifth Outline Level</a:t>
            </a:r>
          </a:p>
          <a:p>
            <a:pPr marL="2592000" lvl="5"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Sixth Outline Level</a:t>
            </a:r>
          </a:p>
          <a:p>
            <a:pPr marL="3024000" lvl="6" indent="-216000">
              <a:spcBef>
                <a:spcPts val="283"/>
              </a:spcBef>
              <a:buClr>
                <a:srgbClr val="000000"/>
              </a:buClr>
              <a:buSzPct val="45000"/>
              <a:buFont typeface="Wingdings"/>
              <a:buChar char=""/>
            </a:pPr>
            <a:r>
              <a:rPr sz="2000" b="0" strike="noStrike" spc="-1">
                <a:solidFill>
                  <a:srgbClr val="000000"/>
                </a:solidFill>
                <a:latin typeface="Calibri"/>
                <a:ea typeface="Calibri"/>
                <a:cs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8.jp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cover.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TextBox 3"/>
          <p:cNvSpPr txBox="1"/>
          <p:nvPr/>
        </p:nvSpPr>
        <p:spPr>
          <a:xfrm>
            <a:off x="685800" y="1600200"/>
            <a:ext cx="6949440" cy="1920240"/>
          </a:xfrm>
          <a:prstGeom prst="rect">
            <a:avLst/>
          </a:prstGeom>
          <a:noFill/>
        </p:spPr>
        <p:txBody>
          <a:bodyPr wrap="square" anchor="t" lIns="45720" rIns="45720" tIns="18288" bIns="18288"/>
          <a:lstStyle/>
          <a:p>
            <a:pPr>
              <a:spcBef>
                <a:spcPts val="0"/>
              </a:spcBef>
              <a:buNone/>
            </a:pPr>
            <a:r>
              <a:rPr sz="3800" b="1">
                <a:solidFill>
                  <a:srgbClr val="C00000"/>
                </a:solidFill>
                <a:latin typeface="Roboto Black"/>
                <a:ea typeface="Roboto Black"/>
                <a:cs typeface="Roboto Black"/>
              </a:rPr>
              <a:t>Multi-Agent Systems &amp;</a:t>
            </a:r>
          </a:p>
          <a:p>
            <a:pPr>
              <a:spcBef>
                <a:spcPts val="0"/>
              </a:spcBef>
              <a:buNone/>
            </a:pPr>
            <a:r>
              <a:rPr sz="3800" b="1">
                <a:solidFill>
                  <a:srgbClr val="C00000"/>
                </a:solidFill>
                <a:latin typeface="Roboto Black"/>
                <a:ea typeface="Roboto Black"/>
                <a:cs typeface="Roboto Black"/>
              </a:rPr>
              <a:t>Collaborative Reasoning</a:t>
            </a:r>
          </a:p>
          <a:p>
            <a:pPr>
              <a:spcBef>
                <a:spcPts val="800"/>
              </a:spcBef>
              <a:buNone/>
            </a:pPr>
            <a:r>
              <a:rPr sz="1900" b="1">
                <a:solidFill>
                  <a:srgbClr val="003366"/>
                </a:solidFill>
                <a:latin typeface="Roboto Black"/>
                <a:ea typeface="Roboto Black"/>
                <a:cs typeface="Roboto Black"/>
              </a:rPr>
              <a:t>Khảo sát, phân tích và đánh giá 8 nghiên cứu năm 2026</a:t>
            </a:r>
          </a:p>
          <a:p>
            <a:pPr>
              <a:spcBef>
                <a:spcPts val="400"/>
              </a:spcBef>
              <a:buNone/>
            </a:pPr>
            <a:r>
              <a:rPr sz="1400" b="0">
                <a:solidFill>
                  <a:srgbClr val="666666"/>
                </a:solidFill>
                <a:latin typeface="Roboto Medium"/>
                <a:ea typeface="Roboto Medium"/>
                <a:cs typeface="Roboto Medium"/>
              </a:rPr>
              <a:t>Báo cáo Bài tập lớn · Hình thức tiểu luận · Chủ đề số 3</a:t>
            </a:r>
          </a:p>
        </p:txBody>
      </p:sp>
      <p:sp>
        <p:nvSpPr>
          <p:cNvPr id="5" name="TextBox 4"/>
          <p:cNvSpPr txBox="1"/>
          <p:nvPr/>
        </p:nvSpPr>
        <p:spPr>
          <a:xfrm>
            <a:off x="685800" y="3977639"/>
            <a:ext cx="3017520" cy="150876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Nhóm thực hiện</a:t>
            </a:r>
          </a:p>
          <a:p>
            <a:pPr>
              <a:spcBef>
                <a:spcPts val="300"/>
              </a:spcBef>
              <a:buNone/>
            </a:pPr>
            <a:r>
              <a:rPr sz="1500" b="0">
                <a:solidFill>
                  <a:srgbClr val="222222"/>
                </a:solidFill>
                <a:latin typeface="Roboto Medium"/>
                <a:ea typeface="Roboto Medium"/>
                <a:cs typeface="Roboto Medium"/>
              </a:rPr>
              <a:t>Trần Xuân Hương</a:t>
            </a:r>
          </a:p>
          <a:p>
            <a:pPr>
              <a:spcBef>
                <a:spcPts val="300"/>
              </a:spcBef>
              <a:buNone/>
            </a:pPr>
            <a:r>
              <a:rPr sz="1500" b="0">
                <a:solidFill>
                  <a:srgbClr val="222222"/>
                </a:solidFill>
                <a:latin typeface="Roboto Medium"/>
                <a:ea typeface="Roboto Medium"/>
                <a:cs typeface="Roboto Medium"/>
              </a:rPr>
              <a:t>Vũ Tùng Dương</a:t>
            </a:r>
          </a:p>
          <a:p>
            <a:pPr>
              <a:spcBef>
                <a:spcPts val="300"/>
              </a:spcBef>
              <a:buNone/>
            </a:pPr>
            <a:r>
              <a:rPr sz="1500" b="0">
                <a:solidFill>
                  <a:srgbClr val="222222"/>
                </a:solidFill>
                <a:latin typeface="Roboto Medium"/>
                <a:ea typeface="Roboto Medium"/>
                <a:cs typeface="Roboto Medium"/>
              </a:rPr>
              <a:t>Phạm Việt Dũng</a:t>
            </a:r>
          </a:p>
          <a:p>
            <a:pPr>
              <a:spcBef>
                <a:spcPts val="300"/>
              </a:spcBef>
              <a:buNone/>
            </a:pPr>
            <a:r>
              <a:rPr sz="1500" b="0">
                <a:solidFill>
                  <a:srgbClr val="222222"/>
                </a:solidFill>
                <a:latin typeface="Roboto Medium"/>
                <a:ea typeface="Roboto Medium"/>
                <a:cs typeface="Roboto Medium"/>
              </a:rPr>
              <a:t>Lê Văn Đức</a:t>
            </a:r>
          </a:p>
        </p:txBody>
      </p:sp>
      <p:sp>
        <p:nvSpPr>
          <p:cNvPr id="6" name="TextBox 5"/>
          <p:cNvSpPr txBox="1"/>
          <p:nvPr/>
        </p:nvSpPr>
        <p:spPr>
          <a:xfrm>
            <a:off x="3794760" y="3977639"/>
            <a:ext cx="3291840" cy="82296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Giảng viên hướng dẫn</a:t>
            </a:r>
          </a:p>
          <a:p>
            <a:pPr>
              <a:spcBef>
                <a:spcPts val="300"/>
              </a:spcBef>
              <a:buNone/>
            </a:pPr>
            <a:r>
              <a:rPr sz="1500" b="0">
                <a:solidFill>
                  <a:srgbClr val="222222"/>
                </a:solidFill>
                <a:latin typeface="Roboto Medium"/>
                <a:ea typeface="Roboto Medium"/>
                <a:cs typeface="Roboto Medium"/>
              </a:rPr>
              <a:t>PGS.TS. Lê Thanh Hương</a:t>
            </a:r>
          </a:p>
        </p:txBody>
      </p:sp>
      <p:sp>
        <p:nvSpPr>
          <p:cNvPr id="7" name="TextBox 6"/>
          <p:cNvSpPr txBox="1"/>
          <p:nvPr/>
        </p:nvSpPr>
        <p:spPr>
          <a:xfrm>
            <a:off x="685800" y="5532120"/>
            <a:ext cx="6858000" cy="36576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Học phần IT4772 – Xử lý ngôn ngữ tự nhiên · Đại học Bách khoa Hà Nội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Nội dung trình bày</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23444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23444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1</a:t>
            </a:r>
          </a:p>
        </p:txBody>
      </p:sp>
      <p:sp>
        <p:nvSpPr>
          <p:cNvPr id="10" name="TextBox 9"/>
          <p:cNvSpPr txBox="1"/>
          <p:nvPr/>
        </p:nvSpPr>
        <p:spPr>
          <a:xfrm>
            <a:off x="1234440" y="128016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Giới thiệu</a:t>
            </a:r>
          </a:p>
          <a:p>
            <a:pPr>
              <a:spcBef>
                <a:spcPts val="400"/>
              </a:spcBef>
              <a:buNone/>
            </a:pPr>
            <a:r>
              <a:rPr sz="1500" b="0">
                <a:solidFill>
                  <a:srgbClr val="666666"/>
                </a:solidFill>
                <a:latin typeface="Roboto Medium"/>
                <a:ea typeface="Roboto Medium"/>
                <a:cs typeface="Roboto Medium"/>
              </a:rPr>
              <a:t>Bối cảnh, 4 thách thức, cách chọn 8 paper, taxonomy</a:t>
            </a:r>
          </a:p>
        </p:txBody>
      </p:sp>
      <p:sp>
        <p:nvSpPr>
          <p:cNvPr id="11" name="Rounded Rectangle 10"/>
          <p:cNvSpPr/>
          <p:nvPr/>
        </p:nvSpPr>
        <p:spPr>
          <a:xfrm>
            <a:off x="6172200" y="123444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72200" y="123444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2</a:t>
            </a:r>
          </a:p>
        </p:txBody>
      </p:sp>
      <p:sp>
        <p:nvSpPr>
          <p:cNvPr id="13" name="TextBox 12"/>
          <p:cNvSpPr txBox="1"/>
          <p:nvPr/>
        </p:nvSpPr>
        <p:spPr>
          <a:xfrm>
            <a:off x="6995160" y="128016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Safety &amp; Robustness</a:t>
            </a:r>
          </a:p>
          <a:p>
            <a:pPr>
              <a:spcBef>
                <a:spcPts val="400"/>
              </a:spcBef>
              <a:buNone/>
            </a:pPr>
            <a:r>
              <a:rPr sz="1500" b="0">
                <a:solidFill>
                  <a:srgbClr val="666666"/>
                </a:solidFill>
                <a:latin typeface="Roboto Medium"/>
                <a:ea typeface="Roboto Medium"/>
                <a:cs typeface="Roboto Medium"/>
              </a:rPr>
              <a:t>MIRAGE · TIDE</a:t>
            </a:r>
          </a:p>
        </p:txBody>
      </p:sp>
      <p:sp>
        <p:nvSpPr>
          <p:cNvPr id="14" name="Rounded Rectangle 13"/>
          <p:cNvSpPr/>
          <p:nvPr/>
        </p:nvSpPr>
        <p:spPr>
          <a:xfrm>
            <a:off x="411480" y="278892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1480" y="278892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3</a:t>
            </a:r>
          </a:p>
        </p:txBody>
      </p:sp>
      <p:sp>
        <p:nvSpPr>
          <p:cNvPr id="16" name="TextBox 15"/>
          <p:cNvSpPr txBox="1"/>
          <p:nvPr/>
        </p:nvSpPr>
        <p:spPr>
          <a:xfrm>
            <a:off x="1234440" y="2834639"/>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Orchestration &amp; Control</a:t>
            </a:r>
          </a:p>
          <a:p>
            <a:pPr>
              <a:spcBef>
                <a:spcPts val="400"/>
              </a:spcBef>
              <a:buNone/>
            </a:pPr>
            <a:r>
              <a:rPr sz="1500" b="0">
                <a:solidFill>
                  <a:srgbClr val="666666"/>
                </a:solidFill>
                <a:latin typeface="Roboto Medium"/>
                <a:ea typeface="Roboto Medium"/>
                <a:cs typeface="Roboto Medium"/>
              </a:rPr>
              <a:t>ProgRouter · HalluProp</a:t>
            </a:r>
          </a:p>
        </p:txBody>
      </p:sp>
      <p:sp>
        <p:nvSpPr>
          <p:cNvPr id="17" name="Rounded Rectangle 16"/>
          <p:cNvSpPr/>
          <p:nvPr/>
        </p:nvSpPr>
        <p:spPr>
          <a:xfrm>
            <a:off x="6172200" y="278892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72200" y="278892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4</a:t>
            </a:r>
          </a:p>
        </p:txBody>
      </p:sp>
      <p:sp>
        <p:nvSpPr>
          <p:cNvPr id="19" name="TextBox 18"/>
          <p:cNvSpPr txBox="1"/>
          <p:nvPr/>
        </p:nvSpPr>
        <p:spPr>
          <a:xfrm>
            <a:off x="6995160" y="2834639"/>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Communication &amp; Interaction</a:t>
            </a:r>
          </a:p>
          <a:p>
            <a:pPr>
              <a:spcBef>
                <a:spcPts val="400"/>
              </a:spcBef>
              <a:buNone/>
            </a:pPr>
            <a:r>
              <a:rPr sz="1500" b="0">
                <a:solidFill>
                  <a:srgbClr val="666666"/>
                </a:solidFill>
                <a:latin typeface="Roboto Medium"/>
                <a:ea typeface="Roboto Medium"/>
                <a:cs typeface="Roboto Medium"/>
              </a:rPr>
              <a:t>DAIN · AGENT-RADAR</a:t>
            </a:r>
          </a:p>
        </p:txBody>
      </p:sp>
      <p:sp>
        <p:nvSpPr>
          <p:cNvPr id="20" name="Rounded Rectangle 19"/>
          <p:cNvSpPr/>
          <p:nvPr/>
        </p:nvSpPr>
        <p:spPr>
          <a:xfrm>
            <a:off x="411480" y="434340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11480" y="434340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5</a:t>
            </a:r>
          </a:p>
        </p:txBody>
      </p:sp>
      <p:sp>
        <p:nvSpPr>
          <p:cNvPr id="22" name="TextBox 21"/>
          <p:cNvSpPr txBox="1"/>
          <p:nvPr/>
        </p:nvSpPr>
        <p:spPr>
          <a:xfrm>
            <a:off x="1234440" y="438912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Domain Applications</a:t>
            </a:r>
          </a:p>
          <a:p>
            <a:pPr>
              <a:spcBef>
                <a:spcPts val="400"/>
              </a:spcBef>
              <a:buNone/>
            </a:pPr>
            <a:r>
              <a:rPr sz="1500" b="0">
                <a:solidFill>
                  <a:srgbClr val="666666"/>
                </a:solidFill>
                <a:latin typeface="Roboto Medium"/>
                <a:ea typeface="Roboto Medium"/>
                <a:cs typeface="Roboto Medium"/>
              </a:rPr>
              <a:t>MAC-RRG · UrbanAgent</a:t>
            </a:r>
          </a:p>
        </p:txBody>
      </p:sp>
      <p:sp>
        <p:nvSpPr>
          <p:cNvPr id="23" name="Rounded Rectangle 22"/>
          <p:cNvSpPr/>
          <p:nvPr/>
        </p:nvSpPr>
        <p:spPr>
          <a:xfrm>
            <a:off x="6172200" y="4343400"/>
            <a:ext cx="685800" cy="100584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72200" y="4343400"/>
            <a:ext cx="685800" cy="1005840"/>
          </a:xfrm>
          <a:prstGeom prst="rect">
            <a:avLst/>
          </a:prstGeom>
          <a:noFill/>
        </p:spPr>
        <p:txBody>
          <a:bodyPr wrap="square" anchor="ctr" lIns="45720" rIns="45720" tIns="18288" bIns="18288"/>
          <a:lstStyle/>
          <a:p>
            <a:pPr algn="ctr">
              <a:spcBef>
                <a:spcPts val="0"/>
              </a:spcBef>
              <a:buNone/>
            </a:pPr>
            <a:r>
              <a:rPr sz="2600" b="1">
                <a:solidFill>
                  <a:srgbClr val="FFFFFF"/>
                </a:solidFill>
                <a:latin typeface="Roboto Black"/>
                <a:ea typeface="Roboto Black"/>
                <a:cs typeface="Roboto Black"/>
              </a:rPr>
              <a:t>6</a:t>
            </a:r>
          </a:p>
        </p:txBody>
      </p:sp>
      <p:sp>
        <p:nvSpPr>
          <p:cNvPr id="25" name="TextBox 24"/>
          <p:cNvSpPr txBox="1"/>
          <p:nvPr/>
        </p:nvSpPr>
        <p:spPr>
          <a:xfrm>
            <a:off x="6995160" y="4389120"/>
            <a:ext cx="4754880" cy="1005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So sánh &amp; kết luận</a:t>
            </a:r>
          </a:p>
          <a:p>
            <a:pPr>
              <a:spcBef>
                <a:spcPts val="400"/>
              </a:spcBef>
              <a:buNone/>
            </a:pPr>
            <a:r>
              <a:rPr sz="1500" b="0">
                <a:solidFill>
                  <a:srgbClr val="666666"/>
                </a:solidFill>
                <a:latin typeface="Roboto Medium"/>
                <a:ea typeface="Roboto Medium"/>
                <a:cs typeface="Roboto Medium"/>
              </a:rPr>
              <a:t>So sánh hệ thống, research gap, hướng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1.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01</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1</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Giới thiệu</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LLM-based Multi-Agent System</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Bốn thách thức chính</a:t>
            </a:r>
          </a:p>
        </p:txBody>
      </p:sp>
      <p:sp>
        <p:nvSpPr>
          <p:cNvPr id="14" name="Rounded Rectangle 13"/>
          <p:cNvSpPr/>
          <p:nvPr/>
        </p:nvSpPr>
        <p:spPr>
          <a:xfrm>
            <a:off x="841248" y="49103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49103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3</a:t>
            </a:r>
          </a:p>
        </p:txBody>
      </p:sp>
      <p:sp>
        <p:nvSpPr>
          <p:cNvPr id="16" name="TextBox 15"/>
          <p:cNvSpPr txBox="1"/>
          <p:nvPr/>
        </p:nvSpPr>
        <p:spPr>
          <a:xfrm>
            <a:off x="1261872" y="48646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Cách chọn 8 paper</a:t>
            </a:r>
          </a:p>
        </p:txBody>
      </p:sp>
      <p:sp>
        <p:nvSpPr>
          <p:cNvPr id="17" name="Rounded Rectangle 16"/>
          <p:cNvSpPr/>
          <p:nvPr/>
        </p:nvSpPr>
        <p:spPr>
          <a:xfrm>
            <a:off x="841248" y="53675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53675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4</a:t>
            </a:r>
          </a:p>
        </p:txBody>
      </p:sp>
      <p:sp>
        <p:nvSpPr>
          <p:cNvPr id="19" name="TextBox 18"/>
          <p:cNvSpPr txBox="1"/>
          <p:nvPr/>
        </p:nvSpPr>
        <p:spPr>
          <a:xfrm>
            <a:off x="1261872" y="53218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Taxonomy bốn hướng nghiên cứu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LLM-based MAS: nhiều agent cùng suy luận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4</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60120"/>
            <a:ext cx="6035040" cy="4937760"/>
          </a:xfrm>
          <a:prstGeom prst="rect">
            <a:avLst/>
          </a:prstGeom>
          <a:noFill/>
        </p:spPr>
        <p:txBody>
          <a:bodyPr wrap="square" anchor="t" lIns="45720" rIns="45720" tIns="18288" bIns="18288"/>
          <a:lstStyle/>
          <a:p>
            <a:pPr>
              <a:spcBef>
                <a:spcPts val="0"/>
              </a:spcBef>
              <a:buNone/>
            </a:pPr>
            <a:r>
              <a:rPr sz="2200" b="1">
                <a:solidFill>
                  <a:srgbClr val="003366"/>
                </a:solidFill>
                <a:latin typeface="Roboto Black"/>
                <a:ea typeface="Roboto Black"/>
                <a:cs typeface="Roboto Black"/>
              </a:rPr>
              <a:t>Ý tưởng</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Mỗi </a:t>
            </a:r>
            <a:r>
              <a:rPr sz="1800" b="1">
                <a:solidFill>
                  <a:srgbClr val="003366"/>
                </a:solidFill>
                <a:latin typeface="Roboto Black"/>
                <a:ea typeface="Roboto Black"/>
                <a:cs typeface="Roboto Black"/>
              </a:rPr>
              <a:t>agent</a:t>
            </a:r>
            <a:r>
              <a:rPr sz="1800" b="0">
                <a:solidFill>
                  <a:srgbClr val="222222"/>
                </a:solidFill>
                <a:latin typeface="Roboto Medium"/>
                <a:ea typeface="Roboto Medium"/>
                <a:cs typeface="Roboto Medium"/>
              </a:rPr>
              <a:t> = backbone LLM + role prompt + (tùy chọn) tool.</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Các agent trao đổi message để cùng giải bài toán: planner, coder, critic, verifier…</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Framework tiêu biểu: CAMEL, AutoGen, MetaGPT, multi-agent debate.</a:t>
            </a:r>
          </a:p>
          <a:p>
            <a:pPr>
              <a:spcBef>
                <a:spcPts val="1800"/>
              </a:spcBef>
              <a:buNone/>
            </a:pPr>
            <a:r>
              <a:rPr sz="2200" b="1">
                <a:solidFill>
                  <a:srgbClr val="003366"/>
                </a:solidFill>
                <a:latin typeface="Roboto Black"/>
                <a:ea typeface="Roboto Black"/>
                <a:cs typeface="Roboto Black"/>
              </a:rPr>
              <a:t>Câu hỏi nghiên cứu năm 2026</a:t>
            </a:r>
          </a:p>
          <a:p>
            <a:pPr marL="141732" indent="-141732">
              <a:spcBef>
                <a:spcPts val="800"/>
              </a:spcBef>
              <a:buClr>
                <a:srgbClr val="C00000"/>
              </a:buClr>
              <a:buFont typeface="Arial"/>
              <a:buChar char="•"/>
            </a:pPr>
            <a:r>
              <a:rPr sz="1800" b="0">
                <a:solidFill>
                  <a:srgbClr val="222222"/>
                </a:solidFill>
                <a:latin typeface="Roboto Medium"/>
                <a:ea typeface="Roboto Medium"/>
                <a:cs typeface="Roboto Medium"/>
              </a:rPr>
              <a:t>Không còn là “cộng tác có giúp không?” mà là:</a:t>
            </a:r>
          </a:p>
          <a:p>
            <a:pPr marL="141732" indent="-141732">
              <a:spcBef>
                <a:spcPts val="800"/>
              </a:spcBef>
              <a:buClr>
                <a:srgbClr val="C00000"/>
              </a:buClr>
              <a:buFont typeface="Arial"/>
              <a:buChar char="•"/>
            </a:pPr>
            <a:r>
              <a:rPr sz="1800" b="1">
                <a:solidFill>
                  <a:srgbClr val="003366"/>
                </a:solidFill>
                <a:latin typeface="Roboto Black"/>
                <a:ea typeface="Roboto Black"/>
                <a:cs typeface="Roboto Black"/>
              </a:rPr>
              <a:t>hiệu quả</a:t>
            </a:r>
            <a:r>
              <a:rPr sz="1800" b="0">
                <a:solidFill>
                  <a:srgbClr val="222222"/>
                </a:solidFill>
                <a:latin typeface="Roboto Medium"/>
                <a:ea typeface="Roboto Medium"/>
                <a:cs typeface="Roboto Medium"/>
              </a:rPr>
              <a:t> chi phí · </a:t>
            </a:r>
            <a:r>
              <a:rPr sz="1800" b="1">
                <a:solidFill>
                  <a:srgbClr val="003366"/>
                </a:solidFill>
                <a:latin typeface="Roboto Black"/>
                <a:ea typeface="Roboto Black"/>
                <a:cs typeface="Roboto Black"/>
              </a:rPr>
              <a:t>luồng thông tin</a:t>
            </a:r>
            <a:r>
              <a:rPr sz="1800" b="0">
                <a:solidFill>
                  <a:srgbClr val="222222"/>
                </a:solidFill>
                <a:latin typeface="Roboto Medium"/>
                <a:ea typeface="Roboto Medium"/>
                <a:cs typeface="Roboto Medium"/>
              </a:rPr>
              <a:t> · </a:t>
            </a:r>
            <a:r>
              <a:rPr sz="1800" b="1">
                <a:solidFill>
                  <a:srgbClr val="003366"/>
                </a:solidFill>
                <a:latin typeface="Roboto Black"/>
                <a:ea typeface="Roboto Black"/>
                <a:cs typeface="Roboto Black"/>
              </a:rPr>
              <a:t>an toàn</a:t>
            </a:r>
            <a:r>
              <a:rPr sz="1800" b="0">
                <a:solidFill>
                  <a:srgbClr val="222222"/>
                </a:solidFill>
                <a:latin typeface="Roboto Medium"/>
                <a:ea typeface="Roboto Medium"/>
                <a:cs typeface="Roboto Medium"/>
              </a:rPr>
              <a:t> · </a:t>
            </a:r>
            <a:r>
              <a:rPr sz="1800" b="1">
                <a:solidFill>
                  <a:srgbClr val="003366"/>
                </a:solidFill>
                <a:latin typeface="Roboto Black"/>
                <a:ea typeface="Roboto Black"/>
                <a:cs typeface="Roboto Black"/>
              </a:rPr>
              <a:t>ứng dụng</a:t>
            </a:r>
            <a:r>
              <a:rPr sz="1800" b="0">
                <a:solidFill>
                  <a:srgbClr val="222222"/>
                </a:solidFill>
                <a:latin typeface="Roboto Medium"/>
                <a:ea typeface="Roboto Medium"/>
                <a:cs typeface="Roboto Medium"/>
              </a:rPr>
              <a:t> chuyên ngành.</a:t>
            </a:r>
          </a:p>
        </p:txBody>
      </p:sp>
      <p:sp>
        <p:nvSpPr>
          <p:cNvPr id="9" name="Rectangle 8"/>
          <p:cNvSpPr/>
          <p:nvPr/>
        </p:nvSpPr>
        <p:spPr>
          <a:xfrm>
            <a:off x="6675120" y="1051560"/>
            <a:ext cx="5074920" cy="28803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675120" y="1051560"/>
            <a:ext cx="507492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21424" y="1161288"/>
            <a:ext cx="4800600" cy="2697480"/>
          </a:xfrm>
          <a:prstGeom prst="rect">
            <a:avLst/>
          </a:prstGeom>
          <a:noFill/>
        </p:spPr>
        <p:txBody>
          <a:bodyPr wrap="square" anchor="t" lIns="45720" rIns="45720" tIns="18288" bIns="18288"/>
          <a:lstStyle/>
          <a:p>
            <a:pPr>
              <a:spcBef>
                <a:spcPts val="0"/>
              </a:spcBef>
              <a:buNone/>
            </a:pPr>
            <a:r>
              <a:rPr sz="1950" b="1">
                <a:solidFill>
                  <a:srgbClr val="003366"/>
                </a:solidFill>
                <a:latin typeface="Roboto Black"/>
                <a:ea typeface="Roboto Black"/>
                <a:cs typeface="Roboto Black"/>
              </a:rPr>
              <a:t>MAS = communication graph</a:t>
            </a:r>
          </a:p>
          <a:p>
            <a:pPr>
              <a:spcBef>
                <a:spcPts val="600"/>
              </a:spcBef>
              <a:buNone/>
            </a:pPr>
            <a:r>
              <a:rPr sz="1700" b="0">
                <a:solidFill>
                  <a:srgbClr val="222222"/>
                </a:solidFill>
                <a:latin typeface="Roboto Medium"/>
                <a:ea typeface="Roboto Medium"/>
                <a:cs typeface="Roboto Medium"/>
              </a:rPr>
              <a:t>Node là agent; cạnh v_j → v_i nghĩa là output của v_j làm context cho v_i.</a:t>
            </a:r>
          </a:p>
          <a:p>
            <a:pPr algn="ctr">
              <a:spcBef>
                <a:spcPts val="800"/>
              </a:spcBef>
              <a:buNone/>
            </a:pPr>
            <a:r>
              <a:rPr sz="2000" b="1">
                <a:solidFill>
                  <a:srgbClr val="003366"/>
                </a:solidFill>
                <a:latin typeface="Roboto Black"/>
                <a:ea typeface="Roboto Black"/>
                <a:cs typeface="Roboto Black"/>
              </a:rPr>
              <a:t>r_i = LLM(p_i, q, O_i)</a:t>
            </a:r>
          </a:p>
          <a:p>
            <a:pPr>
              <a:spcBef>
                <a:spcPts val="800"/>
              </a:spcBef>
              <a:buNone/>
            </a:pPr>
            <a:r>
              <a:rPr sz="1700" b="0">
                <a:solidFill>
                  <a:srgbClr val="222222"/>
                </a:solidFill>
                <a:latin typeface="Roboto Medium"/>
                <a:ea typeface="Roboto Medium"/>
                <a:cs typeface="Roboto Medium"/>
              </a:rPr>
              <a:t>Topology quyết định hiệu năng → có thể tối ưu (GPTSwarm, G-Designer) hoặc cắt tỉa (AgentPrune).</a:t>
            </a:r>
          </a:p>
        </p:txBody>
      </p:sp>
      <p:sp>
        <p:nvSpPr>
          <p:cNvPr id="12" name="Rectangle 11"/>
          <p:cNvSpPr/>
          <p:nvPr/>
        </p:nvSpPr>
        <p:spPr>
          <a:xfrm>
            <a:off x="6675120" y="4114800"/>
            <a:ext cx="5074920" cy="178308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675120" y="4114800"/>
            <a:ext cx="50749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21424" y="4224528"/>
            <a:ext cx="4800600" cy="1600200"/>
          </a:xfrm>
          <a:prstGeom prst="rect">
            <a:avLst/>
          </a:prstGeom>
          <a:noFill/>
        </p:spPr>
        <p:txBody>
          <a:bodyPr wrap="square" anchor="t" lIns="45720" rIns="45720" tIns="18288" bIns="18288"/>
          <a:lstStyle/>
          <a:p>
            <a:pPr>
              <a:spcBef>
                <a:spcPts val="0"/>
              </a:spcBef>
              <a:buNone/>
            </a:pPr>
            <a:r>
              <a:rPr sz="1950" b="1">
                <a:solidFill>
                  <a:srgbClr val="C00000"/>
                </a:solidFill>
                <a:latin typeface="Roboto Black"/>
                <a:ea typeface="Roboto Black"/>
                <a:cs typeface="Roboto Black"/>
              </a:rPr>
              <a:t>Vì sao topology quan trọng?</a:t>
            </a:r>
          </a:p>
          <a:p>
            <a:pPr>
              <a:spcBef>
                <a:spcPts val="600"/>
              </a:spcBef>
              <a:buNone/>
            </a:pPr>
            <a:r>
              <a:rPr sz="1700" b="0">
                <a:solidFill>
                  <a:srgbClr val="222222"/>
                </a:solidFill>
                <a:latin typeface="Roboto Medium"/>
                <a:ea typeface="Roboto Medium"/>
                <a:cs typeface="Roboto Medium"/>
              </a:rPr>
              <a:t>Nó vừa là đòn bẩy hiệu năng, vừa là kênh lan truyền lỗi, vừa là bề mặt tấn công.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Bốn thách thức chính của MAS</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5</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05840"/>
            <a:ext cx="914400" cy="2194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0584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C1</a:t>
            </a:r>
          </a:p>
        </p:txBody>
      </p:sp>
      <p:sp>
        <p:nvSpPr>
          <p:cNvPr id="10" name="Rectangle 9"/>
          <p:cNvSpPr/>
          <p:nvPr/>
        </p:nvSpPr>
        <p:spPr>
          <a:xfrm>
            <a:off x="1463039" y="100584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00200" y="109728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Chi phí</a:t>
            </a:r>
          </a:p>
          <a:p>
            <a:pPr>
              <a:spcBef>
                <a:spcPts val="600"/>
              </a:spcBef>
              <a:buNone/>
            </a:pPr>
            <a:r>
              <a:rPr sz="1650" b="0">
                <a:solidFill>
                  <a:srgbClr val="222222"/>
                </a:solidFill>
                <a:latin typeface="Roboto Medium"/>
                <a:ea typeface="Roboto Medium"/>
                <a:cs typeface="Roboto Medium"/>
              </a:rPr>
              <a:t>Nhiều lần gọi LLM, context dài → token, năng lượng GPU, latency tăng nhanh.</a:t>
            </a:r>
          </a:p>
          <a:p>
            <a:pPr>
              <a:spcBef>
                <a:spcPts val="1000"/>
              </a:spcBef>
              <a:buNone/>
            </a:pPr>
            <a:r>
              <a:rPr sz="1600" b="1">
                <a:solidFill>
                  <a:srgbClr val="C00000"/>
                </a:solidFill>
                <a:latin typeface="Roboto Black"/>
                <a:ea typeface="Roboto Black"/>
                <a:cs typeface="Roboto Black"/>
              </a:rPr>
              <a:t>→ ProgRouter · DAIN</a:t>
            </a:r>
          </a:p>
        </p:txBody>
      </p:sp>
      <p:sp>
        <p:nvSpPr>
          <p:cNvPr id="12" name="Rounded Rectangle 11"/>
          <p:cNvSpPr/>
          <p:nvPr/>
        </p:nvSpPr>
        <p:spPr>
          <a:xfrm>
            <a:off x="6172200" y="1005840"/>
            <a:ext cx="914400" cy="21945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72200" y="100584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C2</a:t>
            </a:r>
          </a:p>
        </p:txBody>
      </p:sp>
      <p:sp>
        <p:nvSpPr>
          <p:cNvPr id="14" name="Rectangle 13"/>
          <p:cNvSpPr/>
          <p:nvPr/>
        </p:nvSpPr>
        <p:spPr>
          <a:xfrm>
            <a:off x="7223760" y="100584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60920" y="109728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Quá tải context</a:t>
            </a:r>
          </a:p>
          <a:p>
            <a:pPr>
              <a:spcBef>
                <a:spcPts val="600"/>
              </a:spcBef>
              <a:buNone/>
            </a:pPr>
            <a:r>
              <a:rPr sz="1650" b="0">
                <a:solidFill>
                  <a:srgbClr val="222222"/>
                </a:solidFill>
                <a:latin typeface="Roboto Medium"/>
                <a:ea typeface="Roboto Medium"/>
                <a:cs typeface="Roboto Medium"/>
              </a:rPr>
              <a:t>“Lost in the middle”; compaction hay pruning đều làm mất thông tin.</a:t>
            </a:r>
          </a:p>
          <a:p>
            <a:pPr>
              <a:spcBef>
                <a:spcPts val="1000"/>
              </a:spcBef>
              <a:buNone/>
            </a:pPr>
            <a:r>
              <a:rPr sz="1600" b="1">
                <a:solidFill>
                  <a:srgbClr val="C00000"/>
                </a:solidFill>
                <a:latin typeface="Roboto Black"/>
                <a:ea typeface="Roboto Black"/>
                <a:cs typeface="Roboto Black"/>
              </a:rPr>
              <a:t>→ AGENT-RADAR</a:t>
            </a:r>
          </a:p>
        </p:txBody>
      </p:sp>
      <p:sp>
        <p:nvSpPr>
          <p:cNvPr id="16" name="Rounded Rectangle 15"/>
          <p:cNvSpPr/>
          <p:nvPr/>
        </p:nvSpPr>
        <p:spPr>
          <a:xfrm>
            <a:off x="411480" y="3474720"/>
            <a:ext cx="914400" cy="21945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480" y="347472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C3</a:t>
            </a:r>
          </a:p>
        </p:txBody>
      </p:sp>
      <p:sp>
        <p:nvSpPr>
          <p:cNvPr id="18" name="Rectangle 17"/>
          <p:cNvSpPr/>
          <p:nvPr/>
        </p:nvSpPr>
        <p:spPr>
          <a:xfrm>
            <a:off x="1463039" y="347472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00200" y="356616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Lan truyền lỗi</a:t>
            </a:r>
          </a:p>
          <a:p>
            <a:pPr>
              <a:spcBef>
                <a:spcPts val="600"/>
              </a:spcBef>
              <a:buNone/>
            </a:pPr>
            <a:r>
              <a:rPr sz="1650" b="0">
                <a:solidFill>
                  <a:srgbClr val="222222"/>
                </a:solidFill>
                <a:latin typeface="Roboto Medium"/>
                <a:ea typeface="Roboto Medium"/>
                <a:cs typeface="Roboto Medium"/>
              </a:rPr>
              <a:t>Hallucination hoặc misinformation lan theo cạnh và bị khuếch đại.</a:t>
            </a:r>
          </a:p>
          <a:p>
            <a:pPr>
              <a:spcBef>
                <a:spcPts val="1000"/>
              </a:spcBef>
              <a:buNone/>
            </a:pPr>
            <a:r>
              <a:rPr sz="1600" b="1">
                <a:solidFill>
                  <a:srgbClr val="C00000"/>
                </a:solidFill>
                <a:latin typeface="Roboto Black"/>
                <a:ea typeface="Roboto Black"/>
                <a:cs typeface="Roboto Black"/>
              </a:rPr>
              <a:t>→ HalluProp · TIDE</a:t>
            </a:r>
          </a:p>
        </p:txBody>
      </p:sp>
      <p:sp>
        <p:nvSpPr>
          <p:cNvPr id="20" name="Rounded Rectangle 19"/>
          <p:cNvSpPr/>
          <p:nvPr/>
        </p:nvSpPr>
        <p:spPr>
          <a:xfrm>
            <a:off x="6172200" y="3474720"/>
            <a:ext cx="914400" cy="2194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72200" y="3474720"/>
            <a:ext cx="914400" cy="219456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C4</a:t>
            </a:r>
          </a:p>
        </p:txBody>
      </p:sp>
      <p:sp>
        <p:nvSpPr>
          <p:cNvPr id="22" name="Rectangle 21"/>
          <p:cNvSpPr/>
          <p:nvPr/>
        </p:nvSpPr>
        <p:spPr>
          <a:xfrm>
            <a:off x="7223760" y="3474720"/>
            <a:ext cx="4553712" cy="21945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60920" y="3566160"/>
            <a:ext cx="4297680" cy="20116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Bảo mật topology</a:t>
            </a:r>
          </a:p>
          <a:p>
            <a:pPr>
              <a:spcBef>
                <a:spcPts val="600"/>
              </a:spcBef>
              <a:buNone/>
            </a:pPr>
            <a:r>
              <a:rPr sz="1650" b="0">
                <a:solidFill>
                  <a:srgbClr val="222222"/>
                </a:solidFill>
                <a:latin typeface="Roboto Medium"/>
                <a:ea typeface="Roboto Medium"/>
                <a:cs typeface="Roboto Medium"/>
              </a:rPr>
              <a:t>Topology là tài sản trí tuệ; lộ topology → tấn công có chủ đích.</a:t>
            </a:r>
          </a:p>
          <a:p>
            <a:pPr>
              <a:spcBef>
                <a:spcPts val="1000"/>
              </a:spcBef>
              <a:buNone/>
            </a:pPr>
            <a:r>
              <a:rPr sz="1600" b="1">
                <a:solidFill>
                  <a:srgbClr val="C00000"/>
                </a:solidFill>
                <a:latin typeface="Roboto Black"/>
                <a:ea typeface="Roboto Black"/>
                <a:cs typeface="Roboto Black"/>
              </a:rPr>
              <a:t>→ MIRAGE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Tám paper được khảo sát</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6</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graphicFrame>
        <p:nvGraphicFramePr>
          <p:cNvPr id="8" name="Table 7"/>
          <p:cNvGraphicFramePr>
            <a:graphicFrameLocks noGrp="1"/>
          </p:cNvGraphicFramePr>
          <p:nvPr/>
        </p:nvGraphicFramePr>
        <p:xfrm>
          <a:off x="411480" y="960120"/>
          <a:ext cx="7680960" cy="4608576"/>
        </p:xfrm>
        <a:graphic>
          <a:graphicData uri="http://schemas.openxmlformats.org/drawingml/2006/table">
            <a:tbl>
              <a:tblPr firstRow="0" bandRow="0"/>
              <a:tblGrid>
                <a:gridCol w="411480"/>
                <a:gridCol w="1554480"/>
                <a:gridCol w="3291840"/>
                <a:gridCol w="731520"/>
                <a:gridCol w="1691640"/>
              </a:tblGrid>
              <a:tr h="512064">
                <a:tc>
                  <a:txBody>
                    <a:bodyPr wrap="square"/>
                    <a:lstStyle/>
                    <a:p>
                      <a:pPr>
                        <a:spcBef>
                          <a:spcPts val="0"/>
                        </a:spcBef>
                        <a:buNone/>
                      </a:pPr>
                      <a:r>
                        <a:rPr sz="1400" b="1">
                          <a:solidFill>
                            <a:srgbClr val="FFFFFF"/>
                          </a:solidFill>
                          <a:latin typeface="Roboto Black"/>
                          <a:ea typeface="Roboto Black"/>
                          <a:cs typeface="Roboto Black"/>
                        </a:rPr>
                        <a:t>#</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Paper</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Chủ đề chính</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Nộp</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Nhóm</a:t>
                      </a:r>
                    </a:p>
                  </a:txBody>
                  <a:tcPr marL="54864" marR="54864" marT="27432" marB="27432" anchor="ctr">
                    <a:solidFill>
                      <a:srgbClr val="003366"/>
                    </a:solidFill>
                  </a:tcPr>
                </a:tc>
              </a:tr>
              <a:tr h="512064">
                <a:tc>
                  <a:txBody>
                    <a:bodyPr wrap="square"/>
                    <a:lstStyle/>
                    <a:p>
                      <a:pPr>
                        <a:spcBef>
                          <a:spcPts val="0"/>
                        </a:spcBef>
                        <a:buNone/>
                      </a:pPr>
                      <a:r>
                        <a:rPr sz="1400" b="1">
                          <a:solidFill>
                            <a:srgbClr val="003366"/>
                          </a:solidFill>
                          <a:latin typeface="Roboto Black"/>
                          <a:ea typeface="Roboto Black"/>
                          <a:cs typeface="Roboto Black"/>
                        </a:rPr>
                        <a:t>1</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MIRAGE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Che giấu topology bằng phantom structure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29/09</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Safety</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2</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MAC-RRG</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Multi-agent cho radiology report generation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20/09</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Application</a:t>
                      </a:r>
                    </a:p>
                  </a:txBody>
                  <a:tcPr marL="54864" marR="54864" marT="27432" marB="27432" anchor="ctr">
                    <a:solidFill>
                      <a:srgbClr val="F3F6FB"/>
                    </a:solidFill>
                  </a:tcPr>
                </a:tc>
              </a:tr>
              <a:tr h="512064">
                <a:tc>
                  <a:txBody>
                    <a:bodyPr wrap="square"/>
                    <a:lstStyle/>
                    <a:p>
                      <a:pPr>
                        <a:spcBef>
                          <a:spcPts val="0"/>
                        </a:spcBef>
                        <a:buNone/>
                      </a:pPr>
                      <a:r>
                        <a:rPr sz="1400" b="1">
                          <a:solidFill>
                            <a:srgbClr val="003366"/>
                          </a:solidFill>
                          <a:latin typeface="Roboto Black"/>
                          <a:ea typeface="Roboto Black"/>
                          <a:cs typeface="Roboto Black"/>
                        </a:rPr>
                        <a:t>3</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ProgRouter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Routing LLM theo tiến độ, có ngân sách</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26/08</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Orchestration</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4</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TIDE</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Misinformation khi sự thật bị phân tán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04/08</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Safety</a:t>
                      </a:r>
                    </a:p>
                  </a:txBody>
                  <a:tcPr marL="54864" marR="54864" marT="27432" marB="27432" anchor="ctr">
                    <a:solidFill>
                      <a:srgbClr val="F3F6FB"/>
                    </a:solidFill>
                  </a:tcPr>
                </a:tc>
              </a:tr>
              <a:tr h="512064">
                <a:tc>
                  <a:txBody>
                    <a:bodyPr wrap="square"/>
                    <a:lstStyle/>
                    <a:p>
                      <a:pPr>
                        <a:spcBef>
                          <a:spcPts val="0"/>
                        </a:spcBef>
                        <a:buNone/>
                      </a:pPr>
                      <a:r>
                        <a:rPr sz="1400" b="1">
                          <a:solidFill>
                            <a:srgbClr val="003366"/>
                          </a:solidFill>
                          <a:latin typeface="Roboto Black"/>
                          <a:ea typeface="Roboto Black"/>
                          <a:cs typeface="Roboto Black"/>
                        </a:rPr>
                        <a:t>5</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HalluProp</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Dự báo rủi ro hallucination pre-hoc</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29/07</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Orchestration</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6</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UrbanAgent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Urban region profiling (KDD’26)</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15/07</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Application</a:t>
                      </a:r>
                    </a:p>
                  </a:txBody>
                  <a:tcPr marL="54864" marR="54864" marT="27432" marB="27432" anchor="ctr">
                    <a:solidFill>
                      <a:srgbClr val="F3F6FB"/>
                    </a:solidFill>
                  </a:tcPr>
                </a:tc>
              </a:tr>
              <a:tr h="512064">
                <a:tc>
                  <a:txBody>
                    <a:bodyPr wrap="square"/>
                    <a:lstStyle/>
                    <a:p>
                      <a:pPr>
                        <a:spcBef>
                          <a:spcPts val="0"/>
                        </a:spcBef>
                        <a:buNone/>
                      </a:pPr>
                      <a:r>
                        <a:rPr sz="1400" b="1">
                          <a:solidFill>
                            <a:srgbClr val="003366"/>
                          </a:solidFill>
                          <a:latin typeface="Roboto Black"/>
                          <a:ea typeface="Roboto Black"/>
                          <a:cs typeface="Roboto Black"/>
                        </a:rPr>
                        <a:t>7</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DAIN</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Dynamic agent interaction network</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29/06</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Communication</a:t>
                      </a:r>
                    </a:p>
                  </a:txBody>
                  <a:tcPr marL="54864" marR="54864" marT="27432" marB="27432" anchor="ctr">
                    <a:solidFill>
                      <a:srgbClr val="FFFFFF"/>
                    </a:solidFill>
                  </a:tcPr>
                </a:tc>
              </a:tr>
              <a:tr h="512064">
                <a:tc>
                  <a:txBody>
                    <a:bodyPr wrap="square"/>
                    <a:lstStyle/>
                    <a:p>
                      <a:pPr>
                        <a:spcBef>
                          <a:spcPts val="0"/>
                        </a:spcBef>
                        <a:buNone/>
                      </a:pPr>
                      <a:r>
                        <a:rPr sz="1400" b="1">
                          <a:solidFill>
                            <a:srgbClr val="003366"/>
                          </a:solidFill>
                          <a:latin typeface="Roboto Black"/>
                          <a:ea typeface="Roboto Black"/>
                          <a:cs typeface="Roboto Black"/>
                        </a:rPr>
                        <a:t>8</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AGENT-RADAR</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Attention steering cho MAS</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28/05</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Communication</a:t>
                      </a:r>
                    </a:p>
                  </a:txBody>
                  <a:tcPr marL="54864" marR="54864" marT="27432" marB="27432" anchor="ctr">
                    <a:solidFill>
                      <a:srgbClr val="F3F6FB"/>
                    </a:solidFill>
                  </a:tcPr>
                </a:tc>
              </a:tr>
            </a:tbl>
          </a:graphicData>
        </a:graphic>
      </p:graphicFrame>
      <p:sp>
        <p:nvSpPr>
          <p:cNvPr id="9" name="Rectangle 8"/>
          <p:cNvSpPr/>
          <p:nvPr/>
        </p:nvSpPr>
        <p:spPr>
          <a:xfrm>
            <a:off x="8321040" y="960120"/>
            <a:ext cx="3456432" cy="4617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321040" y="960120"/>
            <a:ext cx="345643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67344" y="1069848"/>
            <a:ext cx="3182112" cy="443484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Cách chọn bài</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Nguồn: </a:t>
            </a:r>
            <a:r>
              <a:rPr sz="1600" b="1">
                <a:solidFill>
                  <a:srgbClr val="003366"/>
                </a:solidFill>
                <a:latin typeface="Roboto Black"/>
                <a:ea typeface="Roboto Black"/>
                <a:cs typeface="Roboto Black"/>
              </a:rPr>
              <a:t>arXiv</a:t>
            </a:r>
            <a:r>
              <a:rPr sz="1600" b="0">
                <a:solidFill>
                  <a:srgbClr val="222222"/>
                </a:solidFill>
                <a:latin typeface="Roboto Medium"/>
                <a:ea typeface="Roboto Medium"/>
                <a:cs typeface="Roboto Medium"/>
              </a:rPr>
              <a:t>.</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Abstract chứa “multi-agent” và “collaborative reasoning”.</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Lấy </a:t>
            </a:r>
            <a:r>
              <a:rPr sz="1600" b="1">
                <a:solidFill>
                  <a:srgbClr val="003366"/>
                </a:solidFill>
                <a:latin typeface="Roboto Black"/>
                <a:ea typeface="Roboto Black"/>
                <a:cs typeface="Roboto Black"/>
              </a:rPr>
              <a:t>8 bài mới nhất</a:t>
            </a:r>
            <a:r>
              <a:rPr sz="1600" b="0">
                <a:solidFill>
                  <a:srgbClr val="222222"/>
                </a:solidFill>
                <a:latin typeface="Roboto Medium"/>
                <a:ea typeface="Roboto Medium"/>
                <a:cs typeface="Roboto Medium"/>
              </a:rPr>
              <a:t> (05–09/2026).</a:t>
            </a:r>
          </a:p>
          <a:p>
            <a:pPr>
              <a:spcBef>
                <a:spcPts val="1400"/>
              </a:spcBef>
              <a:buNone/>
            </a:pPr>
            <a:r>
              <a:rPr sz="1900" b="1">
                <a:solidFill>
                  <a:srgbClr val="C00000"/>
                </a:solidFill>
                <a:latin typeface="Roboto Black"/>
                <a:ea typeface="Roboto Black"/>
                <a:cs typeface="Roboto Black"/>
              </a:rPr>
              <a:t>Lưu ý</a:t>
            </a:r>
          </a:p>
          <a:p>
            <a:pPr marL="125984" indent="-125984">
              <a:spcBef>
                <a:spcPts val="600"/>
              </a:spcBef>
              <a:buClr>
                <a:srgbClr val="C00000"/>
              </a:buClr>
              <a:buFont typeface="Arial"/>
              <a:buChar char="•"/>
            </a:pPr>
            <a:r>
              <a:rPr sz="1600" b="1">
                <a:solidFill>
                  <a:srgbClr val="C00000"/>
                </a:solidFill>
                <a:latin typeface="Roboto Black"/>
                <a:ea typeface="Roboto Black"/>
                <a:cs typeface="Roboto Black"/>
              </a:rPr>
              <a:t>7/8</a:t>
            </a:r>
            <a:r>
              <a:rPr sz="1600" b="0">
                <a:solidFill>
                  <a:srgbClr val="222222"/>
                </a:solidFill>
                <a:latin typeface="Roboto Medium"/>
                <a:ea typeface="Roboto Medium"/>
                <a:cs typeface="Roboto Medium"/>
              </a:rPr>
              <a:t> là preprint; chỉ UrbanAgent đã được nhận ở KDD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Taxonomy: bốn hướng nghiên cứu</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7</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ectangle 7"/>
          <p:cNvSpPr/>
          <p:nvPr/>
        </p:nvSpPr>
        <p:spPr>
          <a:xfrm>
            <a:off x="411480"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11480" y="1005840"/>
            <a:ext cx="269748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Safety &amp; Robustness</a:t>
            </a:r>
          </a:p>
        </p:txBody>
      </p:sp>
      <p:sp>
        <p:nvSpPr>
          <p:cNvPr id="11" name="TextBox 10"/>
          <p:cNvSpPr txBox="1"/>
          <p:nvPr/>
        </p:nvSpPr>
        <p:spPr>
          <a:xfrm>
            <a:off x="521208"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Hệ thống có chống chịu được tấn công và thông tin sai?</a:t>
            </a:r>
          </a:p>
        </p:txBody>
      </p:sp>
      <p:sp>
        <p:nvSpPr>
          <p:cNvPr id="12" name="Rounded Rectangle 11"/>
          <p:cNvSpPr/>
          <p:nvPr/>
        </p:nvSpPr>
        <p:spPr>
          <a:xfrm>
            <a:off x="548640"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#1 MIRAGE</a:t>
            </a:r>
          </a:p>
        </p:txBody>
      </p:sp>
      <p:sp>
        <p:nvSpPr>
          <p:cNvPr id="14" name="Rounded Rectangle 13"/>
          <p:cNvSpPr/>
          <p:nvPr/>
        </p:nvSpPr>
        <p:spPr>
          <a:xfrm>
            <a:off x="548640"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#4 TIDE</a:t>
            </a:r>
          </a:p>
        </p:txBody>
      </p:sp>
      <p:sp>
        <p:nvSpPr>
          <p:cNvPr id="16" name="Rectangle 15"/>
          <p:cNvSpPr/>
          <p:nvPr/>
        </p:nvSpPr>
        <p:spPr>
          <a:xfrm>
            <a:off x="3291840"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291840" y="1005840"/>
            <a:ext cx="269748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291840"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Orchestration &amp; Control</a:t>
            </a:r>
          </a:p>
        </p:txBody>
      </p:sp>
      <p:sp>
        <p:nvSpPr>
          <p:cNvPr id="19" name="TextBox 18"/>
          <p:cNvSpPr txBox="1"/>
          <p:nvPr/>
        </p:nvSpPr>
        <p:spPr>
          <a:xfrm>
            <a:off x="3401568"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Ai chạy, chạy bằng model nào, agent nào rủi ro?</a:t>
            </a:r>
          </a:p>
        </p:txBody>
      </p:sp>
      <p:sp>
        <p:nvSpPr>
          <p:cNvPr id="20" name="Rounded Rectangle 19"/>
          <p:cNvSpPr/>
          <p:nvPr/>
        </p:nvSpPr>
        <p:spPr>
          <a:xfrm>
            <a:off x="3429000"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429000"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#3 ProgRouter</a:t>
            </a:r>
          </a:p>
        </p:txBody>
      </p:sp>
      <p:sp>
        <p:nvSpPr>
          <p:cNvPr id="22" name="Rounded Rectangle 21"/>
          <p:cNvSpPr/>
          <p:nvPr/>
        </p:nvSpPr>
        <p:spPr>
          <a:xfrm>
            <a:off x="3429000"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9000"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#5 HalluProp</a:t>
            </a:r>
          </a:p>
        </p:txBody>
      </p:sp>
      <p:sp>
        <p:nvSpPr>
          <p:cNvPr id="24" name="Rectangle 23"/>
          <p:cNvSpPr/>
          <p:nvPr/>
        </p:nvSpPr>
        <p:spPr>
          <a:xfrm>
            <a:off x="6172200"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172200" y="1005840"/>
            <a:ext cx="269748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72200"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Communication &amp; Interaction</a:t>
            </a:r>
          </a:p>
        </p:txBody>
      </p:sp>
      <p:sp>
        <p:nvSpPr>
          <p:cNvPr id="27" name="TextBox 26"/>
          <p:cNvSpPr txBox="1"/>
          <p:nvPr/>
        </p:nvSpPr>
        <p:spPr>
          <a:xfrm>
            <a:off x="6281928"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Agent trao đổi gì, với ai, mức độ nào?</a:t>
            </a:r>
          </a:p>
        </p:txBody>
      </p:sp>
      <p:sp>
        <p:nvSpPr>
          <p:cNvPr id="28" name="Rounded Rectangle 27"/>
          <p:cNvSpPr/>
          <p:nvPr/>
        </p:nvSpPr>
        <p:spPr>
          <a:xfrm>
            <a:off x="6309360"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09360"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#7 DAIN</a:t>
            </a:r>
          </a:p>
        </p:txBody>
      </p:sp>
      <p:sp>
        <p:nvSpPr>
          <p:cNvPr id="30" name="Rounded Rectangle 29"/>
          <p:cNvSpPr/>
          <p:nvPr/>
        </p:nvSpPr>
        <p:spPr>
          <a:xfrm>
            <a:off x="6309360"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09360"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#8 AGENT-RADAR</a:t>
            </a:r>
          </a:p>
        </p:txBody>
      </p:sp>
      <p:sp>
        <p:nvSpPr>
          <p:cNvPr id="32" name="Rectangle 31"/>
          <p:cNvSpPr/>
          <p:nvPr/>
        </p:nvSpPr>
        <p:spPr>
          <a:xfrm>
            <a:off x="9052559" y="1005840"/>
            <a:ext cx="2697480" cy="4206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052559" y="1005840"/>
            <a:ext cx="269748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052559" y="1005840"/>
            <a:ext cx="2697480" cy="566928"/>
          </a:xfrm>
          <a:prstGeom prst="rect">
            <a:avLst/>
          </a:prstGeom>
          <a:noFill/>
        </p:spPr>
        <p:txBody>
          <a:bodyPr wrap="square" anchor="ctr" lIns="45720" rIns="45720" tIns="18288" bIns="18288"/>
          <a:lstStyle/>
          <a:p>
            <a:pPr algn="ctr">
              <a:spcBef>
                <a:spcPts val="0"/>
              </a:spcBef>
              <a:buNone/>
            </a:pPr>
            <a:r>
              <a:rPr sz="1400" b="1">
                <a:solidFill>
                  <a:srgbClr val="FFFFFF"/>
                </a:solidFill>
                <a:latin typeface="Roboto Black"/>
                <a:ea typeface="Roboto Black"/>
                <a:cs typeface="Roboto Black"/>
              </a:rPr>
              <a:t>Domain Applications</a:t>
            </a:r>
          </a:p>
        </p:txBody>
      </p:sp>
      <p:sp>
        <p:nvSpPr>
          <p:cNvPr id="35" name="TextBox 34"/>
          <p:cNvSpPr txBox="1"/>
          <p:nvPr/>
        </p:nvSpPr>
        <p:spPr>
          <a:xfrm>
            <a:off x="9162287" y="1691640"/>
            <a:ext cx="2478024" cy="1463040"/>
          </a:xfrm>
          <a:prstGeom prst="rect">
            <a:avLst/>
          </a:prstGeom>
          <a:noFill/>
        </p:spPr>
        <p:txBody>
          <a:bodyPr wrap="square" anchor="t" lIns="45720" rIns="45720" tIns="18288" bIns="18288"/>
          <a:lstStyle/>
          <a:p>
            <a:pPr>
              <a:spcBef>
                <a:spcPts val="0"/>
              </a:spcBef>
              <a:buNone/>
            </a:pPr>
            <a:r>
              <a:rPr sz="1400" b="1">
                <a:solidFill>
                  <a:srgbClr val="666666"/>
                </a:solidFill>
                <a:latin typeface="Roboto Black"/>
                <a:ea typeface="Roboto Black"/>
                <a:cs typeface="Roboto Black"/>
              </a:rPr>
              <a:t>Câu hỏi chính</a:t>
            </a:r>
          </a:p>
          <a:p>
            <a:pPr>
              <a:spcBef>
                <a:spcPts val="400"/>
              </a:spcBef>
              <a:buNone/>
            </a:pPr>
            <a:r>
              <a:rPr sz="1600" b="0">
                <a:solidFill>
                  <a:srgbClr val="222222"/>
                </a:solidFill>
                <a:latin typeface="Roboto Medium"/>
                <a:ea typeface="Roboto Medium"/>
                <a:cs typeface="Roboto Medium"/>
              </a:rPr>
              <a:t>Áp dụng cộng tác vào bài toán chuyên ngành.</a:t>
            </a:r>
          </a:p>
        </p:txBody>
      </p:sp>
      <p:sp>
        <p:nvSpPr>
          <p:cNvPr id="36" name="Rounded Rectangle 35"/>
          <p:cNvSpPr/>
          <p:nvPr/>
        </p:nvSpPr>
        <p:spPr>
          <a:xfrm>
            <a:off x="9189719" y="338328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189719" y="338328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#2 MAC-RRG</a:t>
            </a:r>
          </a:p>
        </p:txBody>
      </p:sp>
      <p:sp>
        <p:nvSpPr>
          <p:cNvPr id="38" name="Rounded Rectangle 37"/>
          <p:cNvSpPr/>
          <p:nvPr/>
        </p:nvSpPr>
        <p:spPr>
          <a:xfrm>
            <a:off x="9189719" y="4206240"/>
            <a:ext cx="2423160" cy="658368"/>
          </a:xfrm>
          <a:prstGeom prst="roundRect">
            <a:avLst>
              <a:gd name="adj" fmla="val 12000"/>
            </a:avLst>
          </a:prstGeom>
          <a:solidFill>
            <a:srgbClr val="FFFFFF"/>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89719" y="4206240"/>
            <a:ext cx="2423160" cy="658368"/>
          </a:xfrm>
          <a:prstGeom prst="rect">
            <a:avLst/>
          </a:prstGeom>
          <a:noFill/>
        </p:spPr>
        <p:txBody>
          <a:bodyPr wrap="square" anchor="ctr" lIns="45720" rIns="45720" tIns="18288" bIns="18288"/>
          <a:lstStyle/>
          <a:p>
            <a:pPr algn="ctr">
              <a:spcBef>
                <a:spcPts val="0"/>
              </a:spcBef>
              <a:buNone/>
            </a:pPr>
            <a:r>
              <a:rPr sz="1600" b="1">
                <a:solidFill>
                  <a:srgbClr val="003366"/>
                </a:solidFill>
                <a:latin typeface="Roboto Black"/>
                <a:ea typeface="Roboto Black"/>
                <a:cs typeface="Roboto Black"/>
              </a:rPr>
              <a:t>#6 UrbanAgent</a:t>
            </a:r>
          </a:p>
        </p:txBody>
      </p:sp>
      <p:sp>
        <p:nvSpPr>
          <p:cNvPr id="40" name="TextBox 39"/>
          <p:cNvSpPr txBox="1"/>
          <p:nvPr/>
        </p:nvSpPr>
        <p:spPr>
          <a:xfrm>
            <a:off x="411480" y="5394960"/>
            <a:ext cx="11365992" cy="502920"/>
          </a:xfrm>
          <a:prstGeom prst="rect">
            <a:avLst/>
          </a:prstGeom>
          <a:noFill/>
        </p:spPr>
        <p:txBody>
          <a:bodyPr wrap="square" anchor="t" lIns="45720" rIns="45720" tIns="18288" bIns="18288"/>
          <a:lstStyle/>
          <a:p>
            <a:pPr>
              <a:spcBef>
                <a:spcPts val="0"/>
              </a:spcBef>
              <a:buNone/>
            </a:pPr>
            <a:r>
              <a:rPr sz="1500" b="0">
                <a:solidFill>
                  <a:srgbClr val="666666"/>
                </a:solidFill>
                <a:latin typeface="Roboto Medium"/>
                <a:ea typeface="Roboto Medium"/>
                <a:cs typeface="Roboto Medium"/>
              </a:rPr>
              <a:t>Phân loại theo </a:t>
            </a:r>
            <a:r>
              <a:rPr sz="1500" b="1">
                <a:solidFill>
                  <a:srgbClr val="003366"/>
                </a:solidFill>
                <a:latin typeface="Roboto Black"/>
                <a:ea typeface="Roboto Black"/>
                <a:cs typeface="Roboto Black"/>
              </a:rPr>
              <a:t>mục tiêu chính</a:t>
            </a:r>
            <a:r>
              <a:rPr sz="1500" b="0">
                <a:solidFill>
                  <a:srgbClr val="666666"/>
                </a:solidFill>
                <a:latin typeface="Roboto Medium"/>
                <a:ea typeface="Roboto Medium"/>
                <a:cs typeface="Roboto Medium"/>
              </a:rPr>
              <a:t>; nhiều bài thuộc nhiều nhóm (VD: HalluProp vừa là orchestration vừa là safety).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Mỗi phương pháp can thiệp ở đâu trong lifecycle của MAS</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1. Giới thiệu</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8</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Thiết kế role</a:t>
            </a:r>
          </a:p>
          <a:p>
            <a:pPr algn="ctr">
              <a:spcBef>
                <a:spcPts val="0"/>
              </a:spcBef>
              <a:buNone/>
            </a:pPr>
            <a:r>
              <a:rPr sz="1600" b="1">
                <a:solidFill>
                  <a:srgbClr val="FFFFFF"/>
                </a:solidFill>
                <a:latin typeface="Roboto Black"/>
                <a:ea typeface="Roboto Black"/>
                <a:cs typeface="Roboto Black"/>
              </a:rPr>
              <a:t>&amp; graph</a:t>
            </a:r>
          </a:p>
        </p:txBody>
      </p:sp>
      <p:sp>
        <p:nvSpPr>
          <p:cNvPr id="10" name="Right Arrow 9"/>
          <p:cNvSpPr/>
          <p:nvPr/>
        </p:nvSpPr>
        <p:spPr>
          <a:xfrm>
            <a:off x="240487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14600"/>
            <a:ext cx="1965960" cy="566928"/>
          </a:xfrm>
          <a:prstGeom prst="roundRect">
            <a:avLst>
              <a:gd name="adj" fmla="val 12000"/>
            </a:avLst>
          </a:prstGeom>
          <a:solidFill>
            <a:srgbClr val="F3F6FB"/>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11480" y="2514600"/>
            <a:ext cx="1965960" cy="566928"/>
          </a:xfrm>
          <a:prstGeom prst="rect">
            <a:avLst/>
          </a:prstGeom>
          <a:noFill/>
        </p:spPr>
        <p:txBody>
          <a:bodyPr wrap="square" anchor="ctr" lIns="45720" rIns="45720" tIns="18288" bIns="18288"/>
          <a:lstStyle/>
          <a:p>
            <a:pPr algn="ctr">
              <a:spcBef>
                <a:spcPts val="0"/>
              </a:spcBef>
              <a:buNone/>
            </a:pPr>
            <a:r>
              <a:rPr sz="1400" b="1">
                <a:solidFill>
                  <a:srgbClr val="003366"/>
                </a:solidFill>
                <a:latin typeface="Roboto Black"/>
                <a:ea typeface="Roboto Black"/>
                <a:cs typeface="Roboto Black"/>
              </a:rPr>
              <a:t>#5 HalluProp (pre-hoc)</a:t>
            </a:r>
          </a:p>
        </p:txBody>
      </p:sp>
      <p:sp>
        <p:nvSpPr>
          <p:cNvPr id="13" name="Rounded Rectangle 12"/>
          <p:cNvSpPr/>
          <p:nvPr/>
        </p:nvSpPr>
        <p:spPr>
          <a:xfrm>
            <a:off x="274320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74320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Điều phối</a:t>
            </a:r>
          </a:p>
          <a:p>
            <a:pPr algn="ctr">
              <a:spcBef>
                <a:spcPts val="0"/>
              </a:spcBef>
              <a:buNone/>
            </a:pPr>
            <a:r>
              <a:rPr sz="1600" b="1">
                <a:solidFill>
                  <a:srgbClr val="FFFFFF"/>
                </a:solidFill>
                <a:latin typeface="Roboto Black"/>
                <a:ea typeface="Roboto Black"/>
                <a:cs typeface="Roboto Black"/>
              </a:rPr>
              <a:t>&amp; kích hoạt</a:t>
            </a:r>
          </a:p>
        </p:txBody>
      </p:sp>
      <p:sp>
        <p:nvSpPr>
          <p:cNvPr id="15" name="Right Arrow 14"/>
          <p:cNvSpPr/>
          <p:nvPr/>
        </p:nvSpPr>
        <p:spPr>
          <a:xfrm>
            <a:off x="473659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43200" y="2514600"/>
            <a:ext cx="1965960" cy="566928"/>
          </a:xfrm>
          <a:prstGeom prst="roundRect">
            <a:avLst>
              <a:gd name="adj" fmla="val 12000"/>
            </a:avLst>
          </a:prstGeom>
          <a:solidFill>
            <a:srgbClr val="F3F6FB"/>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743200" y="2514600"/>
            <a:ext cx="1965960" cy="566928"/>
          </a:xfrm>
          <a:prstGeom prst="rect">
            <a:avLst/>
          </a:prstGeom>
          <a:noFill/>
        </p:spPr>
        <p:txBody>
          <a:bodyPr wrap="square" anchor="ctr" lIns="45720" rIns="45720" tIns="18288" bIns="18288"/>
          <a:lstStyle/>
          <a:p>
            <a:pPr algn="ctr">
              <a:spcBef>
                <a:spcPts val="0"/>
              </a:spcBef>
              <a:buNone/>
            </a:pPr>
            <a:r>
              <a:rPr sz="1400" b="1">
                <a:solidFill>
                  <a:srgbClr val="003366"/>
                </a:solidFill>
                <a:latin typeface="Roboto Black"/>
                <a:ea typeface="Roboto Black"/>
                <a:cs typeface="Roboto Black"/>
              </a:rPr>
              <a:t>#3 ProgRouter</a:t>
            </a:r>
          </a:p>
        </p:txBody>
      </p:sp>
      <p:sp>
        <p:nvSpPr>
          <p:cNvPr id="18" name="Rounded Rectangle 17"/>
          <p:cNvSpPr/>
          <p:nvPr/>
        </p:nvSpPr>
        <p:spPr>
          <a:xfrm>
            <a:off x="2743200" y="3227832"/>
            <a:ext cx="1965960" cy="566928"/>
          </a:xfrm>
          <a:prstGeom prst="roundRect">
            <a:avLst>
              <a:gd name="adj" fmla="val 12000"/>
            </a:avLst>
          </a:prstGeom>
          <a:solidFill>
            <a:srgbClr val="EEF6EE"/>
          </a:solidFill>
          <a:ln w="952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743200" y="3227832"/>
            <a:ext cx="1965960" cy="566928"/>
          </a:xfrm>
          <a:prstGeom prst="rect">
            <a:avLst/>
          </a:prstGeom>
          <a:noFill/>
        </p:spPr>
        <p:txBody>
          <a:bodyPr wrap="square" anchor="ctr" lIns="45720" rIns="45720" tIns="18288" bIns="18288"/>
          <a:lstStyle/>
          <a:p>
            <a:pPr algn="ctr">
              <a:spcBef>
                <a:spcPts val="0"/>
              </a:spcBef>
              <a:buNone/>
            </a:pPr>
            <a:r>
              <a:rPr sz="1400" b="1">
                <a:solidFill>
                  <a:srgbClr val="1E6B3A"/>
                </a:solidFill>
                <a:latin typeface="Roboto Black"/>
                <a:ea typeface="Roboto Black"/>
                <a:cs typeface="Roboto Black"/>
              </a:rPr>
              <a:t>#7 DAIN (gating)</a:t>
            </a:r>
          </a:p>
        </p:txBody>
      </p:sp>
      <p:sp>
        <p:nvSpPr>
          <p:cNvPr id="20" name="Rounded Rectangle 19"/>
          <p:cNvSpPr/>
          <p:nvPr/>
        </p:nvSpPr>
        <p:spPr>
          <a:xfrm>
            <a:off x="507492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492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Giao tiếp</a:t>
            </a:r>
          </a:p>
          <a:p>
            <a:pPr algn="ctr">
              <a:spcBef>
                <a:spcPts val="0"/>
              </a:spcBef>
              <a:buNone/>
            </a:pPr>
            <a:r>
              <a:rPr sz="1600" b="1">
                <a:solidFill>
                  <a:srgbClr val="FFFFFF"/>
                </a:solidFill>
                <a:latin typeface="Roboto Black"/>
                <a:ea typeface="Roboto Black"/>
                <a:cs typeface="Roboto Black"/>
              </a:rPr>
              <a:t>&amp; suy luận</a:t>
            </a:r>
          </a:p>
        </p:txBody>
      </p:sp>
      <p:sp>
        <p:nvSpPr>
          <p:cNvPr id="22" name="Right Arrow 21"/>
          <p:cNvSpPr/>
          <p:nvPr/>
        </p:nvSpPr>
        <p:spPr>
          <a:xfrm>
            <a:off x="706831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514600"/>
            <a:ext cx="1965960" cy="566928"/>
          </a:xfrm>
          <a:prstGeom prst="roundRect">
            <a:avLst>
              <a:gd name="adj" fmla="val 12000"/>
            </a:avLst>
          </a:prstGeom>
          <a:solidFill>
            <a:srgbClr val="EEF6EE"/>
          </a:solidFill>
          <a:ln w="952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74920" y="2514600"/>
            <a:ext cx="1965960" cy="566928"/>
          </a:xfrm>
          <a:prstGeom prst="rect">
            <a:avLst/>
          </a:prstGeom>
          <a:noFill/>
        </p:spPr>
        <p:txBody>
          <a:bodyPr wrap="square" anchor="ctr" lIns="45720" rIns="45720" tIns="18288" bIns="18288"/>
          <a:lstStyle/>
          <a:p>
            <a:pPr algn="ctr">
              <a:spcBef>
                <a:spcPts val="0"/>
              </a:spcBef>
              <a:buNone/>
            </a:pPr>
            <a:r>
              <a:rPr sz="1400" b="1">
                <a:solidFill>
                  <a:srgbClr val="1E6B3A"/>
                </a:solidFill>
                <a:latin typeface="Roboto Black"/>
                <a:ea typeface="Roboto Black"/>
                <a:cs typeface="Roboto Black"/>
              </a:rPr>
              <a:t>#8 AGENT-RADAR</a:t>
            </a:r>
          </a:p>
        </p:txBody>
      </p:sp>
      <p:sp>
        <p:nvSpPr>
          <p:cNvPr id="25" name="Rounded Rectangle 24"/>
          <p:cNvSpPr/>
          <p:nvPr/>
        </p:nvSpPr>
        <p:spPr>
          <a:xfrm>
            <a:off x="5074920" y="3227832"/>
            <a:ext cx="1965960" cy="566928"/>
          </a:xfrm>
          <a:prstGeom prst="roundRect">
            <a:avLst>
              <a:gd name="adj" fmla="val 12000"/>
            </a:avLst>
          </a:prstGeom>
          <a:solidFill>
            <a:srgbClr val="EEF6EE"/>
          </a:solidFill>
          <a:ln w="952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4920" y="3227832"/>
            <a:ext cx="1965960" cy="566928"/>
          </a:xfrm>
          <a:prstGeom prst="rect">
            <a:avLst/>
          </a:prstGeom>
          <a:noFill/>
        </p:spPr>
        <p:txBody>
          <a:bodyPr wrap="square" anchor="ctr" lIns="45720" rIns="45720" tIns="18288" bIns="18288"/>
          <a:lstStyle/>
          <a:p>
            <a:pPr algn="ctr">
              <a:spcBef>
                <a:spcPts val="0"/>
              </a:spcBef>
              <a:buNone/>
            </a:pPr>
            <a:r>
              <a:rPr sz="1400" b="1">
                <a:solidFill>
                  <a:srgbClr val="1E6B3A"/>
                </a:solidFill>
                <a:latin typeface="Roboto Black"/>
                <a:ea typeface="Roboto Black"/>
                <a:cs typeface="Roboto Black"/>
              </a:rPr>
              <a:t>#7 DAIN (graph)</a:t>
            </a:r>
          </a:p>
        </p:txBody>
      </p:sp>
      <p:sp>
        <p:nvSpPr>
          <p:cNvPr id="27" name="Rounded Rectangle 26"/>
          <p:cNvSpPr/>
          <p:nvPr/>
        </p:nvSpPr>
        <p:spPr>
          <a:xfrm>
            <a:off x="5074920" y="3941064"/>
            <a:ext cx="1965960" cy="566928"/>
          </a:xfrm>
          <a:prstGeom prst="roundRect">
            <a:avLst>
              <a:gd name="adj" fmla="val 12000"/>
            </a:avLst>
          </a:prstGeom>
          <a:solidFill>
            <a:srgbClr val="FDF5E6"/>
          </a:solidFill>
          <a:ln w="9525">
            <a:solidFill>
              <a:srgbClr val="9A64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74920" y="3941064"/>
            <a:ext cx="1965960" cy="566928"/>
          </a:xfrm>
          <a:prstGeom prst="rect">
            <a:avLst/>
          </a:prstGeom>
          <a:noFill/>
        </p:spPr>
        <p:txBody>
          <a:bodyPr wrap="square" anchor="ctr" lIns="45720" rIns="45720" tIns="18288" bIns="18288"/>
          <a:lstStyle/>
          <a:p>
            <a:pPr algn="ctr">
              <a:spcBef>
                <a:spcPts val="0"/>
              </a:spcBef>
              <a:buNone/>
            </a:pPr>
            <a:r>
              <a:rPr sz="1400" b="1">
                <a:solidFill>
                  <a:srgbClr val="9A6408"/>
                </a:solidFill>
                <a:latin typeface="Roboto Black"/>
                <a:ea typeface="Roboto Black"/>
                <a:cs typeface="Roboto Black"/>
              </a:rPr>
              <a:t>#6 UrbanAgent</a:t>
            </a:r>
          </a:p>
        </p:txBody>
      </p:sp>
      <p:sp>
        <p:nvSpPr>
          <p:cNvPr id="29" name="Rounded Rectangle 28"/>
          <p:cNvSpPr/>
          <p:nvPr/>
        </p:nvSpPr>
        <p:spPr>
          <a:xfrm>
            <a:off x="5074920" y="4654296"/>
            <a:ext cx="1965960" cy="566928"/>
          </a:xfrm>
          <a:prstGeom prst="roundRect">
            <a:avLst>
              <a:gd name="adj" fmla="val 12000"/>
            </a:avLst>
          </a:prstGeom>
          <a:solidFill>
            <a:srgbClr val="FDF5E6"/>
          </a:solidFill>
          <a:ln w="9525">
            <a:solidFill>
              <a:srgbClr val="9A64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74920" y="4654296"/>
            <a:ext cx="1965960" cy="566928"/>
          </a:xfrm>
          <a:prstGeom prst="rect">
            <a:avLst/>
          </a:prstGeom>
          <a:noFill/>
        </p:spPr>
        <p:txBody>
          <a:bodyPr wrap="square" anchor="ctr" lIns="45720" rIns="45720" tIns="18288" bIns="18288"/>
          <a:lstStyle/>
          <a:p>
            <a:pPr algn="ctr">
              <a:spcBef>
                <a:spcPts val="0"/>
              </a:spcBef>
              <a:buNone/>
            </a:pPr>
            <a:r>
              <a:rPr sz="1400" b="1">
                <a:solidFill>
                  <a:srgbClr val="9A6408"/>
                </a:solidFill>
                <a:latin typeface="Roboto Black"/>
                <a:ea typeface="Roboto Black"/>
                <a:cs typeface="Roboto Black"/>
              </a:rPr>
              <a:t>#2 MAC-RRG</a:t>
            </a:r>
          </a:p>
        </p:txBody>
      </p:sp>
      <p:sp>
        <p:nvSpPr>
          <p:cNvPr id="31" name="Rounded Rectangle 30"/>
          <p:cNvSpPr/>
          <p:nvPr/>
        </p:nvSpPr>
        <p:spPr>
          <a:xfrm>
            <a:off x="7406640"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06640"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Tổng hợp</a:t>
            </a:r>
          </a:p>
          <a:p>
            <a:pPr algn="ctr">
              <a:spcBef>
                <a:spcPts val="0"/>
              </a:spcBef>
              <a:buNone/>
            </a:pPr>
            <a:r>
              <a:rPr sz="1600" b="1">
                <a:solidFill>
                  <a:srgbClr val="FFFFFF"/>
                </a:solidFill>
                <a:latin typeface="Roboto Black"/>
                <a:ea typeface="Roboto Black"/>
                <a:cs typeface="Roboto Black"/>
              </a:rPr>
              <a:t>&amp; phơi bày</a:t>
            </a:r>
          </a:p>
        </p:txBody>
      </p:sp>
      <p:sp>
        <p:nvSpPr>
          <p:cNvPr id="33" name="Right Arrow 32"/>
          <p:cNvSpPr/>
          <p:nvPr/>
        </p:nvSpPr>
        <p:spPr>
          <a:xfrm>
            <a:off x="9400032" y="1554480"/>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06640" y="2514600"/>
            <a:ext cx="1965960" cy="566928"/>
          </a:xfrm>
          <a:prstGeom prst="roundRect">
            <a:avLst>
              <a:gd name="adj" fmla="val 12000"/>
            </a:avLst>
          </a:prstGeom>
          <a:solidFill>
            <a:srgbClr val="FCF4F4"/>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406640" y="2514600"/>
            <a:ext cx="1965960" cy="566928"/>
          </a:xfrm>
          <a:prstGeom prst="rect">
            <a:avLst/>
          </a:prstGeom>
          <a:noFill/>
        </p:spPr>
        <p:txBody>
          <a:bodyPr wrap="square" anchor="ctr" lIns="45720" rIns="45720" tIns="18288" bIns="18288"/>
          <a:lstStyle/>
          <a:p>
            <a:pPr algn="ctr">
              <a:spcBef>
                <a:spcPts val="0"/>
              </a:spcBef>
              <a:buNone/>
            </a:pPr>
            <a:r>
              <a:rPr sz="1400" b="1">
                <a:solidFill>
                  <a:srgbClr val="C00000"/>
                </a:solidFill>
                <a:latin typeface="Roboto Black"/>
                <a:ea typeface="Roboto Black"/>
                <a:cs typeface="Roboto Black"/>
              </a:rPr>
              <a:t>#1 MIRAGE</a:t>
            </a:r>
          </a:p>
        </p:txBody>
      </p:sp>
      <p:sp>
        <p:nvSpPr>
          <p:cNvPr id="36" name="Rounded Rectangle 35"/>
          <p:cNvSpPr/>
          <p:nvPr/>
        </p:nvSpPr>
        <p:spPr>
          <a:xfrm>
            <a:off x="9738359" y="1188720"/>
            <a:ext cx="1965960" cy="10515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38359" y="1188720"/>
            <a:ext cx="1965960" cy="1051560"/>
          </a:xfrm>
          <a:prstGeom prst="rect">
            <a:avLst/>
          </a:prstGeom>
          <a:noFill/>
        </p:spPr>
        <p:txBody>
          <a:bodyPr wrap="square" anchor="ctr" lIns="45720" rIns="45720" tIns="18288" bIns="18288"/>
          <a:lstStyle/>
          <a:p>
            <a:pPr algn="ctr">
              <a:spcBef>
                <a:spcPts val="0"/>
              </a:spcBef>
              <a:buNone/>
            </a:pPr>
            <a:r>
              <a:rPr sz="1600" b="1">
                <a:solidFill>
                  <a:srgbClr val="FFFFFF"/>
                </a:solidFill>
                <a:latin typeface="Roboto Black"/>
                <a:ea typeface="Roboto Black"/>
                <a:cs typeface="Roboto Black"/>
              </a:rPr>
              <a:t>Đánh giá</a:t>
            </a:r>
          </a:p>
          <a:p>
            <a:pPr algn="ctr">
              <a:spcBef>
                <a:spcPts val="0"/>
              </a:spcBef>
              <a:buNone/>
            </a:pPr>
            <a:r>
              <a:rPr sz="1600" b="1">
                <a:solidFill>
                  <a:srgbClr val="FFFFFF"/>
                </a:solidFill>
                <a:latin typeface="Roboto Black"/>
                <a:ea typeface="Roboto Black"/>
                <a:cs typeface="Roboto Black"/>
              </a:rPr>
              <a:t>&amp; kiểm toán</a:t>
            </a:r>
          </a:p>
        </p:txBody>
      </p:sp>
      <p:sp>
        <p:nvSpPr>
          <p:cNvPr id="38" name="Rounded Rectangle 37"/>
          <p:cNvSpPr/>
          <p:nvPr/>
        </p:nvSpPr>
        <p:spPr>
          <a:xfrm>
            <a:off x="9738359" y="2514600"/>
            <a:ext cx="1965960" cy="566928"/>
          </a:xfrm>
          <a:prstGeom prst="roundRect">
            <a:avLst>
              <a:gd name="adj" fmla="val 12000"/>
            </a:avLst>
          </a:prstGeom>
          <a:solidFill>
            <a:srgbClr val="FCF4F4"/>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738359" y="2514600"/>
            <a:ext cx="1965960" cy="566928"/>
          </a:xfrm>
          <a:prstGeom prst="rect">
            <a:avLst/>
          </a:prstGeom>
          <a:noFill/>
        </p:spPr>
        <p:txBody>
          <a:bodyPr wrap="square" anchor="ctr" lIns="45720" rIns="45720" tIns="18288" bIns="18288"/>
          <a:lstStyle/>
          <a:p>
            <a:pPr algn="ctr">
              <a:spcBef>
                <a:spcPts val="0"/>
              </a:spcBef>
              <a:buNone/>
            </a:pPr>
            <a:r>
              <a:rPr sz="1400" b="1">
                <a:solidFill>
                  <a:srgbClr val="C00000"/>
                </a:solidFill>
                <a:latin typeface="Roboto Black"/>
                <a:ea typeface="Roboto Black"/>
                <a:cs typeface="Roboto Black"/>
              </a:rPr>
              <a:t>#4 TIDE</a:t>
            </a:r>
          </a:p>
        </p:txBody>
      </p:sp>
      <p:sp>
        <p:nvSpPr>
          <p:cNvPr id="40" name="TextBox 39"/>
          <p:cNvSpPr txBox="1"/>
          <p:nvPr/>
        </p:nvSpPr>
        <p:spPr>
          <a:xfrm>
            <a:off x="411480" y="5532120"/>
            <a:ext cx="11365992" cy="457200"/>
          </a:xfrm>
          <a:prstGeom prst="rect">
            <a:avLst/>
          </a:prstGeom>
          <a:noFill/>
        </p:spPr>
        <p:txBody>
          <a:bodyPr wrap="square" anchor="t" lIns="45720" rIns="45720" tIns="18288" bIns="18288"/>
          <a:lstStyle/>
          <a:p>
            <a:pPr>
              <a:spcBef>
                <a:spcPts val="0"/>
              </a:spcBef>
              <a:buNone/>
            </a:pPr>
            <a:r>
              <a:rPr sz="1400" b="0">
                <a:solidFill>
                  <a:srgbClr val="666666"/>
                </a:solidFill>
                <a:latin typeface="Roboto Medium"/>
                <a:ea typeface="Roboto Medium"/>
                <a:cs typeface="Roboto Medium"/>
              </a:rPr>
              <a:t>Màu: </a:t>
            </a:r>
            <a:r>
              <a:rPr sz="1400" b="1">
                <a:solidFill>
                  <a:srgbClr val="C00000"/>
                </a:solidFill>
                <a:latin typeface="Roboto Black"/>
                <a:ea typeface="Roboto Black"/>
                <a:cs typeface="Roboto Black"/>
              </a:rPr>
              <a:t>đỏ</a:t>
            </a:r>
            <a:r>
              <a:rPr sz="1400" b="0">
                <a:solidFill>
                  <a:srgbClr val="666666"/>
                </a:solidFill>
                <a:latin typeface="Roboto Medium"/>
                <a:ea typeface="Roboto Medium"/>
                <a:cs typeface="Roboto Medium"/>
              </a:rPr>
              <a:t> Safety · </a:t>
            </a:r>
            <a:r>
              <a:rPr sz="1400" b="1">
                <a:solidFill>
                  <a:srgbClr val="003366"/>
                </a:solidFill>
                <a:latin typeface="Roboto Black"/>
                <a:ea typeface="Roboto Black"/>
                <a:cs typeface="Roboto Black"/>
              </a:rPr>
              <a:t>xanh navy</a:t>
            </a:r>
            <a:r>
              <a:rPr sz="1400" b="0">
                <a:solidFill>
                  <a:srgbClr val="666666"/>
                </a:solidFill>
                <a:latin typeface="Roboto Medium"/>
                <a:ea typeface="Roboto Medium"/>
                <a:cs typeface="Roboto Medium"/>
              </a:rPr>
              <a:t> Orchestration · xanh lá Communication · vàng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2.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02</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2</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Safety &amp; Robustness</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MIRAGE: che giấu topology của MAS</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TIDE: misinformation khi sự thật bị phân tán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Đặt vấn đề</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10</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TextBox 21"/>
          <p:cNvSpPr txBox="1"/>
          <p:nvPr/>
        </p:nvSpPr>
        <p:spPr>
          <a:xfrm>
            <a:off x="411480" y="914400"/>
            <a:ext cx="6903720" cy="3429000"/>
          </a:xfrm>
          <a:prstGeom prst="rect">
            <a:avLst/>
          </a:prstGeom>
          <a:noFill/>
        </p:spPr>
        <p:txBody>
          <a:bodyPr wrap="square" anchor="t" lIns="45720" rIns="45720" tIns="18288" bIns="18288"/>
          <a:lstStyle/>
          <a:p>
            <a:pPr>
              <a:spcBef>
                <a:spcPts val="0"/>
              </a:spcBef>
              <a:spcAft>
                <a:spcPts val="0"/>
              </a:spcAft>
              <a:buNone/>
            </a:pPr>
            <a:r>
              <a:rPr sz="2200" b="1">
                <a:solidFill>
                  <a:srgbClr val="003366"/>
                </a:solidFill>
                <a:latin typeface="Roboto Black"/>
                <a:ea typeface="Roboto Black"/>
                <a:cs typeface="Roboto Black"/>
              </a:rPr>
              <a:t>Bối cảnh</a:t>
            </a:r>
          </a:p>
          <a:p>
            <a:pPr marL="138250" indent="-138250">
              <a:spcBef>
                <a:spcPts val="500"/>
              </a:spcBef>
              <a:spcAft>
                <a:spcPts val="0"/>
              </a:spcAft>
              <a:buClr>
                <a:srgbClr val="C00000"/>
              </a:buClr>
              <a:buFont typeface="Arial"/>
              <a:buChar char="•"/>
            </a:pPr>
            <a:r>
              <a:rPr sz="1750" b="1">
                <a:solidFill>
                  <a:srgbClr val="003366"/>
                </a:solidFill>
                <a:latin typeface="Roboto Black"/>
                <a:ea typeface="Roboto Black"/>
                <a:cs typeface="Roboto Black"/>
              </a:rPr>
              <a:t>Topology giao tiếp</a:t>
            </a:r>
            <a:r>
              <a:rPr sz="1750" b="0">
                <a:solidFill>
                  <a:srgbClr val="222222"/>
                </a:solidFill>
                <a:latin typeface="Roboto Medium"/>
                <a:ea typeface="Roboto Medium"/>
                <a:cs typeface="Roboto Medium"/>
              </a:rPr>
              <a:t xml:space="preserve"> (DAG: agent nào chuyển output cho agent nào) quyết định chất lượng suy luận của MAS.</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 xml:space="preserve">Topology tốt được tối ưu tự động (G-Designer, AGP, ARG-Designer) → tốn tài nguyên, là </a:t>
            </a:r>
            <a:r>
              <a:rPr sz="1750" b="1">
                <a:solidFill>
                  <a:srgbClr val="003366"/>
                </a:solidFill>
                <a:latin typeface="Roboto Black"/>
                <a:ea typeface="Roboto Black"/>
                <a:cs typeface="Roboto Black"/>
              </a:rPr>
              <a:t>tài sản trí tuệ</a:t>
            </a:r>
            <a:r>
              <a:rPr sz="1750" b="0">
                <a:solidFill>
                  <a:srgbClr val="222222"/>
                </a:solidFill>
                <a:latin typeface="Roboto Medium"/>
                <a:ea typeface="Roboto Medium"/>
                <a:cs typeface="Roboto Medium"/>
              </a:rPr>
              <a:t>.</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 xml:space="preserve">Tấn công </a:t>
            </a:r>
            <a:r>
              <a:rPr sz="1750" b="1">
                <a:solidFill>
                  <a:srgbClr val="003366"/>
                </a:solidFill>
                <a:latin typeface="Roboto Black"/>
                <a:ea typeface="Roboto Black"/>
                <a:cs typeface="Roboto Black"/>
              </a:rPr>
              <a:t>CIA</a:t>
            </a:r>
            <a:r>
              <a:rPr sz="1750" b="0">
                <a:solidFill>
                  <a:srgbClr val="222222"/>
                </a:solidFill>
                <a:latin typeface="Roboto Medium"/>
                <a:ea typeface="Roboto Medium"/>
                <a:cs typeface="Roboto Medium"/>
              </a:rPr>
              <a:t xml:space="preserve"> (Wu et al., 2026): chỉ cần truy vấn hộp đen, ép MAS để lộ output trung gian, rồi suy ra cạnh vì hai agent nối trực tiếp có output </a:t>
            </a:r>
            <a:r>
              <a:rPr sz="1750" b="1">
                <a:solidFill>
                  <a:srgbClr val="003366"/>
                </a:solidFill>
                <a:latin typeface="Roboto Black"/>
                <a:ea typeface="Roboto Black"/>
                <a:cs typeface="Roboto Black"/>
              </a:rPr>
              <a:t>phụ thuộc ngữ nghĩa</a:t>
            </a:r>
            <a:r>
              <a:rPr sz="1750" b="0">
                <a:solidFill>
                  <a:srgbClr val="222222"/>
                </a:solidFill>
                <a:latin typeface="Roboto Medium"/>
                <a:ea typeface="Roboto Medium"/>
                <a:cs typeface="Roboto Medium"/>
              </a:rPr>
              <a:t xml:space="preserve"> mạnh hơn.</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 xml:space="preserve">Phòng thủ MAS hiện có (BlindGuard, GUARDIAN, TRiSM) chỉ bảo vệ </a:t>
            </a:r>
            <a:r>
              <a:rPr sz="1750" b="1">
                <a:solidFill>
                  <a:srgbClr val="003366"/>
                </a:solidFill>
                <a:latin typeface="Roboto Black"/>
                <a:ea typeface="Roboto Black"/>
                <a:cs typeface="Roboto Black"/>
              </a:rPr>
              <a:t>nội dung / hành vi</a:t>
            </a:r>
            <a:r>
              <a:rPr sz="1750" b="0">
                <a:solidFill>
                  <a:srgbClr val="222222"/>
                </a:solidFill>
                <a:latin typeface="Roboto Medium"/>
                <a:ea typeface="Roboto Medium"/>
                <a:cs typeface="Roboto Medium"/>
              </a:rPr>
              <a:t>, chưa bảo vệ cấu trúc.</a:t>
            </a:r>
          </a:p>
        </p:txBody>
      </p:sp>
      <p:sp>
        <p:nvSpPr>
          <p:cNvPr id="22" name="Card 22"/>
          <p:cNvSpPr/>
          <p:nvPr/>
        </p:nvSpPr>
        <p:spPr>
          <a:xfrm>
            <a:off x="7589520" y="960120"/>
            <a:ext cx="4187952" cy="160020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23" name="Card bar 23"/>
          <p:cNvSpPr/>
          <p:nvPr/>
        </p:nvSpPr>
        <p:spPr>
          <a:xfrm>
            <a:off x="7589520" y="960120"/>
            <a:ext cx="4187952" cy="54864"/>
          </a:xfrm>
          <a:prstGeom prst="rect">
            <a:avLst/>
          </a:prstGeom>
          <a:solidFill>
            <a:srgbClr val="C00000"/>
          </a:solidFill>
          <a:ln>
            <a:noFill/>
          </a:ln>
          <a:effectLst/>
        </p:spPr>
        <p:txBody>
          <a:bodyPr wrap="square" rtlCol="0" anchor="ctr" lIns="73152" rIns="73152" tIns="36576" bIns="36576"/>
          <a:lstStyle/>
          <a:p/>
        </p:txBody>
      </p:sp>
      <p:sp>
        <p:nvSpPr>
          <p:cNvPr id="24" name="TextBox 24"/>
          <p:cNvSpPr txBox="1"/>
          <p:nvPr/>
        </p:nvSpPr>
        <p:spPr>
          <a:xfrm>
            <a:off x="7726680" y="1078992"/>
            <a:ext cx="3931920" cy="1417320"/>
          </a:xfrm>
          <a:prstGeom prst="rect">
            <a:avLst/>
          </a:prstGeom>
          <a:noFill/>
        </p:spPr>
        <p:txBody>
          <a:bodyPr wrap="square" anchor="t" lIns="45720" rIns="45720" tIns="18288" bIns="18288"/>
          <a:lstStyle/>
          <a:p>
            <a:pPr>
              <a:spcBef>
                <a:spcPts val="0"/>
              </a:spcBef>
              <a:spcAft>
                <a:spcPts val="0"/>
              </a:spcAft>
              <a:buNone/>
            </a:pPr>
            <a:r>
              <a:rPr sz="1750" b="1">
                <a:solidFill>
                  <a:srgbClr val="C00000"/>
                </a:solidFill>
                <a:latin typeface="Roboto Black"/>
                <a:ea typeface="Roboto Black"/>
                <a:cs typeface="Roboto Black"/>
              </a:rPr>
              <a:t>Lộ điểm yếu cấu trúc</a:t>
            </a:r>
          </a:p>
          <a:p>
            <a:pPr>
              <a:spcBef>
                <a:spcPts val="300"/>
              </a:spcBef>
              <a:spcAft>
                <a:spcPts val="0"/>
              </a:spcAft>
              <a:buNone/>
            </a:pPr>
            <a:r>
              <a:rPr sz="1500" b="0">
                <a:solidFill>
                  <a:srgbClr val="222222"/>
                </a:solidFill>
                <a:latin typeface="Roboto Medium"/>
                <a:ea typeface="Roboto Medium"/>
                <a:cs typeface="Roboto Medium"/>
              </a:rPr>
              <a:t>Biết agent có in-degree / betweenness cao → jailbreak, prompt injection có chủ đích.</a:t>
            </a:r>
          </a:p>
        </p:txBody>
      </p:sp>
      <p:sp>
        <p:nvSpPr>
          <p:cNvPr id="25" name="Card 25"/>
          <p:cNvSpPr/>
          <p:nvPr/>
        </p:nvSpPr>
        <p:spPr>
          <a:xfrm>
            <a:off x="7589520" y="2743200"/>
            <a:ext cx="4187952" cy="160020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26" name="Card bar 26"/>
          <p:cNvSpPr/>
          <p:nvPr/>
        </p:nvSpPr>
        <p:spPr>
          <a:xfrm>
            <a:off x="7589520" y="2743200"/>
            <a:ext cx="4187952" cy="54864"/>
          </a:xfrm>
          <a:prstGeom prst="rect">
            <a:avLst/>
          </a:prstGeom>
          <a:solidFill>
            <a:srgbClr val="C00000"/>
          </a:solidFill>
          <a:ln>
            <a:noFill/>
          </a:ln>
          <a:effectLst/>
        </p:spPr>
        <p:txBody>
          <a:bodyPr wrap="square" rtlCol="0" anchor="ctr" lIns="73152" rIns="73152" tIns="36576" bIns="36576"/>
          <a:lstStyle/>
          <a:p/>
        </p:txBody>
      </p:sp>
      <p:sp>
        <p:nvSpPr>
          <p:cNvPr id="27" name="TextBox 27"/>
          <p:cNvSpPr txBox="1"/>
          <p:nvPr/>
        </p:nvSpPr>
        <p:spPr>
          <a:xfrm>
            <a:off x="7726680" y="2862072"/>
            <a:ext cx="3931920" cy="1417320"/>
          </a:xfrm>
          <a:prstGeom prst="rect">
            <a:avLst/>
          </a:prstGeom>
          <a:noFill/>
        </p:spPr>
        <p:txBody>
          <a:bodyPr wrap="square" anchor="t" lIns="45720" rIns="45720" tIns="18288" bIns="18288"/>
          <a:lstStyle/>
          <a:p>
            <a:pPr>
              <a:spcBef>
                <a:spcPts val="0"/>
              </a:spcBef>
              <a:spcAft>
                <a:spcPts val="0"/>
              </a:spcAft>
              <a:buNone/>
            </a:pPr>
            <a:r>
              <a:rPr sz="1750" b="1">
                <a:solidFill>
                  <a:srgbClr val="C00000"/>
                </a:solidFill>
                <a:latin typeface="Roboto Black"/>
                <a:ea typeface="Roboto Black"/>
                <a:cs typeface="Roboto Black"/>
              </a:rPr>
              <a:t>Mất tài sản trí tuệ</a:t>
            </a:r>
          </a:p>
          <a:p>
            <a:pPr>
              <a:spcBef>
                <a:spcPts val="300"/>
              </a:spcBef>
              <a:spcAft>
                <a:spcPts val="0"/>
              </a:spcAft>
              <a:buNone/>
            </a:pPr>
            <a:r>
              <a:rPr sz="1500" b="0">
                <a:solidFill>
                  <a:srgbClr val="222222"/>
                </a:solidFill>
                <a:latin typeface="Roboto Medium"/>
                <a:ea typeface="Roboto Medium"/>
                <a:cs typeface="Roboto Medium"/>
              </a:rPr>
              <a:t>Lộ thiết kế kiến trúc → bị sao chép trái phép, mất lợi thế cạnh tranh.</a:t>
            </a:r>
          </a:p>
        </p:txBody>
      </p:sp>
      <p:sp>
        <p:nvSpPr>
          <p:cNvPr id="28" name="Card 28"/>
          <p:cNvSpPr/>
          <p:nvPr/>
        </p:nvSpPr>
        <p:spPr>
          <a:xfrm>
            <a:off x="411480" y="4572000"/>
            <a:ext cx="11365992" cy="132588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9" name="Card bar 29"/>
          <p:cNvSpPr/>
          <p:nvPr/>
        </p:nvSpPr>
        <p:spPr>
          <a:xfrm>
            <a:off x="411480" y="4572000"/>
            <a:ext cx="11365992" cy="54864"/>
          </a:xfrm>
          <a:prstGeom prst="rect">
            <a:avLst/>
          </a:prstGeom>
          <a:solidFill>
            <a:srgbClr val="003366"/>
          </a:solidFill>
          <a:ln>
            <a:noFill/>
          </a:ln>
          <a:effectLst/>
        </p:spPr>
        <p:txBody>
          <a:bodyPr wrap="square" rtlCol="0" anchor="ctr" lIns="73152" rIns="73152" tIns="36576" bIns="36576"/>
          <a:lstStyle/>
          <a:p/>
        </p:txBody>
      </p:sp>
      <p:sp>
        <p:nvSpPr>
          <p:cNvPr id="30" name="TextBox 30"/>
          <p:cNvSpPr txBox="1"/>
          <p:nvPr/>
        </p:nvSpPr>
        <p:spPr>
          <a:xfrm>
            <a:off x="548640" y="4663440"/>
            <a:ext cx="11091672" cy="1188720"/>
          </a:xfrm>
          <a:prstGeom prst="rect">
            <a:avLst/>
          </a:prstGeom>
          <a:noFill/>
        </p:spPr>
        <p:txBody>
          <a:bodyPr wrap="square" anchor="t" lIns="45720" rIns="45720" tIns="18288" bIns="18288"/>
          <a:lstStyle/>
          <a:p>
            <a:pPr>
              <a:spcBef>
                <a:spcPts val="0"/>
              </a:spcBef>
              <a:spcAft>
                <a:spcPts val="0"/>
              </a:spcAft>
              <a:buNone/>
            </a:pPr>
            <a:r>
              <a:rPr sz="1850" b="1">
                <a:solidFill>
                  <a:srgbClr val="003366"/>
                </a:solidFill>
                <a:latin typeface="Roboto Black"/>
                <a:ea typeface="Roboto Black"/>
                <a:cs typeface="Roboto Black"/>
              </a:rPr>
              <a:t>Câu hỏi của paper</a:t>
            </a:r>
          </a:p>
          <a:p>
            <a:pPr>
              <a:spcBef>
                <a:spcPts val="300"/>
              </a:spcBef>
              <a:spcAft>
                <a:spcPts val="0"/>
              </a:spcAft>
              <a:buNone/>
            </a:pPr>
            <a:r>
              <a:rPr sz="1650" b="0">
                <a:solidFill>
                  <a:srgbClr val="222222"/>
                </a:solidFill>
                <a:latin typeface="Roboto Medium"/>
                <a:ea typeface="Roboto Medium"/>
                <a:cs typeface="Roboto Medium"/>
              </a:rPr>
              <a:t xml:space="preserve">Có thể bảo vệ topology khỏi tấn công suy luận mà </a:t>
            </a:r>
            <a:r>
              <a:rPr sz="1650" b="1">
                <a:solidFill>
                  <a:srgbClr val="003366"/>
                </a:solidFill>
                <a:latin typeface="Roboto Black"/>
                <a:ea typeface="Roboto Black"/>
                <a:cs typeface="Roboto Black"/>
              </a:rPr>
              <a:t>không</a:t>
            </a:r>
            <a:r>
              <a:rPr sz="1650" b="0">
                <a:solidFill>
                  <a:srgbClr val="222222"/>
                </a:solidFill>
                <a:latin typeface="Roboto Medium"/>
                <a:ea typeface="Roboto Medium"/>
                <a:cs typeface="Roboto Medium"/>
              </a:rPr>
              <a:t xml:space="preserve"> làm giảm chất lượng tác vụ? Khó vì phải phá bằng chứng ngữ nghĩa làm lộ cạnh thật, nhưng vẫn giữ luồng thông tin mà tác vụ cần.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Problem setting và threat model</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11</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TextBox 21"/>
          <p:cNvSpPr txBox="1"/>
          <p:nvPr/>
        </p:nvSpPr>
        <p:spPr>
          <a:xfrm>
            <a:off x="411480" y="914400"/>
            <a:ext cx="5760720" cy="2651760"/>
          </a:xfrm>
          <a:prstGeom prst="rect">
            <a:avLst/>
          </a:prstGeom>
          <a:noFill/>
        </p:spPr>
        <p:txBody>
          <a:bodyPr wrap="square" anchor="t" lIns="45720" rIns="45720" tIns="18288" bIns="18288"/>
          <a:lstStyle/>
          <a:p>
            <a:pPr>
              <a:spcBef>
                <a:spcPts val="0"/>
              </a:spcBef>
              <a:spcAft>
                <a:spcPts val="0"/>
              </a:spcAft>
              <a:buNone/>
            </a:pPr>
            <a:r>
              <a:rPr sz="2150" b="1">
                <a:solidFill>
                  <a:srgbClr val="003366"/>
                </a:solidFill>
                <a:latin typeface="Roboto Black"/>
                <a:ea typeface="Roboto Black"/>
                <a:cs typeface="Roboto Black"/>
              </a:rPr>
              <a:t>Mô hình hóa MAS:  S = (P, G)</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P = {p</a:t>
            </a:r>
            <a:r>
              <a:rPr sz="1750" b="0" baseline="-25000">
                <a:solidFill>
                  <a:srgbClr val="003366"/>
                </a:solidFill>
                <a:latin typeface="Roboto Medium"/>
                <a:ea typeface="Roboto Medium"/>
                <a:cs typeface="Roboto Medium"/>
              </a:rPr>
              <a:t>i</a:t>
            </a:r>
            <a:r>
              <a:rPr sz="1750" b="0">
                <a:solidFill>
                  <a:srgbClr val="222222"/>
                </a:solidFill>
                <a:latin typeface="Roboto Medium"/>
                <a:ea typeface="Roboto Medium"/>
                <a:cs typeface="Roboto Medium"/>
              </a:rPr>
              <a:t>}: profile của agent (system prompt, tool).</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G = (A, E) là DAG; cạnh (a</a:t>
            </a:r>
            <a:r>
              <a:rPr sz="1750" b="0" baseline="-25000">
                <a:solidFill>
                  <a:srgbClr val="003366"/>
                </a:solidFill>
                <a:latin typeface="Roboto Medium"/>
                <a:ea typeface="Roboto Medium"/>
                <a:cs typeface="Roboto Medium"/>
              </a:rPr>
              <a:t>j</a:t>
            </a:r>
            <a:r>
              <a:rPr sz="1750" b="0">
                <a:solidFill>
                  <a:srgbClr val="222222"/>
                </a:solidFill>
                <a:latin typeface="Roboto Medium"/>
                <a:ea typeface="Roboto Medium"/>
                <a:cs typeface="Roboto Medium"/>
              </a:rPr>
              <a:t>, a</a:t>
            </a:r>
            <a:r>
              <a:rPr sz="1750" b="0" baseline="-25000">
                <a:solidFill>
                  <a:srgbClr val="003366"/>
                </a:solidFill>
                <a:latin typeface="Roboto Medium"/>
                <a:ea typeface="Roboto Medium"/>
                <a:cs typeface="Roboto Medium"/>
              </a:rPr>
              <a:t>i</a:t>
            </a:r>
            <a:r>
              <a:rPr sz="1750" b="0">
                <a:solidFill>
                  <a:srgbClr val="222222"/>
                </a:solidFill>
                <a:latin typeface="Roboto Medium"/>
                <a:ea typeface="Roboto Medium"/>
                <a:cs typeface="Roboto Medium"/>
              </a:rPr>
              <a:t>) ∈ E: output của a</a:t>
            </a:r>
            <a:r>
              <a:rPr sz="1750" b="0" baseline="-25000">
                <a:solidFill>
                  <a:srgbClr val="003366"/>
                </a:solidFill>
                <a:latin typeface="Roboto Medium"/>
                <a:ea typeface="Roboto Medium"/>
                <a:cs typeface="Roboto Medium"/>
              </a:rPr>
              <a:t>j</a:t>
            </a:r>
            <a:r>
              <a:rPr sz="1750" b="0">
                <a:solidFill>
                  <a:srgbClr val="222222"/>
                </a:solidFill>
                <a:latin typeface="Roboto Medium"/>
                <a:ea typeface="Roboto Medium"/>
                <a:cs typeface="Roboto Medium"/>
              </a:rPr>
              <a:t xml:space="preserve"> được đưa vào input của a</a:t>
            </a:r>
            <a:r>
              <a:rPr sz="1750" b="0" baseline="-25000">
                <a:solidFill>
                  <a:srgbClr val="003366"/>
                </a:solidFill>
                <a:latin typeface="Roboto Medium"/>
                <a:ea typeface="Roboto Medium"/>
                <a:cs typeface="Roboto Medium"/>
              </a:rPr>
              <a:t>i</a:t>
            </a:r>
            <a:r>
              <a:rPr sz="1750" b="0">
                <a:solidFill>
                  <a:srgbClr val="222222"/>
                </a:solidFill>
                <a:latin typeface="Roboto Medium"/>
                <a:ea typeface="Roboto Medium"/>
                <a:cs typeface="Roboto Medium"/>
              </a:rPr>
              <a:t>.</a:t>
            </a:r>
          </a:p>
          <a:p>
            <a:pPr marL="138250" indent="-138250">
              <a:spcBef>
                <a:spcPts val="500"/>
              </a:spcBef>
              <a:spcAft>
                <a:spcPts val="0"/>
              </a:spcAft>
              <a:buClr>
                <a:srgbClr val="C00000"/>
              </a:buClr>
              <a:buFont typeface="Arial"/>
              <a:buChar char="•"/>
            </a:pPr>
            <a:r>
              <a:rPr sz="1750" b="0" i="1">
                <a:solidFill>
                  <a:srgbClr val="003366"/>
                </a:solidFill>
                <a:latin typeface="Roboto Medium"/>
                <a:ea typeface="Roboto Medium"/>
                <a:cs typeface="Roboto Medium"/>
              </a:rPr>
              <a:t>r</a:t>
            </a:r>
            <a:r>
              <a:rPr sz="1750" b="0" baseline="-25000">
                <a:solidFill>
                  <a:srgbClr val="003366"/>
                </a:solidFill>
                <a:latin typeface="Roboto Medium"/>
                <a:ea typeface="Roboto Medium"/>
                <a:cs typeface="Roboto Medium"/>
              </a:rPr>
              <a:t>i</a:t>
            </a:r>
            <a:r>
              <a:rPr sz="1750" b="0">
                <a:solidFill>
                  <a:srgbClr val="222222"/>
                </a:solidFill>
                <a:latin typeface="Roboto Medium"/>
                <a:ea typeface="Roboto Medium"/>
                <a:cs typeface="Roboto Medium"/>
              </a:rPr>
              <a:t xml:space="preserve"> </a:t>
            </a:r>
            <a:r>
              <a:rPr sz="1750" b="0" i="1">
                <a:solidFill>
                  <a:srgbClr val="003366"/>
                </a:solidFill>
                <a:latin typeface="Roboto Medium"/>
                <a:ea typeface="Roboto Medium"/>
                <a:cs typeface="Roboto Medium"/>
              </a:rPr>
              <a:t>= LLM(p</a:t>
            </a:r>
            <a:r>
              <a:rPr sz="1750" b="0" baseline="-25000">
                <a:solidFill>
                  <a:srgbClr val="003366"/>
                </a:solidFill>
                <a:latin typeface="Roboto Medium"/>
                <a:ea typeface="Roboto Medium"/>
                <a:cs typeface="Roboto Medium"/>
              </a:rPr>
              <a:t>i</a:t>
            </a:r>
            <a:r>
              <a:rPr sz="1750" b="0" i="1">
                <a:solidFill>
                  <a:srgbClr val="003366"/>
                </a:solidFill>
                <a:latin typeface="Roboto Medium"/>
                <a:ea typeface="Roboto Medium"/>
                <a:cs typeface="Roboto Medium"/>
              </a:rPr>
              <a:t>, q, O</a:t>
            </a:r>
            <a:r>
              <a:rPr sz="1750" b="0" baseline="-25000">
                <a:solidFill>
                  <a:srgbClr val="003366"/>
                </a:solidFill>
                <a:latin typeface="Roboto Medium"/>
                <a:ea typeface="Roboto Medium"/>
                <a:cs typeface="Roboto Medium"/>
              </a:rPr>
              <a:t>i</a:t>
            </a:r>
            <a:r>
              <a:rPr sz="1750" b="0" i="1">
                <a:solidFill>
                  <a:srgbClr val="003366"/>
                </a:solidFill>
                <a:latin typeface="Roboto Medium"/>
                <a:ea typeface="Roboto Medium"/>
                <a:cs typeface="Roboto Medium"/>
              </a:rPr>
              <a:t>)</a:t>
            </a:r>
            <a:r>
              <a:rPr sz="1750" b="0">
                <a:solidFill>
                  <a:srgbClr val="222222"/>
                </a:solidFill>
                <a:latin typeface="Roboto Medium"/>
                <a:ea typeface="Roboto Medium"/>
                <a:cs typeface="Roboto Medium"/>
              </a:rPr>
              <a:t>, với O</a:t>
            </a:r>
            <a:r>
              <a:rPr sz="1750" b="0" baseline="-25000">
                <a:solidFill>
                  <a:srgbClr val="003366"/>
                </a:solidFill>
                <a:latin typeface="Roboto Medium"/>
                <a:ea typeface="Roboto Medium"/>
                <a:cs typeface="Roboto Medium"/>
              </a:rPr>
              <a:t>i</a:t>
            </a:r>
            <a:r>
              <a:rPr sz="1750" b="0">
                <a:solidFill>
                  <a:srgbClr val="222222"/>
                </a:solidFill>
                <a:latin typeface="Roboto Medium"/>
                <a:ea typeface="Roboto Medium"/>
                <a:cs typeface="Roboto Medium"/>
              </a:rPr>
              <a:t xml:space="preserve"> = {r</a:t>
            </a:r>
            <a:r>
              <a:rPr sz="1750" b="0" baseline="-25000">
                <a:solidFill>
                  <a:srgbClr val="003366"/>
                </a:solidFill>
                <a:latin typeface="Roboto Medium"/>
                <a:ea typeface="Roboto Medium"/>
                <a:cs typeface="Roboto Medium"/>
              </a:rPr>
              <a:t>j</a:t>
            </a:r>
            <a:r>
              <a:rPr sz="1750" b="0">
                <a:solidFill>
                  <a:srgbClr val="222222"/>
                </a:solidFill>
                <a:latin typeface="Roboto Medium"/>
                <a:ea typeface="Roboto Medium"/>
                <a:cs typeface="Roboto Medium"/>
              </a:rPr>
              <a:t xml:space="preserve"> | (a</a:t>
            </a:r>
            <a:r>
              <a:rPr sz="1750" b="0" baseline="-25000">
                <a:solidFill>
                  <a:srgbClr val="003366"/>
                </a:solidFill>
                <a:latin typeface="Roboto Medium"/>
                <a:ea typeface="Roboto Medium"/>
                <a:cs typeface="Roboto Medium"/>
              </a:rPr>
              <a:t>j</a:t>
            </a:r>
            <a:r>
              <a:rPr sz="1750" b="0">
                <a:solidFill>
                  <a:srgbClr val="222222"/>
                </a:solidFill>
                <a:latin typeface="Roboto Medium"/>
                <a:ea typeface="Roboto Medium"/>
                <a:cs typeface="Roboto Medium"/>
              </a:rPr>
              <a:t>, a</a:t>
            </a:r>
            <a:r>
              <a:rPr sz="1750" b="0" baseline="-25000">
                <a:solidFill>
                  <a:srgbClr val="003366"/>
                </a:solidFill>
                <a:latin typeface="Roboto Medium"/>
                <a:ea typeface="Roboto Medium"/>
                <a:cs typeface="Roboto Medium"/>
              </a:rPr>
              <a:t>i</a:t>
            </a:r>
            <a:r>
              <a:rPr sz="1750" b="0">
                <a:solidFill>
                  <a:srgbClr val="222222"/>
                </a:solidFill>
                <a:latin typeface="Roboto Medium"/>
                <a:ea typeface="Roboto Medium"/>
                <a:cs typeface="Roboto Medium"/>
              </a:rPr>
              <a:t>) ∈ E}; đáp án cuối do decision agent a</a:t>
            </a:r>
            <a:r>
              <a:rPr sz="1750" b="0" baseline="-25000">
                <a:solidFill>
                  <a:srgbClr val="003366"/>
                </a:solidFill>
                <a:latin typeface="Roboto Medium"/>
                <a:ea typeface="Roboto Medium"/>
                <a:cs typeface="Roboto Medium"/>
              </a:rPr>
              <a:t>n</a:t>
            </a:r>
            <a:r>
              <a:rPr sz="1750" b="0">
                <a:solidFill>
                  <a:srgbClr val="222222"/>
                </a:solidFill>
                <a:latin typeface="Roboto Medium"/>
                <a:ea typeface="Roboto Medium"/>
                <a:cs typeface="Roboto Medium"/>
              </a:rPr>
              <a:t xml:space="preserve"> đưa ra.</a:t>
            </a:r>
          </a:p>
        </p:txBody>
      </p:sp>
      <p:sp>
        <p:nvSpPr>
          <p:cNvPr id="22" name="Card 22"/>
          <p:cNvSpPr/>
          <p:nvPr/>
        </p:nvSpPr>
        <p:spPr>
          <a:xfrm>
            <a:off x="411480" y="3291840"/>
            <a:ext cx="5760720" cy="260604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3" name="Card bar 23"/>
          <p:cNvSpPr/>
          <p:nvPr/>
        </p:nvSpPr>
        <p:spPr>
          <a:xfrm>
            <a:off x="411480" y="3291840"/>
            <a:ext cx="5760720" cy="54864"/>
          </a:xfrm>
          <a:prstGeom prst="rect">
            <a:avLst/>
          </a:prstGeom>
          <a:solidFill>
            <a:srgbClr val="003366"/>
          </a:solidFill>
          <a:ln>
            <a:noFill/>
          </a:ln>
          <a:effectLst/>
        </p:spPr>
        <p:txBody>
          <a:bodyPr wrap="square" rtlCol="0" anchor="ctr" lIns="73152" rIns="73152" tIns="36576" bIns="36576"/>
          <a:lstStyle/>
          <a:p/>
        </p:txBody>
      </p:sp>
      <p:sp>
        <p:nvSpPr>
          <p:cNvPr id="24" name="TextBox 24"/>
          <p:cNvSpPr txBox="1"/>
          <p:nvPr/>
        </p:nvSpPr>
        <p:spPr>
          <a:xfrm>
            <a:off x="548640" y="3401568"/>
            <a:ext cx="5486400" cy="2423160"/>
          </a:xfrm>
          <a:prstGeom prst="rect">
            <a:avLst/>
          </a:prstGeom>
          <a:noFill/>
        </p:spPr>
        <p:txBody>
          <a:bodyPr wrap="square" anchor="t" lIns="45720" rIns="45720" tIns="18288" bIns="18288"/>
          <a:lstStyle/>
          <a:p>
            <a:pPr>
              <a:spcBef>
                <a:spcPts val="0"/>
              </a:spcBef>
              <a:spcAft>
                <a:spcPts val="0"/>
              </a:spcAft>
              <a:buNone/>
            </a:pPr>
            <a:r>
              <a:rPr sz="1750" b="1">
                <a:solidFill>
                  <a:srgbClr val="003366"/>
                </a:solidFill>
                <a:latin typeface="Roboto Black"/>
                <a:ea typeface="Roboto Black"/>
                <a:cs typeface="Roboto Black"/>
              </a:rPr>
              <a:t>Threat model: kẻ tấn công hộp đen</a:t>
            </a:r>
          </a:p>
          <a:p>
            <a:pPr marL="118500" indent="-118500">
              <a:spcBef>
                <a:spcPts val="300"/>
              </a:spcBef>
              <a:spcAft>
                <a:spcPts val="0"/>
              </a:spcAft>
              <a:buClr>
                <a:srgbClr val="C00000"/>
              </a:buClr>
              <a:buFont typeface="Arial"/>
              <a:buChar char="•"/>
            </a:pPr>
            <a:r>
              <a:rPr sz="1500" b="0">
                <a:solidFill>
                  <a:srgbClr val="222222"/>
                </a:solidFill>
                <a:latin typeface="Roboto Medium"/>
                <a:ea typeface="Roboto Medium"/>
                <a:cs typeface="Roboto Medium"/>
              </a:rPr>
              <a:t>Chỉ gửi query và đọc phản hồi cuối S(q).</a:t>
            </a:r>
          </a:p>
          <a:p>
            <a:pPr marL="118500" indent="-118500">
              <a:spcBef>
                <a:spcPts val="300"/>
              </a:spcBef>
              <a:spcAft>
                <a:spcPts val="0"/>
              </a:spcAft>
              <a:buClr>
                <a:srgbClr val="C00000"/>
              </a:buClr>
              <a:buFont typeface="Arial"/>
              <a:buChar char="•"/>
            </a:pPr>
            <a:r>
              <a:rPr sz="1500" b="0">
                <a:solidFill>
                  <a:srgbClr val="222222"/>
                </a:solidFill>
                <a:latin typeface="Roboto Medium"/>
                <a:ea typeface="Roboto Medium"/>
                <a:cs typeface="Roboto Medium"/>
              </a:rPr>
              <a:t>Không thấy prompt, message nội bộ hay G; không sửa được agent / cạnh.</a:t>
            </a:r>
          </a:p>
          <a:p>
            <a:pPr marL="118500" indent="-118500">
              <a:spcBef>
                <a:spcPts val="300"/>
              </a:spcBef>
              <a:spcAft>
                <a:spcPts val="0"/>
              </a:spcAft>
              <a:buClr>
                <a:srgbClr val="C00000"/>
              </a:buClr>
              <a:buFont typeface="Arial"/>
              <a:buChar char="•"/>
            </a:pPr>
            <a:r>
              <a:rPr sz="1500" b="0">
                <a:solidFill>
                  <a:srgbClr val="222222"/>
                </a:solidFill>
                <a:latin typeface="Roboto Medium"/>
                <a:ea typeface="Roboto Medium"/>
                <a:cs typeface="Roboto Medium"/>
              </a:rPr>
              <a:t xml:space="preserve">Có thể </a:t>
            </a:r>
            <a:r>
              <a:rPr sz="1500" b="1">
                <a:solidFill>
                  <a:srgbClr val="003366"/>
                </a:solidFill>
                <a:latin typeface="Roboto Black"/>
                <a:ea typeface="Roboto Black"/>
                <a:cs typeface="Roboto Black"/>
              </a:rPr>
              <a:t>craft query</a:t>
            </a:r>
            <a:r>
              <a:rPr sz="1500" b="0">
                <a:solidFill>
                  <a:srgbClr val="222222"/>
                </a:solidFill>
                <a:latin typeface="Roboto Medium"/>
                <a:ea typeface="Roboto Medium"/>
                <a:cs typeface="Roboto Medium"/>
              </a:rPr>
              <a:t xml:space="preserve"> để ép phản hồi lộ output trung gian → đầu vào cho CIA.</a:t>
            </a:r>
          </a:p>
        </p:txBody>
      </p:sp>
      <p:sp>
        <p:nvSpPr>
          <p:cNvPr id="25" name="TextBox 25"/>
          <p:cNvSpPr txBox="1"/>
          <p:nvPr/>
        </p:nvSpPr>
        <p:spPr>
          <a:xfrm>
            <a:off x="6446520" y="914400"/>
            <a:ext cx="5330952" cy="411480"/>
          </a:xfrm>
          <a:prstGeom prst="rect">
            <a:avLst/>
          </a:prstGeom>
          <a:noFill/>
        </p:spPr>
        <p:txBody>
          <a:bodyPr wrap="square" anchor="t" lIns="45720" rIns="45720" tIns="18288" bIns="18288"/>
          <a:lstStyle/>
          <a:p>
            <a:pPr>
              <a:spcBef>
                <a:spcPts val="0"/>
              </a:spcBef>
              <a:spcAft>
                <a:spcPts val="0"/>
              </a:spcAft>
              <a:buNone/>
            </a:pPr>
            <a:r>
              <a:rPr sz="2150" b="1">
                <a:solidFill>
                  <a:srgbClr val="003366"/>
                </a:solidFill>
                <a:latin typeface="Roboto Black"/>
                <a:ea typeface="Roboto Black"/>
                <a:cs typeface="Roboto Black"/>
              </a:rPr>
              <a:t>Mục tiêu phòng thủ</a:t>
            </a:r>
          </a:p>
        </p:txBody>
      </p:sp>
      <p:sp>
        <p:nvSpPr>
          <p:cNvPr id="26" name="Shape 26"/>
          <p:cNvSpPr/>
          <p:nvPr/>
        </p:nvSpPr>
        <p:spPr>
          <a:xfrm>
            <a:off x="6446520" y="1417320"/>
            <a:ext cx="5330952" cy="1143000"/>
          </a:xfrm>
          <a:prstGeom prst="rect">
            <a:avLst/>
          </a:prstGeom>
          <a:solidFill>
            <a:srgbClr val="F3F6FB"/>
          </a:solidFill>
          <a:ln w="9525">
            <a:solidFill>
              <a:srgbClr val="CFDAE8"/>
            </a:solidFill>
          </a:ln>
          <a:effectLst/>
        </p:spPr>
        <p:txBody>
          <a:bodyPr wrap="square" rtlCol="0" anchor="ctr" lIns="73152" rIns="73152" tIns="36576" bIns="36576"/>
          <a:lstStyle/>
          <a:p>
            <a:pPr algn="ctr">
              <a:spcBef>
                <a:spcPts val="0"/>
              </a:spcBef>
              <a:spcAft>
                <a:spcPts val="0"/>
              </a:spcAft>
              <a:buNone/>
            </a:pPr>
            <a:r>
              <a:rPr sz="2150" b="0" i="1">
                <a:solidFill>
                  <a:srgbClr val="003366"/>
                </a:solidFill>
                <a:latin typeface="Roboto Medium"/>
                <a:ea typeface="Roboto Medium"/>
                <a:cs typeface="Roboto Medium"/>
              </a:rPr>
              <a:t>max</a:t>
            </a:r>
            <a:r>
              <a:rPr sz="2150" b="0" baseline="-25000">
                <a:solidFill>
                  <a:srgbClr val="003366"/>
                </a:solidFill>
                <a:latin typeface="Roboto Medium"/>
                <a:ea typeface="Roboto Medium"/>
                <a:cs typeface="Roboto Medium"/>
              </a:rPr>
              <a:t>S̃</a:t>
            </a:r>
            <a:r>
              <a:rPr sz="2150" b="0" i="1">
                <a:solidFill>
                  <a:srgbClr val="003366"/>
                </a:solidFill>
                <a:latin typeface="Roboto Medium"/>
                <a:ea typeface="Roboto Medium"/>
                <a:cs typeface="Roboto Medium"/>
              </a:rPr>
              <a:t xml:space="preserve">  Δ</a:t>
            </a:r>
            <a:r>
              <a:rPr sz="2150" b="0" baseline="-25000">
                <a:solidFill>
                  <a:srgbClr val="003366"/>
                </a:solidFill>
                <a:latin typeface="Roboto Medium"/>
                <a:ea typeface="Roboto Medium"/>
                <a:cs typeface="Roboto Medium"/>
              </a:rPr>
              <a:t>topo</a:t>
            </a:r>
            <a:r>
              <a:rPr sz="2150" b="0" i="1">
                <a:solidFill>
                  <a:srgbClr val="003366"/>
                </a:solidFill>
                <a:latin typeface="Roboto Medium"/>
                <a:ea typeface="Roboto Medium"/>
                <a:cs typeface="Roboto Medium"/>
              </a:rPr>
              <a:t>(Ĝ, G)</a:t>
            </a:r>
          </a:p>
          <a:p>
            <a:pPr algn="ctr">
              <a:spcBef>
                <a:spcPts val="200"/>
              </a:spcBef>
              <a:spcAft>
                <a:spcPts val="0"/>
              </a:spcAft>
              <a:buNone/>
            </a:pPr>
            <a:r>
              <a:rPr sz="2150" b="0" i="1">
                <a:solidFill>
                  <a:srgbClr val="003366"/>
                </a:solidFill>
                <a:latin typeface="Roboto Medium"/>
                <a:ea typeface="Roboto Medium"/>
                <a:cs typeface="Roboto Medium"/>
              </a:rPr>
              <a:t>s.t.   U(S̃) ≥ U(S) − ε</a:t>
            </a:r>
          </a:p>
        </p:txBody>
      </p:sp>
      <p:sp>
        <p:nvSpPr>
          <p:cNvPr id="27" name="TextBox 27"/>
          <p:cNvSpPr txBox="1"/>
          <p:nvPr/>
        </p:nvSpPr>
        <p:spPr>
          <a:xfrm>
            <a:off x="6446520" y="2651760"/>
            <a:ext cx="5330952" cy="914400"/>
          </a:xfrm>
          <a:prstGeom prst="rect">
            <a:avLst/>
          </a:prstGeom>
          <a:noFill/>
        </p:spPr>
        <p:txBody>
          <a:bodyPr wrap="square" anchor="t" lIns="45720" rIns="45720" tIns="18288" bIns="18288"/>
          <a:lstStyle/>
          <a:p>
            <a:pPr>
              <a:spcBef>
                <a:spcPts val="0"/>
              </a:spcBef>
              <a:spcAft>
                <a:spcPts val="0"/>
              </a:spcAft>
              <a:buNone/>
            </a:pPr>
            <a:r>
              <a:rPr sz="1350" b="0">
                <a:solidFill>
                  <a:srgbClr val="666666"/>
                </a:solidFill>
                <a:latin typeface="Roboto Medium"/>
                <a:ea typeface="Roboto Medium"/>
                <a:cs typeface="Roboto Medium"/>
              </a:rPr>
              <a:t>Ĝ: topology kẻ tấn công suy ra · Δ</a:t>
            </a:r>
            <a:r>
              <a:rPr sz="1350" b="0" baseline="-25000">
                <a:solidFill>
                  <a:srgbClr val="666666"/>
                </a:solidFill>
                <a:latin typeface="Roboto Medium"/>
                <a:ea typeface="Roboto Medium"/>
                <a:cs typeface="Roboto Medium"/>
              </a:rPr>
              <a:t>topo</a:t>
            </a:r>
            <a:r>
              <a:rPr sz="1350" b="0">
                <a:solidFill>
                  <a:srgbClr val="666666"/>
                </a:solidFill>
                <a:latin typeface="Roboto Medium"/>
                <a:ea typeface="Roboto Medium"/>
                <a:cs typeface="Roboto Medium"/>
              </a:rPr>
              <a:t>: độ khác biệt giữa hai đồ thị · U: chất lượng tác vụ · ε: mức suy giảm cho phép.</a:t>
            </a:r>
          </a:p>
        </p:txBody>
      </p:sp>
      <p:sp>
        <p:nvSpPr>
          <p:cNvPr id="28" name="Card 28"/>
          <p:cNvSpPr/>
          <p:nvPr/>
        </p:nvSpPr>
        <p:spPr>
          <a:xfrm>
            <a:off x="6446520" y="3291840"/>
            <a:ext cx="5330952" cy="260604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29" name="Card bar 29"/>
          <p:cNvSpPr/>
          <p:nvPr/>
        </p:nvSpPr>
        <p:spPr>
          <a:xfrm>
            <a:off x="6446520" y="3291840"/>
            <a:ext cx="5330952" cy="54864"/>
          </a:xfrm>
          <a:prstGeom prst="rect">
            <a:avLst/>
          </a:prstGeom>
          <a:solidFill>
            <a:srgbClr val="C00000"/>
          </a:solidFill>
          <a:ln>
            <a:noFill/>
          </a:ln>
          <a:effectLst/>
        </p:spPr>
        <p:txBody>
          <a:bodyPr wrap="square" rtlCol="0" anchor="ctr" lIns="73152" rIns="73152" tIns="36576" bIns="36576"/>
          <a:lstStyle/>
          <a:p/>
        </p:txBody>
      </p:sp>
      <p:sp>
        <p:nvSpPr>
          <p:cNvPr id="30" name="TextBox 30"/>
          <p:cNvSpPr txBox="1"/>
          <p:nvPr/>
        </p:nvSpPr>
        <p:spPr>
          <a:xfrm>
            <a:off x="6583680" y="3401568"/>
            <a:ext cx="5074920" cy="2423160"/>
          </a:xfrm>
          <a:prstGeom prst="rect">
            <a:avLst/>
          </a:prstGeom>
          <a:noFill/>
        </p:spPr>
        <p:txBody>
          <a:bodyPr wrap="square" anchor="t" lIns="45720" rIns="45720" tIns="18288" bIns="18288"/>
          <a:lstStyle/>
          <a:p>
            <a:pPr>
              <a:spcBef>
                <a:spcPts val="0"/>
              </a:spcBef>
              <a:spcAft>
                <a:spcPts val="0"/>
              </a:spcAft>
              <a:buNone/>
            </a:pPr>
            <a:r>
              <a:rPr sz="1750" b="1">
                <a:solidFill>
                  <a:srgbClr val="C00000"/>
                </a:solidFill>
                <a:latin typeface="Roboto Black"/>
                <a:ea typeface="Roboto Black"/>
                <a:cs typeface="Roboto Black"/>
              </a:rPr>
              <a:t>Hai yêu cầu mâu thuẫn</a:t>
            </a:r>
          </a:p>
          <a:p>
            <a:pPr marL="118500" indent="-118500">
              <a:spcBef>
                <a:spcPts val="300"/>
              </a:spcBef>
              <a:spcAft>
                <a:spcPts val="0"/>
              </a:spcAft>
              <a:buClr>
                <a:srgbClr val="C00000"/>
              </a:buClr>
              <a:buFont typeface="Arial"/>
              <a:buChar char="•"/>
            </a:pPr>
            <a:r>
              <a:rPr sz="1500" b="1">
                <a:solidFill>
                  <a:srgbClr val="003366"/>
                </a:solidFill>
                <a:latin typeface="Roboto Black"/>
                <a:ea typeface="Roboto Black"/>
                <a:cs typeface="Roboto Black"/>
              </a:rPr>
              <a:t>Phá</a:t>
            </a:r>
            <a:r>
              <a:rPr sz="1500" b="0">
                <a:solidFill>
                  <a:srgbClr val="222222"/>
                </a:solidFill>
                <a:latin typeface="Roboto Medium"/>
                <a:ea typeface="Roboto Medium"/>
                <a:cs typeface="Roboto Medium"/>
              </a:rPr>
              <a:t xml:space="preserve"> bằng chứng ngữ nghĩa đang làm lộ G.</a:t>
            </a:r>
          </a:p>
          <a:p>
            <a:pPr marL="118500" indent="-118500">
              <a:spcBef>
                <a:spcPts val="300"/>
              </a:spcBef>
              <a:spcAft>
                <a:spcPts val="0"/>
              </a:spcAft>
              <a:buClr>
                <a:srgbClr val="C00000"/>
              </a:buClr>
              <a:buFont typeface="Arial"/>
              <a:buChar char="•"/>
            </a:pPr>
            <a:r>
              <a:rPr sz="1500" b="1">
                <a:solidFill>
                  <a:srgbClr val="003366"/>
                </a:solidFill>
                <a:latin typeface="Roboto Black"/>
                <a:ea typeface="Roboto Black"/>
                <a:cs typeface="Roboto Black"/>
              </a:rPr>
              <a:t>Giữ</a:t>
            </a:r>
            <a:r>
              <a:rPr sz="1500" b="0">
                <a:solidFill>
                  <a:srgbClr val="222222"/>
                </a:solidFill>
                <a:latin typeface="Roboto Medium"/>
                <a:ea typeface="Roboto Medium"/>
                <a:cs typeface="Roboto Medium"/>
              </a:rPr>
              <a:t xml:space="preserve"> nguyên luồng thông tin để chất lượng tác vụ không giảm.</a:t>
            </a:r>
          </a:p>
          <a:p>
            <a:pPr>
              <a:spcBef>
                <a:spcPts val="500"/>
              </a:spcBef>
              <a:spcAft>
                <a:spcPts val="0"/>
              </a:spcAft>
              <a:buNone/>
            </a:pPr>
            <a:r>
              <a:rPr sz="1400" b="0">
                <a:solidFill>
                  <a:srgbClr val="666666"/>
                </a:solidFill>
                <a:latin typeface="Roboto Medium"/>
                <a:ea typeface="Roboto Medium"/>
                <a:cs typeface="Roboto Medium"/>
              </a:rPr>
              <a:t>→ Không thể chỉ cắt bớt giao tiếp; cần tách phần thực thi khỏi phần bị quan sát.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3.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03</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3</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Orchestration &amp; Control</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ProgRouter: routing LLM theo tiến độ</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HalluProp: dự báo rủi ro trước khi chạy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ProgRouter: chọn LLM cho từng bước của workflow</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3. Orchestration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25</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5852160" cy="329184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Bài toán</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Router cũ quyết định </a:t>
            </a:r>
            <a:r>
              <a:rPr sz="1700" b="1">
                <a:solidFill>
                  <a:srgbClr val="003366"/>
                </a:solidFill>
                <a:latin typeface="Roboto Black"/>
                <a:ea typeface="Roboto Black"/>
                <a:cs typeface="Roboto Black"/>
              </a:rPr>
              <a:t>1 lần/câu hỏi</a:t>
            </a:r>
            <a:r>
              <a:rPr sz="1700" b="0">
                <a:solidFill>
                  <a:srgbClr val="222222"/>
                </a:solidFill>
                <a:latin typeface="Roboto Medium"/>
                <a:ea typeface="Roboto Medium"/>
                <a:cs typeface="Roboto Medium"/>
              </a:rPr>
              <a:t>; workflow cần quyết định </a:t>
            </a:r>
            <a:r>
              <a:rPr sz="1700" b="1">
                <a:solidFill>
                  <a:srgbClr val="003366"/>
                </a:solidFill>
                <a:latin typeface="Roboto Black"/>
                <a:ea typeface="Roboto Black"/>
                <a:cs typeface="Roboto Black"/>
              </a:rPr>
              <a:t>từng bước</a:t>
            </a:r>
            <a:r>
              <a:rPr sz="1700" b="0">
                <a:solidFill>
                  <a:srgbClr val="222222"/>
                </a:solidFill>
                <a:latin typeface="Roboto Medium"/>
                <a:ea typeface="Roboto Medium"/>
                <a:cs typeface="Roboto Medium"/>
              </a:rPr>
              <a:t>.</a:t>
            </a:r>
          </a:p>
          <a:p>
            <a:pPr>
              <a:spcBef>
                <a:spcPts val="1200"/>
              </a:spcBef>
              <a:buNone/>
            </a:pPr>
            <a:r>
              <a:rPr sz="2000" b="1">
                <a:solidFill>
                  <a:srgbClr val="003366"/>
                </a:solidFill>
                <a:latin typeface="Roboto Black"/>
                <a:ea typeface="Roboto Black"/>
                <a:cs typeface="Roboto Black"/>
              </a:rPr>
              <a:t>Ba thành phần</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Progress scorer</a:t>
            </a:r>
            <a:r>
              <a:rPr sz="1700" b="0">
                <a:solidFill>
                  <a:srgbClr val="222222"/>
                </a:solidFill>
                <a:latin typeface="Roboto Medium"/>
                <a:ea typeface="Roboto Medium"/>
                <a:cs typeface="Roboto Medium"/>
              </a:rPr>
              <a:t> g(s_t) ∈ [0,1].</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Predictor</a:t>
            </a:r>
            <a:r>
              <a:rPr sz="1700" b="0">
                <a:solidFill>
                  <a:srgbClr val="222222"/>
                </a:solidFill>
                <a:latin typeface="Roboto Medium"/>
                <a:ea typeface="Roboto Medium"/>
                <a:cs typeface="Roboto Medium"/>
              </a:rPr>
              <a:t> hai nhánh + XGBoost meta-learner.</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Lyapunov drift-plus-penalty</a:t>
            </a:r>
            <a:r>
              <a:rPr sz="1700" b="0">
                <a:solidFill>
                  <a:srgbClr val="222222"/>
                </a:solidFill>
                <a:latin typeface="Roboto Medium"/>
                <a:ea typeface="Roboto Medium"/>
                <a:cs typeface="Roboto Medium"/>
              </a:rPr>
              <a:t> với ngân sách năng lượng.</a:t>
            </a:r>
          </a:p>
        </p:txBody>
      </p:sp>
      <p:sp>
        <p:nvSpPr>
          <p:cNvPr id="9" name="Rectangle 8"/>
          <p:cNvSpPr/>
          <p:nvPr/>
        </p:nvSpPr>
        <p:spPr>
          <a:xfrm>
            <a:off x="411480" y="4343400"/>
            <a:ext cx="5852160" cy="160020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1480" y="4343400"/>
            <a:ext cx="585216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7784" y="4453128"/>
            <a:ext cx="5577840" cy="141732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Điểm định tuyến</a:t>
            </a:r>
          </a:p>
          <a:p>
            <a:pPr>
              <a:spcBef>
                <a:spcPts val="600"/>
              </a:spcBef>
              <a:buNone/>
            </a:pPr>
            <a:r>
              <a:rPr sz="1550" b="1">
                <a:solidFill>
                  <a:srgbClr val="003366"/>
                </a:solidFill>
                <a:latin typeface="Roboto Black"/>
                <a:ea typeface="Roboto Black"/>
                <a:cs typeface="Roboto Black"/>
              </a:rPr>
              <a:t>score(m) = V·(1−g)·ŷ(m) − Q·(E(m)−Ē) − c_Γ·Γ(m) − c_E·E(m)</a:t>
            </a:r>
          </a:p>
          <a:p>
            <a:pPr>
              <a:spcBef>
                <a:spcPts val="400"/>
              </a:spcBef>
              <a:buNone/>
            </a:pPr>
            <a:r>
              <a:rPr sz="1400" b="0">
                <a:solidFill>
                  <a:srgbClr val="666666"/>
                </a:solidFill>
                <a:latin typeface="Roboto Medium"/>
                <a:ea typeface="Roboto Medium"/>
                <a:cs typeface="Roboto Medium"/>
              </a:rPr>
              <a:t>Tiến độ có giá trị hơn khi tác vụ còn xa đích.</a:t>
            </a:r>
          </a:p>
        </p:txBody>
      </p:sp>
      <p:sp>
        <p:nvSpPr>
          <p:cNvPr id="12" name="TextBox 11"/>
          <p:cNvSpPr txBox="1"/>
          <p:nvPr/>
        </p:nvSpPr>
        <p:spPr>
          <a:xfrm>
            <a:off x="6492240" y="914400"/>
            <a:ext cx="5285232" cy="365760"/>
          </a:xfrm>
          <a:prstGeom prst="rect">
            <a:avLst/>
          </a:prstGeom>
          <a:noFill/>
        </p:spPr>
        <p:txBody>
          <a:bodyPr wrap="square" anchor="t" lIns="45720" rIns="45720" tIns="18288" bIns="18288"/>
          <a:lstStyle/>
          <a:p>
            <a:pPr>
              <a:spcBef>
                <a:spcPts val="0"/>
              </a:spcBef>
              <a:buNone/>
            </a:pPr>
            <a:r>
              <a:rPr sz="1300" b="1">
                <a:solidFill>
                  <a:srgbClr val="666666"/>
                </a:solidFill>
                <a:latin typeface="Roboto Black"/>
                <a:ea typeface="Roboto Black"/>
                <a:cs typeface="Roboto Black"/>
              </a:rPr>
              <a:t>Accuracy % / năng lượng J (in đỏ: vượt ngân sách)</a:t>
            </a:r>
          </a:p>
        </p:txBody>
      </p:sp>
      <p:graphicFrame>
        <p:nvGraphicFramePr>
          <p:cNvPr id="13" name="Table 12"/>
          <p:cNvGraphicFramePr>
            <a:graphicFrameLocks noGrp="1"/>
          </p:cNvGraphicFramePr>
          <p:nvPr/>
        </p:nvGraphicFramePr>
        <p:xfrm>
          <a:off x="6492240" y="1298448"/>
          <a:ext cx="5285232" cy="2011680"/>
        </p:xfrm>
        <a:graphic>
          <a:graphicData uri="http://schemas.openxmlformats.org/drawingml/2006/table">
            <a:tbl>
              <a:tblPr firstRow="0" bandRow="0"/>
              <a:tblGrid>
                <a:gridCol w="1353312"/>
                <a:gridCol w="1325880"/>
                <a:gridCol w="1325880"/>
                <a:gridCol w="1280160"/>
              </a:tblGrid>
              <a:tr h="502920">
                <a:tc>
                  <a:txBody>
                    <a:bodyPr wrap="square"/>
                    <a:lstStyle/>
                    <a:p>
                      <a:pPr>
                        <a:spcBef>
                          <a:spcPts val="0"/>
                        </a:spcBef>
                        <a:buNone/>
                      </a:pPr>
                      <a:r>
                        <a:rPr sz="1400" b="1">
                          <a:solidFill>
                            <a:srgbClr val="FFFFFF"/>
                          </a:solidFill>
                          <a:latin typeface="Roboto Black"/>
                          <a:ea typeface="Roboto Black"/>
                          <a:cs typeface="Roboto Black"/>
                        </a:rPr>
                        <a:t>Method</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HumanEval+</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MBPP</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MATH-500</a:t>
                      </a:r>
                    </a:p>
                  </a:txBody>
                  <a:tcPr marL="54864" marR="54864" marT="27432" marB="27432" anchor="ctr">
                    <a:solidFill>
                      <a:srgbClr val="003366"/>
                    </a:solidFill>
                  </a:tcPr>
                </a:tc>
              </a:tr>
              <a:tr h="502920">
                <a:tc>
                  <a:txBody>
                    <a:bodyPr wrap="square"/>
                    <a:lstStyle/>
                    <a:p>
                      <a:pPr>
                        <a:spcBef>
                          <a:spcPts val="0"/>
                        </a:spcBef>
                        <a:buNone/>
                      </a:pPr>
                      <a:r>
                        <a:rPr sz="1400" b="1">
                          <a:solidFill>
                            <a:srgbClr val="003366"/>
                          </a:solidFill>
                          <a:latin typeface="Roboto Black"/>
                          <a:ea typeface="Roboto Black"/>
                          <a:cs typeface="Roboto Black"/>
                        </a:rPr>
                        <a:t>MasRouter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90.9 / 4483</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67.8 / 3700</a:t>
                      </a:r>
                    </a:p>
                  </a:txBody>
                  <a:tcPr marL="54864" marR="54864" marT="27432" marB="27432" anchor="ctr">
                    <a:solidFill>
                      <a:srgbClr val="FFFFFF"/>
                    </a:solidFill>
                  </a:tcPr>
                </a:tc>
                <a:tc>
                  <a:txBody>
                    <a:bodyPr wrap="square"/>
                    <a:lstStyle/>
                    <a:p>
                      <a:pPr>
                        <a:spcBef>
                          <a:spcPts val="0"/>
                        </a:spcBef>
                        <a:buNone/>
                      </a:pPr>
                      <a:r>
                        <a:rPr sz="1400" b="1">
                          <a:solidFill>
                            <a:srgbClr val="C00000"/>
                          </a:solidFill>
                          <a:latin typeface="Roboto Black"/>
                          <a:ea typeface="Roboto Black"/>
                          <a:cs typeface="Roboto Black"/>
                        </a:rPr>
                        <a:t>73.6 / 8294</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CASCADIA</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84.8 / 4658</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78.5 / 3857</a:t>
                      </a:r>
                    </a:p>
                  </a:txBody>
                  <a:tcPr marL="54864" marR="54864" marT="27432" marB="27432" anchor="ctr">
                    <a:solidFill>
                      <a:srgbClr val="F3F6FB"/>
                    </a:solidFill>
                  </a:tcPr>
                </a:tc>
                <a:tc>
                  <a:txBody>
                    <a:bodyPr wrap="square"/>
                    <a:lstStyle/>
                    <a:p>
                      <a:pPr>
                        <a:spcBef>
                          <a:spcPts val="0"/>
                        </a:spcBef>
                        <a:buNone/>
                      </a:pPr>
                      <a:r>
                        <a:rPr sz="1400" b="1">
                          <a:solidFill>
                            <a:srgbClr val="003366"/>
                          </a:solidFill>
                          <a:latin typeface="Roboto Black"/>
                          <a:ea typeface="Roboto Black"/>
                          <a:cs typeface="Roboto Black"/>
                        </a:rPr>
                        <a:t>87.8</a:t>
                      </a:r>
                      <a:r>
                        <a:rPr sz="1400" b="0">
                          <a:solidFill>
                            <a:srgbClr val="222222"/>
                          </a:solidFill>
                          <a:latin typeface="Roboto Medium"/>
                          <a:ea typeface="Roboto Medium"/>
                          <a:cs typeface="Roboto Medium"/>
                        </a:rPr>
                        <a:t> / 6875</a:t>
                      </a:r>
                    </a:p>
                  </a:txBody>
                  <a:tcPr marL="54864" marR="54864" marT="27432" marB="27432" anchor="ctr">
                    <a:solidFill>
                      <a:srgbClr val="F3F6FB"/>
                    </a:solidFill>
                  </a:tcPr>
                </a:tc>
              </a:tr>
              <a:tr h="502920">
                <a:tc>
                  <a:txBody>
                    <a:bodyPr wrap="square"/>
                    <a:lstStyle/>
                    <a:p>
                      <a:pPr>
                        <a:spcBef>
                          <a:spcPts val="0"/>
                        </a:spcBef>
                        <a:buNone/>
                      </a:pPr>
                      <a:r>
                        <a:rPr sz="1400" b="1">
                          <a:solidFill>
                            <a:srgbClr val="C00000"/>
                          </a:solidFill>
                          <a:latin typeface="Roboto Black"/>
                          <a:ea typeface="Roboto Black"/>
                          <a:cs typeface="Roboto Black"/>
                        </a:rPr>
                        <a:t>ProgRouter</a:t>
                      </a:r>
                    </a:p>
                  </a:txBody>
                  <a:tcPr marL="54864" marR="54864" marT="27432" marB="27432" anchor="ctr">
                    <a:solidFill>
                      <a:srgbClr val="FCF4F4"/>
                    </a:solidFill>
                  </a:tcPr>
                </a:tc>
                <a:tc>
                  <a:txBody>
                    <a:bodyPr wrap="square"/>
                    <a:lstStyle/>
                    <a:p>
                      <a:pPr>
                        <a:spcBef>
                          <a:spcPts val="0"/>
                        </a:spcBef>
                        <a:buNone/>
                      </a:pPr>
                      <a:r>
                        <a:rPr sz="1400" b="1">
                          <a:solidFill>
                            <a:srgbClr val="003366"/>
                          </a:solidFill>
                          <a:latin typeface="Roboto Black"/>
                          <a:ea typeface="Roboto Black"/>
                          <a:cs typeface="Roboto Black"/>
                        </a:rPr>
                        <a:t>93.0</a:t>
                      </a:r>
                      <a:r>
                        <a:rPr sz="1400" b="0">
                          <a:solidFill>
                            <a:srgbClr val="222222"/>
                          </a:solidFill>
                          <a:latin typeface="Roboto Medium"/>
                          <a:ea typeface="Roboto Medium"/>
                          <a:cs typeface="Roboto Medium"/>
                        </a:rPr>
                        <a:t> / 4796</a:t>
                      </a:r>
                    </a:p>
                  </a:txBody>
                  <a:tcPr marL="54864" marR="54864" marT="27432" marB="27432" anchor="ctr">
                    <a:solidFill>
                      <a:srgbClr val="FCF4F4"/>
                    </a:solidFill>
                  </a:tcPr>
                </a:tc>
                <a:tc>
                  <a:txBody>
                    <a:bodyPr wrap="square"/>
                    <a:lstStyle/>
                    <a:p>
                      <a:pPr>
                        <a:spcBef>
                          <a:spcPts val="0"/>
                        </a:spcBef>
                        <a:buNone/>
                      </a:pPr>
                      <a:r>
                        <a:rPr sz="1400" b="1">
                          <a:solidFill>
                            <a:srgbClr val="003366"/>
                          </a:solidFill>
                          <a:latin typeface="Roboto Black"/>
                          <a:ea typeface="Roboto Black"/>
                          <a:cs typeface="Roboto Black"/>
                        </a:rPr>
                        <a:t>79.4 / 3376</a:t>
                      </a:r>
                    </a:p>
                  </a:txBody>
                  <a:tcPr marL="54864" marR="54864" marT="27432" marB="27432" anchor="ctr">
                    <a:solidFill>
                      <a:srgbClr val="FCF4F4"/>
                    </a:solidFill>
                  </a:tcPr>
                </a:tc>
                <a:tc>
                  <a:txBody>
                    <a:bodyPr wrap="square"/>
                    <a:lstStyle/>
                    <a:p>
                      <a:pPr>
                        <a:spcBef>
                          <a:spcPts val="0"/>
                        </a:spcBef>
                        <a:buNone/>
                      </a:pPr>
                      <a:r>
                        <a:rPr sz="1400" b="0">
                          <a:solidFill>
                            <a:srgbClr val="222222"/>
                          </a:solidFill>
                          <a:latin typeface="Roboto Medium"/>
                          <a:ea typeface="Roboto Medium"/>
                          <a:cs typeface="Roboto Medium"/>
                        </a:rPr>
                        <a:t>84.3 / </a:t>
                      </a:r>
                      <a:r>
                        <a:rPr sz="1400" b="1">
                          <a:solidFill>
                            <a:srgbClr val="003366"/>
                          </a:solidFill>
                          <a:latin typeface="Roboto Black"/>
                          <a:ea typeface="Roboto Black"/>
                          <a:cs typeface="Roboto Black"/>
                        </a:rPr>
                        <a:t>6112</a:t>
                      </a:r>
                    </a:p>
                  </a:txBody>
                  <a:tcPr marL="54864" marR="54864" marT="27432" marB="27432" anchor="ctr">
                    <a:solidFill>
                      <a:srgbClr val="FCF4F4"/>
                    </a:solidFill>
                  </a:tcPr>
                </a:tc>
              </a:tr>
            </a:tbl>
          </a:graphicData>
        </a:graphic>
      </p:graphicFrame>
      <p:sp>
        <p:nvSpPr>
          <p:cNvPr id="14" name="TextBox 13"/>
          <p:cNvSpPr txBox="1"/>
          <p:nvPr/>
        </p:nvSpPr>
        <p:spPr>
          <a:xfrm>
            <a:off x="6492240" y="3520440"/>
            <a:ext cx="2560320" cy="685800"/>
          </a:xfrm>
          <a:prstGeom prst="rect">
            <a:avLst/>
          </a:prstGeom>
          <a:noFill/>
        </p:spPr>
        <p:txBody>
          <a:bodyPr wrap="square" anchor="t" lIns="45720" rIns="45720" tIns="18288" bIns="18288"/>
          <a:lstStyle/>
          <a:p>
            <a:pPr>
              <a:spcBef>
                <a:spcPts val="0"/>
              </a:spcBef>
              <a:buNone/>
            </a:pPr>
            <a:r>
              <a:rPr sz="3200" b="1">
                <a:solidFill>
                  <a:srgbClr val="003366"/>
                </a:solidFill>
                <a:latin typeface="Roboto Black"/>
                <a:ea typeface="Roboto Black"/>
                <a:cs typeface="Roboto Black"/>
              </a:rPr>
              <a:t>84.3%</a:t>
            </a:r>
          </a:p>
        </p:txBody>
      </p:sp>
      <p:sp>
        <p:nvSpPr>
          <p:cNvPr id="15" name="TextBox 14"/>
          <p:cNvSpPr txBox="1"/>
          <p:nvPr/>
        </p:nvSpPr>
        <p:spPr>
          <a:xfrm>
            <a:off x="6492240" y="4178808"/>
            <a:ext cx="2560320" cy="64008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lần gọi dùng model 0.5B (HumanEval+)</a:t>
            </a:r>
          </a:p>
        </p:txBody>
      </p:sp>
      <p:sp>
        <p:nvSpPr>
          <p:cNvPr id="16" name="TextBox 15"/>
          <p:cNvSpPr txBox="1"/>
          <p:nvPr/>
        </p:nvSpPr>
        <p:spPr>
          <a:xfrm>
            <a:off x="9144000" y="3520440"/>
            <a:ext cx="2560320" cy="685800"/>
          </a:xfrm>
          <a:prstGeom prst="rect">
            <a:avLst/>
          </a:prstGeom>
          <a:noFill/>
        </p:spPr>
        <p:txBody>
          <a:bodyPr wrap="square" anchor="t" lIns="45720" rIns="45720" tIns="18288" bIns="18288"/>
          <a:lstStyle/>
          <a:p>
            <a:pPr>
              <a:spcBef>
                <a:spcPts val="0"/>
              </a:spcBef>
              <a:buNone/>
            </a:pPr>
            <a:r>
              <a:rPr sz="3200" b="1">
                <a:solidFill>
                  <a:srgbClr val="C00000"/>
                </a:solidFill>
                <a:latin typeface="Roboto Black"/>
                <a:ea typeface="Roboto Black"/>
                <a:cs typeface="Roboto Black"/>
              </a:rPr>
              <a:t>17.7%</a:t>
            </a:r>
          </a:p>
        </p:txBody>
      </p:sp>
      <p:sp>
        <p:nvSpPr>
          <p:cNvPr id="17" name="TextBox 16"/>
          <p:cNvSpPr txBox="1"/>
          <p:nvPr/>
        </p:nvSpPr>
        <p:spPr>
          <a:xfrm>
            <a:off x="9144000" y="4178808"/>
            <a:ext cx="2560320" cy="64008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accuracy của greedy “progress / cost” ngây thơ</a:t>
            </a:r>
          </a:p>
        </p:txBody>
      </p:sp>
      <p:sp>
        <p:nvSpPr>
          <p:cNvPr id="18" name="TextBox 17"/>
          <p:cNvSpPr txBox="1"/>
          <p:nvPr/>
        </p:nvSpPr>
        <p:spPr>
          <a:xfrm>
            <a:off x="6492240" y="5029200"/>
            <a:ext cx="5285232" cy="914400"/>
          </a:xfrm>
          <a:prstGeom prst="rect">
            <a:avLst/>
          </a:prstGeom>
          <a:noFill/>
        </p:spPr>
        <p:txBody>
          <a:bodyPr wrap="square" anchor="t" lIns="45720" rIns="45720" tIns="18288" bIns="18288"/>
          <a:lstStyle/>
          <a:p>
            <a:pPr>
              <a:spcBef>
                <a:spcPts val="0"/>
              </a:spcBef>
              <a:buNone/>
            </a:pPr>
            <a:r>
              <a:rPr sz="1450" b="0">
                <a:solidFill>
                  <a:srgbClr val="666666"/>
                </a:solidFill>
                <a:latin typeface="Roboto Medium"/>
                <a:ea typeface="Roboto Medium"/>
                <a:cs typeface="Roboto Medium"/>
              </a:rPr>
              <a:t>Hạn chế: thua CASCADIA 3.5 điểm trên MATH-500; bỏ qua chi phí warm-up; mốc tiến độ phải định nghĩa thủ công.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HalluProp: dự báo rủi ro trước khi agent lên tiếng</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3. Orchestration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26</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6035040" cy="292608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Ý tưởng: pre-hoc</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Chỉ dùng </a:t>
            </a:r>
            <a:r>
              <a:rPr sz="1700" b="1">
                <a:solidFill>
                  <a:srgbClr val="003366"/>
                </a:solidFill>
                <a:latin typeface="Roboto Black"/>
                <a:ea typeface="Roboto Black"/>
                <a:cs typeface="Roboto Black"/>
              </a:rPr>
              <a:t>role prompt + câu hỏi + topology</a:t>
            </a:r>
            <a:r>
              <a:rPr sz="1700" b="0">
                <a:solidFill>
                  <a:srgbClr val="222222"/>
                </a:solidFill>
                <a:latin typeface="Roboto Medium"/>
                <a:ea typeface="Roboto Medium"/>
                <a:cs typeface="Roboto Medium"/>
              </a:rPr>
              <a:t>, chưa chạy agent nào.</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Intrinsic risk</a:t>
            </a:r>
            <a:r>
              <a:rPr sz="1700" b="0">
                <a:solidFill>
                  <a:srgbClr val="222222"/>
                </a:solidFill>
                <a:latin typeface="Roboto Medium"/>
                <a:ea typeface="Roboto Medium"/>
                <a:cs typeface="Roboto Medium"/>
              </a:rPr>
              <a:t> π_i: role có khớp câu hỏi không.</a:t>
            </a:r>
          </a:p>
          <a:p>
            <a:pPr marL="133858" indent="-133858">
              <a:spcBef>
                <a:spcPts val="500"/>
              </a:spcBef>
              <a:buClr>
                <a:srgbClr val="C00000"/>
              </a:buClr>
              <a:buFont typeface="Arial"/>
              <a:buChar char="•"/>
            </a:pPr>
            <a:r>
              <a:rPr sz="1700" b="1">
                <a:solidFill>
                  <a:srgbClr val="003366"/>
                </a:solidFill>
                <a:latin typeface="Roboto Black"/>
                <a:ea typeface="Roboto Black"/>
                <a:cs typeface="Roboto Black"/>
              </a:rPr>
              <a:t>Propagation risk</a:t>
            </a:r>
            <a:r>
              <a:rPr sz="1700" b="0">
                <a:solidFill>
                  <a:srgbClr val="222222"/>
                </a:solidFill>
                <a:latin typeface="Roboto Medium"/>
                <a:ea typeface="Roboto Medium"/>
                <a:cs typeface="Roboto Medium"/>
              </a:rPr>
              <a:t> t_j→i: ảnh hưởng của bên gửi × độ dễ tổn thương của bên nhận.</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Can thiệp: cắt cạnh ra hoặc đổi role thành verifier.</a:t>
            </a:r>
          </a:p>
        </p:txBody>
      </p:sp>
      <p:sp>
        <p:nvSpPr>
          <p:cNvPr id="9" name="Rectangle 8"/>
          <p:cNvSpPr/>
          <p:nvPr/>
        </p:nvSpPr>
        <p:spPr>
          <a:xfrm>
            <a:off x="411480" y="4023360"/>
            <a:ext cx="6035040" cy="19202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1480" y="4023360"/>
            <a:ext cx="603504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7784" y="4133087"/>
            <a:ext cx="5760720" cy="173736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Noisy-OR khả vi (K = 3 vòng lặp)</a:t>
            </a:r>
          </a:p>
          <a:p>
            <a:pPr algn="ctr">
              <a:spcBef>
                <a:spcPts val="800"/>
              </a:spcBef>
              <a:buNone/>
            </a:pPr>
            <a:r>
              <a:rPr sz="1900" b="1">
                <a:solidFill>
                  <a:srgbClr val="003366"/>
                </a:solidFill>
                <a:latin typeface="Roboto Black"/>
                <a:ea typeface="Roboto Black"/>
                <a:cs typeface="Roboto Black"/>
              </a:rPr>
              <a:t>h_i = 1 − (1 − π_i) · Π_j (1 − t_j→i · h_j)</a:t>
            </a:r>
          </a:p>
          <a:p>
            <a:pPr>
              <a:spcBef>
                <a:spcPts val="800"/>
              </a:spcBef>
              <a:buNone/>
            </a:pPr>
            <a:r>
              <a:rPr sz="1450" b="0">
                <a:solidFill>
                  <a:srgbClr val="666666"/>
                </a:solidFill>
                <a:latin typeface="Roboto Medium"/>
                <a:ea typeface="Roboto Medium"/>
                <a:cs typeface="Roboto Medium"/>
              </a:rPr>
              <a:t>Agent lỗi nếu tự lỗi, hoặc nhận lỗi lan từ bất kỳ agent gửi tin nào.</a:t>
            </a:r>
          </a:p>
        </p:txBody>
      </p:sp>
      <p:sp>
        <p:nvSpPr>
          <p:cNvPr id="12" name="Rectangle 11"/>
          <p:cNvSpPr/>
          <p:nvPr/>
        </p:nvSpPr>
        <p:spPr>
          <a:xfrm>
            <a:off x="6675120" y="960120"/>
            <a:ext cx="5102352" cy="1078992"/>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675120" y="960120"/>
            <a:ext cx="51023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21424" y="1069848"/>
            <a:ext cx="1737360" cy="914400"/>
          </a:xfrm>
          <a:prstGeom prst="rect">
            <a:avLst/>
          </a:prstGeom>
          <a:noFill/>
        </p:spPr>
        <p:txBody>
          <a:bodyPr wrap="square" anchor="ctr" lIns="45720" rIns="45720" tIns="18288" bIns="18288"/>
          <a:lstStyle/>
          <a:p>
            <a:pPr>
              <a:spcBef>
                <a:spcPts val="0"/>
              </a:spcBef>
              <a:buNone/>
            </a:pPr>
            <a:r>
              <a:rPr sz="3000" b="1">
                <a:solidFill>
                  <a:srgbClr val="003366"/>
                </a:solidFill>
                <a:latin typeface="Roboto Black"/>
                <a:ea typeface="Roboto Black"/>
                <a:cs typeface="Roboto Black"/>
              </a:rPr>
              <a:t>84.6</a:t>
            </a:r>
          </a:p>
        </p:txBody>
      </p:sp>
      <p:sp>
        <p:nvSpPr>
          <p:cNvPr id="15" name="TextBox 14"/>
          <p:cNvSpPr txBox="1"/>
          <p:nvPr/>
        </p:nvSpPr>
        <p:spPr>
          <a:xfrm>
            <a:off x="8595360" y="1069848"/>
            <a:ext cx="3108960" cy="914400"/>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AUROC trung bình (4 LLM × 3 dataset)</a:t>
            </a:r>
          </a:p>
        </p:txBody>
      </p:sp>
      <p:sp>
        <p:nvSpPr>
          <p:cNvPr id="16" name="Rectangle 15"/>
          <p:cNvSpPr/>
          <p:nvPr/>
        </p:nvSpPr>
        <p:spPr>
          <a:xfrm>
            <a:off x="6675120" y="2167128"/>
            <a:ext cx="5102352" cy="1078992"/>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675120" y="2167128"/>
            <a:ext cx="51023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21424" y="2276856"/>
            <a:ext cx="1737360" cy="914400"/>
          </a:xfrm>
          <a:prstGeom prst="rect">
            <a:avLst/>
          </a:prstGeom>
          <a:noFill/>
        </p:spPr>
        <p:txBody>
          <a:bodyPr wrap="square" anchor="ctr" lIns="45720" rIns="45720" tIns="18288" bIns="18288"/>
          <a:lstStyle/>
          <a:p>
            <a:pPr>
              <a:spcBef>
                <a:spcPts val="0"/>
              </a:spcBef>
              <a:buNone/>
            </a:pPr>
            <a:r>
              <a:rPr sz="3000" b="1">
                <a:solidFill>
                  <a:srgbClr val="C00000"/>
                </a:solidFill>
                <a:latin typeface="Roboto Black"/>
                <a:ea typeface="Roboto Black"/>
                <a:cs typeface="Roboto Black"/>
              </a:rPr>
              <a:t>&lt; 1 s</a:t>
            </a:r>
          </a:p>
        </p:txBody>
      </p:sp>
      <p:sp>
        <p:nvSpPr>
          <p:cNvPr id="19" name="TextBox 18"/>
          <p:cNvSpPr txBox="1"/>
          <p:nvPr/>
        </p:nvSpPr>
        <p:spPr>
          <a:xfrm>
            <a:off x="8595360" y="2276856"/>
            <a:ext cx="3108960" cy="914400"/>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chẩn đoán, so với 53–308 s của post-hoc</a:t>
            </a:r>
          </a:p>
        </p:txBody>
      </p:sp>
      <p:sp>
        <p:nvSpPr>
          <p:cNvPr id="20" name="Rectangle 19"/>
          <p:cNvSpPr/>
          <p:nvPr/>
        </p:nvSpPr>
        <p:spPr>
          <a:xfrm>
            <a:off x="6675120" y="3374136"/>
            <a:ext cx="5102352" cy="1078992"/>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675120" y="3374136"/>
            <a:ext cx="51023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21424" y="3483864"/>
            <a:ext cx="1737360" cy="914400"/>
          </a:xfrm>
          <a:prstGeom prst="rect">
            <a:avLst/>
          </a:prstGeom>
          <a:noFill/>
        </p:spPr>
        <p:txBody>
          <a:bodyPr wrap="square" anchor="ctr" lIns="45720" rIns="45720" tIns="18288" bIns="18288"/>
          <a:lstStyle/>
          <a:p>
            <a:pPr>
              <a:spcBef>
                <a:spcPts val="0"/>
              </a:spcBef>
              <a:buNone/>
            </a:pPr>
            <a:r>
              <a:rPr sz="3000" b="1">
                <a:solidFill>
                  <a:srgbClr val="003366"/>
                </a:solidFill>
                <a:latin typeface="Roboto Black"/>
                <a:ea typeface="Roboto Black"/>
                <a:cs typeface="Roboto Black"/>
              </a:rPr>
              <a:t>67.6%</a:t>
            </a:r>
          </a:p>
        </p:txBody>
      </p:sp>
      <p:sp>
        <p:nvSpPr>
          <p:cNvPr id="23" name="TextBox 22"/>
          <p:cNvSpPr txBox="1"/>
          <p:nvPr/>
        </p:nvSpPr>
        <p:spPr>
          <a:xfrm>
            <a:off x="8595360" y="3483864"/>
            <a:ext cx="3108960" cy="914400"/>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accuracy sau refinement, so với 63.5% của GUARDIAN</a:t>
            </a:r>
          </a:p>
        </p:txBody>
      </p:sp>
      <p:sp>
        <p:nvSpPr>
          <p:cNvPr id="24" name="Rectangle 23"/>
          <p:cNvSpPr/>
          <p:nvPr/>
        </p:nvSpPr>
        <p:spPr>
          <a:xfrm>
            <a:off x="6675120" y="4617720"/>
            <a:ext cx="5102352" cy="132588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675120" y="4617720"/>
            <a:ext cx="510235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21424" y="4709160"/>
            <a:ext cx="4846320" cy="1188720"/>
          </a:xfrm>
          <a:prstGeom prst="rect">
            <a:avLst/>
          </a:prstGeom>
          <a:noFill/>
        </p:spPr>
        <p:txBody>
          <a:bodyPr wrap="square" anchor="t" lIns="45720" rIns="45720" tIns="18288" bIns="18288"/>
          <a:lstStyle/>
          <a:p>
            <a:pPr>
              <a:spcBef>
                <a:spcPts val="0"/>
              </a:spcBef>
              <a:buNone/>
            </a:pPr>
            <a:r>
              <a:rPr sz="1700" b="1">
                <a:solidFill>
                  <a:srgbClr val="C00000"/>
                </a:solidFill>
                <a:latin typeface="Roboto Black"/>
                <a:ea typeface="Roboto Black"/>
                <a:cs typeface="Roboto Black"/>
              </a:rPr>
              <a:t>Hạn chế</a:t>
            </a:r>
          </a:p>
          <a:p>
            <a:pPr>
              <a:spcBef>
                <a:spcPts val="400"/>
              </a:spcBef>
              <a:buNone/>
            </a:pPr>
            <a:r>
              <a:rPr sz="1450" b="0">
                <a:solidFill>
                  <a:srgbClr val="222222"/>
                </a:solidFill>
                <a:latin typeface="Roboto Medium"/>
                <a:ea typeface="Roboto Medium"/>
                <a:cs typeface="Roboto Medium"/>
              </a:rPr>
              <a:t>“Hallucination” = trả lời sai; role bị nhiễu nhân tạo; cần nhãn; đồ thị ≤ 7 agent.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4.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04</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4</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Communication &amp; Interaction</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DAIN: dynamic agent interaction network</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AGENT-RADAR: attention steering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DAIN: Dynamic Agent-based Interaction Network</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4. Communication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28</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ectangle 7"/>
          <p:cNvSpPr/>
          <p:nvPr/>
        </p:nvSpPr>
        <p:spPr>
          <a:xfrm>
            <a:off x="411480"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11480" y="1005840"/>
            <a:ext cx="251460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Encode</a:t>
            </a:r>
          </a:p>
        </p:txBody>
      </p:sp>
      <p:sp>
        <p:nvSpPr>
          <p:cNvPr id="11" name="TextBox 10"/>
          <p:cNvSpPr txBox="1"/>
          <p:nvPr/>
        </p:nvSpPr>
        <p:spPr>
          <a:xfrm>
            <a:off x="502920"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ResNet-50, BERT → context e_c</a:t>
            </a:r>
          </a:p>
        </p:txBody>
      </p:sp>
      <p:sp>
        <p:nvSpPr>
          <p:cNvPr id="12" name="Right Arrow 11"/>
          <p:cNvSpPr/>
          <p:nvPr/>
        </p:nvSpPr>
        <p:spPr>
          <a:xfrm>
            <a:off x="2971800" y="1691640"/>
            <a:ext cx="274320"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40"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291840" y="1005840"/>
            <a:ext cx="251460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291840"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Meta-Controller</a:t>
            </a:r>
          </a:p>
        </p:txBody>
      </p:sp>
      <p:sp>
        <p:nvSpPr>
          <p:cNvPr id="16" name="TextBox 15"/>
          <p:cNvSpPr txBox="1"/>
          <p:nvPr/>
        </p:nvSpPr>
        <p:spPr>
          <a:xfrm>
            <a:off x="3383280"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sparse gate + soft graph Φ</a:t>
            </a:r>
          </a:p>
        </p:txBody>
      </p:sp>
      <p:sp>
        <p:nvSpPr>
          <p:cNvPr id="17" name="Right Arrow 16"/>
          <p:cNvSpPr/>
          <p:nvPr/>
        </p:nvSpPr>
        <p:spPr>
          <a:xfrm>
            <a:off x="5852160" y="1691640"/>
            <a:ext cx="274320"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72200" y="1005840"/>
            <a:ext cx="251460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Message passing</a:t>
            </a:r>
          </a:p>
        </p:txBody>
      </p:sp>
      <p:sp>
        <p:nvSpPr>
          <p:cNvPr id="21" name="TextBox 20"/>
          <p:cNvSpPr txBox="1"/>
          <p:nvPr/>
        </p:nvSpPr>
        <p:spPr>
          <a:xfrm>
            <a:off x="6263640"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qua low-rank bottleneck</a:t>
            </a:r>
          </a:p>
        </p:txBody>
      </p:sp>
      <p:sp>
        <p:nvSpPr>
          <p:cNvPr id="22" name="Right Arrow 21"/>
          <p:cNvSpPr/>
          <p:nvPr/>
        </p:nvSpPr>
        <p:spPr>
          <a:xfrm>
            <a:off x="8732520" y="1691640"/>
            <a:ext cx="274320"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59" y="1005840"/>
            <a:ext cx="2514600" cy="16916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052559" y="1005840"/>
            <a:ext cx="251460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052559" y="1005840"/>
            <a:ext cx="251460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Consensus</a:t>
            </a:r>
          </a:p>
        </p:txBody>
      </p:sp>
      <p:sp>
        <p:nvSpPr>
          <p:cNvPr id="26" name="TextBox 25"/>
          <p:cNvSpPr txBox="1"/>
          <p:nvPr/>
        </p:nvSpPr>
        <p:spPr>
          <a:xfrm>
            <a:off x="9143999" y="1645920"/>
            <a:ext cx="2331720" cy="1005840"/>
          </a:xfrm>
          <a:prstGeom prst="rect">
            <a:avLst/>
          </a:prstGeom>
          <a:noFill/>
        </p:spPr>
        <p:txBody>
          <a:bodyPr wrap="square" anchor="ctr" lIns="45720" rIns="45720" tIns="18288" bIns="18288"/>
          <a:lstStyle/>
          <a:p>
            <a:pPr algn="ctr">
              <a:spcBef>
                <a:spcPts val="0"/>
              </a:spcBef>
              <a:buNone/>
            </a:pPr>
            <a:r>
              <a:rPr sz="1550" b="0">
                <a:solidFill>
                  <a:srgbClr val="222222"/>
                </a:solidFill>
                <a:latin typeface="Roboto Medium"/>
                <a:ea typeface="Roboto Medium"/>
                <a:cs typeface="Roboto Medium"/>
              </a:rPr>
              <a:t>attention → kết quả</a:t>
            </a:r>
          </a:p>
        </p:txBody>
      </p:sp>
      <p:sp>
        <p:nvSpPr>
          <p:cNvPr id="27" name="TextBox 26"/>
          <p:cNvSpPr txBox="1"/>
          <p:nvPr/>
        </p:nvSpPr>
        <p:spPr>
          <a:xfrm>
            <a:off x="411480" y="2926080"/>
            <a:ext cx="5760720" cy="182880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8 agent theo PID</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3 </a:t>
            </a:r>
            <a:r>
              <a:rPr sz="1700" b="1">
                <a:solidFill>
                  <a:srgbClr val="003366"/>
                </a:solidFill>
                <a:latin typeface="Roboto Black"/>
                <a:ea typeface="Roboto Black"/>
                <a:cs typeface="Roboto Black"/>
              </a:rPr>
              <a:t>synergy</a:t>
            </a:r>
            <a:r>
              <a:rPr sz="1700" b="0">
                <a:solidFill>
                  <a:srgbClr val="222222"/>
                </a:solidFill>
                <a:latin typeface="Roboto Medium"/>
                <a:ea typeface="Roboto Medium"/>
                <a:cs typeface="Roboto Medium"/>
              </a:rPr>
              <a:t> · 3 </a:t>
            </a:r>
            <a:r>
              <a:rPr sz="1700" b="1">
                <a:solidFill>
                  <a:srgbClr val="003366"/>
                </a:solidFill>
                <a:latin typeface="Roboto Black"/>
                <a:ea typeface="Roboto Black"/>
                <a:cs typeface="Roboto Black"/>
              </a:rPr>
              <a:t>uniqueness</a:t>
            </a:r>
            <a:r>
              <a:rPr sz="1700" b="0">
                <a:solidFill>
                  <a:srgbClr val="222222"/>
                </a:solidFill>
                <a:latin typeface="Roboto Medium"/>
                <a:ea typeface="Roboto Medium"/>
                <a:cs typeface="Roboto Medium"/>
              </a:rPr>
              <a:t> · 2 </a:t>
            </a:r>
            <a:r>
              <a:rPr sz="1700" b="1">
                <a:solidFill>
                  <a:srgbClr val="003366"/>
                </a:solidFill>
                <a:latin typeface="Roboto Black"/>
                <a:ea typeface="Roboto Black"/>
                <a:cs typeface="Roboto Black"/>
              </a:rPr>
              <a:t>redundancy</a:t>
            </a:r>
            <a:r>
              <a:rPr sz="1700" b="0">
                <a:solidFill>
                  <a:srgbClr val="222222"/>
                </a:solidFill>
                <a:latin typeface="Roboto Medium"/>
                <a:ea typeface="Roboto Medium"/>
                <a:cs typeface="Roboto Medium"/>
              </a:rPr>
              <a:t>.</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Loss phạt kích hoạt và mật độ giao tiếp: λ‖g‖₁ + λ‖Φ‖².</a:t>
            </a:r>
          </a:p>
        </p:txBody>
      </p:sp>
      <p:sp>
        <p:nvSpPr>
          <p:cNvPr id="28" name="TextBox 27"/>
          <p:cNvSpPr txBox="1"/>
          <p:nvPr/>
        </p:nvSpPr>
        <p:spPr>
          <a:xfrm>
            <a:off x="411480" y="4572000"/>
            <a:ext cx="2743200" cy="68580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3.2–5.5 / 8</a:t>
            </a:r>
          </a:p>
        </p:txBody>
      </p:sp>
      <p:sp>
        <p:nvSpPr>
          <p:cNvPr id="29" name="TextBox 28"/>
          <p:cNvSpPr txBox="1"/>
          <p:nvPr/>
        </p:nvSpPr>
        <p:spPr>
          <a:xfrm>
            <a:off x="411480" y="5230368"/>
            <a:ext cx="2743200" cy="640080"/>
          </a:xfrm>
          <a:prstGeom prst="rect">
            <a:avLst/>
          </a:prstGeom>
          <a:noFill/>
        </p:spPr>
        <p:txBody>
          <a:bodyPr wrap="square" anchor="t" lIns="45720" rIns="45720" tIns="18288" bIns="18288"/>
          <a:lstStyle/>
          <a:p>
            <a:pPr>
              <a:spcBef>
                <a:spcPts val="0"/>
              </a:spcBef>
              <a:buNone/>
            </a:pPr>
            <a:r>
              <a:rPr sz="1400" b="0">
                <a:solidFill>
                  <a:srgbClr val="666666"/>
                </a:solidFill>
                <a:latin typeface="Roboto Medium"/>
                <a:ea typeface="Roboto Medium"/>
                <a:cs typeface="Roboto Medium"/>
              </a:rPr>
              <a:t>agent được kích hoạt</a:t>
            </a:r>
          </a:p>
        </p:txBody>
      </p:sp>
      <p:sp>
        <p:nvSpPr>
          <p:cNvPr id="30" name="TextBox 29"/>
          <p:cNvSpPr txBox="1"/>
          <p:nvPr/>
        </p:nvSpPr>
        <p:spPr>
          <a:xfrm>
            <a:off x="3246120" y="4572000"/>
            <a:ext cx="2743200" cy="68580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73.5 vs 70.9</a:t>
            </a:r>
          </a:p>
        </p:txBody>
      </p:sp>
      <p:sp>
        <p:nvSpPr>
          <p:cNvPr id="31" name="TextBox 30"/>
          <p:cNvSpPr txBox="1"/>
          <p:nvPr/>
        </p:nvSpPr>
        <p:spPr>
          <a:xfrm>
            <a:off x="3246120" y="5230368"/>
            <a:ext cx="2743200" cy="640080"/>
          </a:xfrm>
          <a:prstGeom prst="rect">
            <a:avLst/>
          </a:prstGeom>
          <a:noFill/>
        </p:spPr>
        <p:txBody>
          <a:bodyPr wrap="square" anchor="t" lIns="45720" rIns="45720" tIns="18288" bIns="18288"/>
          <a:lstStyle/>
          <a:p>
            <a:pPr>
              <a:spcBef>
                <a:spcPts val="0"/>
              </a:spcBef>
              <a:buNone/>
            </a:pPr>
            <a:r>
              <a:rPr sz="1400" b="0">
                <a:solidFill>
                  <a:srgbClr val="666666"/>
                </a:solidFill>
                <a:latin typeface="Roboto Medium"/>
                <a:ea typeface="Roboto Medium"/>
                <a:cs typeface="Roboto Medium"/>
              </a:rPr>
              <a:t>ADNI accuracy (best baseline)</a:t>
            </a:r>
          </a:p>
        </p:txBody>
      </p:sp>
      <p:sp>
        <p:nvSpPr>
          <p:cNvPr id="32" name="Rectangle 31"/>
          <p:cNvSpPr/>
          <p:nvPr/>
        </p:nvSpPr>
        <p:spPr>
          <a:xfrm>
            <a:off x="6400800" y="2971800"/>
            <a:ext cx="5376672" cy="297180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400800" y="2971800"/>
            <a:ext cx="537667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47104" y="3081528"/>
            <a:ext cx="5120640" cy="278892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Lưu ý khi đánh giá</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“Agent” là </a:t>
            </a:r>
            <a:r>
              <a:rPr sz="1600" b="1">
                <a:solidFill>
                  <a:srgbClr val="003366"/>
                </a:solidFill>
                <a:latin typeface="Roboto Black"/>
                <a:ea typeface="Roboto Black"/>
                <a:cs typeface="Roboto Black"/>
              </a:rPr>
              <a:t>neural module</a:t>
            </a:r>
            <a:r>
              <a:rPr sz="1600" b="0">
                <a:solidFill>
                  <a:srgbClr val="222222"/>
                </a:solidFill>
                <a:latin typeface="Roboto Medium"/>
                <a:ea typeface="Roboto Medium"/>
                <a:cs typeface="Roboto Medium"/>
              </a:rPr>
              <a:t>, không phải LLM: bản chất là MoE có message passing.</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Bỏ communication: −1.4 điểm; bỏ dynamic scheduling: −1.7 điểm (ADNI).</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Số liệu không nhất quán giữa các bảng; baseline yếu.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AGENT-RADAR: attention steering theo context relevance</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4. Communication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29</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5394960" cy="301752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Ý tưởng</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Giữ </a:t>
            </a:r>
            <a:r>
              <a:rPr sz="1700" b="1">
                <a:solidFill>
                  <a:srgbClr val="003366"/>
                </a:solidFill>
                <a:latin typeface="Roboto Black"/>
                <a:ea typeface="Roboto Black"/>
                <a:cs typeface="Roboto Black"/>
              </a:rPr>
              <a:t>toàn bộ</a:t>
            </a:r>
            <a:r>
              <a:rPr sz="1700" b="0">
                <a:solidFill>
                  <a:srgbClr val="222222"/>
                </a:solidFill>
                <a:latin typeface="Roboto Medium"/>
                <a:ea typeface="Roboto Medium"/>
                <a:cs typeface="Roboto Medium"/>
              </a:rPr>
              <a:t> lịch sử, không tóm tắt hay cắt bớt.</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Chấm điểm từng câu, câu ≥ θ = 0.65 được nhấn mạnh bằng </a:t>
            </a:r>
            <a:r>
              <a:rPr sz="1700" b="1">
                <a:solidFill>
                  <a:srgbClr val="003366"/>
                </a:solidFill>
                <a:latin typeface="Roboto Black"/>
                <a:ea typeface="Roboto Black"/>
                <a:cs typeface="Roboto Black"/>
              </a:rPr>
              <a:t>SPA</a:t>
            </a:r>
            <a:r>
              <a:rPr sz="1700" b="0">
                <a:solidFill>
                  <a:srgbClr val="222222"/>
                </a:solidFill>
                <a:latin typeface="Roboto Medium"/>
                <a:ea typeface="Roboto Medium"/>
                <a:cs typeface="Roboto Medium"/>
              </a:rPr>
              <a:t>.</a:t>
            </a:r>
          </a:p>
          <a:p>
            <a:pPr marL="133858" indent="-133858">
              <a:spcBef>
                <a:spcPts val="500"/>
              </a:spcBef>
              <a:buClr>
                <a:srgbClr val="C00000"/>
              </a:buClr>
              <a:buFont typeface="Arial"/>
              <a:buChar char="•"/>
            </a:pPr>
            <a:r>
              <a:rPr sz="1700" b="0">
                <a:solidFill>
                  <a:srgbClr val="222222"/>
                </a:solidFill>
                <a:latin typeface="Roboto Medium"/>
                <a:ea typeface="Roboto Medium"/>
                <a:cs typeface="Roboto Medium"/>
              </a:rPr>
              <a:t>Training-free, cắm được vào GPTSwarm, AutoGen, debate.</a:t>
            </a:r>
          </a:p>
        </p:txBody>
      </p:sp>
      <p:sp>
        <p:nvSpPr>
          <p:cNvPr id="9" name="Rectangle 8"/>
          <p:cNvSpPr/>
          <p:nvPr/>
        </p:nvSpPr>
        <p:spPr>
          <a:xfrm>
            <a:off x="411480" y="3977639"/>
            <a:ext cx="5394960" cy="19659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1480" y="3977639"/>
            <a:ext cx="539496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7784" y="4087368"/>
            <a:ext cx="5120640" cy="1783080"/>
          </a:xfrm>
          <a:prstGeom prst="rect">
            <a:avLst/>
          </a:prstGeom>
          <a:noFill/>
        </p:spPr>
        <p:txBody>
          <a:bodyPr wrap="square" anchor="t" lIns="45720" rIns="45720" tIns="18288" bIns="18288"/>
          <a:lstStyle/>
          <a:p>
            <a:pPr>
              <a:spcBef>
                <a:spcPts val="0"/>
              </a:spcBef>
              <a:buNone/>
            </a:pPr>
            <a:r>
              <a:rPr sz="1600" b="1">
                <a:solidFill>
                  <a:srgbClr val="003366"/>
                </a:solidFill>
                <a:latin typeface="Roboto Black"/>
                <a:ea typeface="Roboto Black"/>
                <a:cs typeface="Roboto Black"/>
              </a:rPr>
              <a:t>Điểm của câu s_k</a:t>
            </a:r>
          </a:p>
          <a:p>
            <a:pPr algn="ctr">
              <a:spcBef>
                <a:spcPts val="800"/>
              </a:spcBef>
              <a:buNone/>
            </a:pPr>
            <a:r>
              <a:rPr sz="1800" b="1">
                <a:solidFill>
                  <a:srgbClr val="003366"/>
                </a:solidFill>
                <a:latin typeface="Roboto Black"/>
                <a:ea typeface="Roboto Black"/>
                <a:cs typeface="Roboto Black"/>
              </a:rPr>
              <a:t>λ_s^(d_G − 1) × λ_t^(t − τ − 1) × cos(s_k, q)</a:t>
            </a:r>
          </a:p>
          <a:p>
            <a:pPr algn="ctr">
              <a:spcBef>
                <a:spcPts val="800"/>
              </a:spcBef>
              <a:buNone/>
            </a:pPr>
            <a:r>
              <a:rPr sz="1400" b="0">
                <a:solidFill>
                  <a:srgbClr val="666666"/>
                </a:solidFill>
                <a:latin typeface="Roboto Medium"/>
                <a:ea typeface="Roboto Medium"/>
                <a:cs typeface="Roboto Medium"/>
              </a:rPr>
              <a:t>spatial decay × temporal decay × semantic relevance</a:t>
            </a:r>
          </a:p>
        </p:txBody>
      </p:sp>
      <p:graphicFrame>
        <p:nvGraphicFramePr>
          <p:cNvPr id="12" name="Chart 11"/>
          <p:cNvGraphicFramePr>
            <a:graphicFrameLocks noGrp="1"/>
          </p:cNvGraphicFramePr>
          <p:nvPr/>
        </p:nvGraphicFramePr>
        <p:xfrm>
          <a:off x="6035040" y="914400"/>
          <a:ext cx="5760720" cy="3931920"/>
        </p:xfrm>
        <a:graphic>
          <a:graphicData uri="http://schemas.openxmlformats.org/drawingml/2006/chart">
            <c:chart xmlns:c="http://schemas.openxmlformats.org/drawingml/2006/chart" r:id="rId3"/>
          </a:graphicData>
        </a:graphic>
      </p:graphicFrame>
      <p:sp>
        <p:nvSpPr>
          <p:cNvPr id="13" name="Rectangle 12"/>
          <p:cNvSpPr/>
          <p:nvPr/>
        </p:nvSpPr>
        <p:spPr>
          <a:xfrm>
            <a:off x="6035040" y="4983480"/>
            <a:ext cx="5742432" cy="96012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35040" y="4983480"/>
            <a:ext cx="574243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81344" y="5056632"/>
            <a:ext cx="5486400" cy="822960"/>
          </a:xfrm>
          <a:prstGeom prst="rect">
            <a:avLst/>
          </a:prstGeom>
          <a:noFill/>
        </p:spPr>
        <p:txBody>
          <a:bodyPr wrap="square" anchor="ctr" lIns="45720" rIns="45720" tIns="18288" bIns="18288"/>
          <a:lstStyle/>
          <a:p>
            <a:pPr>
              <a:spcBef>
                <a:spcPts val="0"/>
              </a:spcBef>
              <a:buNone/>
            </a:pPr>
            <a:r>
              <a:rPr sz="1450" b="0">
                <a:solidFill>
                  <a:srgbClr val="222222"/>
                </a:solidFill>
                <a:latin typeface="Roboto Medium"/>
                <a:ea typeface="Roboto Medium"/>
                <a:cs typeface="Roboto Medium"/>
              </a:rPr>
              <a:t>Latency +23% · cần </a:t>
            </a:r>
            <a:r>
              <a:rPr sz="1450" b="1">
                <a:solidFill>
                  <a:srgbClr val="003366"/>
                </a:solidFill>
                <a:latin typeface="Roboto Black"/>
                <a:ea typeface="Roboto Black"/>
                <a:cs typeface="Roboto Black"/>
              </a:rPr>
              <a:t>white-box</a:t>
            </a:r>
            <a:r>
              <a:rPr sz="1450" b="0">
                <a:solidFill>
                  <a:srgbClr val="222222"/>
                </a:solidFill>
                <a:latin typeface="Roboto Medium"/>
                <a:ea typeface="Roboto Medium"/>
                <a:cs typeface="Roboto Medium"/>
              </a:rPr>
              <a:t> (logit) → không dùng với API model · tune trên MuSiQue (cũng là test set).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5.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05</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5</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Domain Applications</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MAC-RRG: radiology report generation</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UrbanAgent: urban region profiling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MAC-RRG: multi-agent cho radiology report generation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5. Application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31</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X-ray</a:t>
            </a:r>
          </a:p>
          <a:p>
            <a:pPr algn="ctr">
              <a:spcBef>
                <a:spcPts val="200"/>
              </a:spcBef>
              <a:buNone/>
            </a:pPr>
            <a:r>
              <a:rPr sz="1350" b="0">
                <a:solidFill>
                  <a:srgbClr val="FFFFFF"/>
                </a:solidFill>
                <a:latin typeface="Roboto Medium"/>
                <a:ea typeface="Roboto Medium"/>
                <a:cs typeface="Roboto Medium"/>
              </a:rPr>
              <a:t>ảnh ngực</a:t>
            </a:r>
          </a:p>
        </p:txBody>
      </p:sp>
      <p:sp>
        <p:nvSpPr>
          <p:cNvPr id="10" name="Right Arrow 9"/>
          <p:cNvSpPr/>
          <p:nvPr/>
        </p:nvSpPr>
        <p:spPr>
          <a:xfrm>
            <a:off x="240487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0"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Draft</a:t>
            </a:r>
          </a:p>
          <a:p>
            <a:pPr algn="ctr">
              <a:spcBef>
                <a:spcPts val="200"/>
              </a:spcBef>
              <a:buNone/>
            </a:pPr>
            <a:r>
              <a:rPr sz="1350" b="0">
                <a:solidFill>
                  <a:srgbClr val="FFFFFF"/>
                </a:solidFill>
                <a:latin typeface="Roboto Medium"/>
                <a:ea typeface="Roboto Medium"/>
                <a:cs typeface="Roboto Medium"/>
              </a:rPr>
              <a:t>Swin + Llama2-7B</a:t>
            </a:r>
          </a:p>
        </p:txBody>
      </p:sp>
      <p:sp>
        <p:nvSpPr>
          <p:cNvPr id="13" name="Right Arrow 12"/>
          <p:cNvSpPr/>
          <p:nvPr/>
        </p:nvSpPr>
        <p:spPr>
          <a:xfrm>
            <a:off x="473659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74920"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7492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Entities</a:t>
            </a:r>
          </a:p>
          <a:p>
            <a:pPr algn="ctr">
              <a:spcBef>
                <a:spcPts val="200"/>
              </a:spcBef>
              <a:buNone/>
            </a:pPr>
            <a:r>
              <a:rPr sz="1350" b="0">
                <a:solidFill>
                  <a:srgbClr val="FFFFFF"/>
                </a:solidFill>
                <a:latin typeface="Roboto Medium"/>
                <a:ea typeface="Roboto Medium"/>
                <a:cs typeface="Roboto Medium"/>
              </a:rPr>
              <a:t>giải phẫu, bệnh lý</a:t>
            </a:r>
          </a:p>
        </p:txBody>
      </p:sp>
      <p:sp>
        <p:nvSpPr>
          <p:cNvPr id="16" name="Right Arrow 15"/>
          <p:cNvSpPr/>
          <p:nvPr/>
        </p:nvSpPr>
        <p:spPr>
          <a:xfrm>
            <a:off x="706831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6640" y="1051560"/>
            <a:ext cx="196596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06640"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2 agent</a:t>
            </a:r>
          </a:p>
          <a:p>
            <a:pPr algn="ctr">
              <a:spcBef>
                <a:spcPts val="200"/>
              </a:spcBef>
              <a:buNone/>
            </a:pPr>
            <a:r>
              <a:rPr sz="1350" b="0">
                <a:solidFill>
                  <a:srgbClr val="FFFFFF"/>
                </a:solidFill>
                <a:latin typeface="Roboto Medium"/>
                <a:ea typeface="Roboto Medium"/>
                <a:cs typeface="Roboto Medium"/>
              </a:rPr>
              <a:t>MM-KG + Knowledge</a:t>
            </a:r>
          </a:p>
        </p:txBody>
      </p:sp>
      <p:sp>
        <p:nvSpPr>
          <p:cNvPr id="19" name="Right Arrow 18"/>
          <p:cNvSpPr/>
          <p:nvPr/>
        </p:nvSpPr>
        <p:spPr>
          <a:xfrm>
            <a:off x="9400032" y="1481328"/>
            <a:ext cx="310896" cy="329184"/>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38359" y="1051560"/>
            <a:ext cx="196596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38359" y="1051560"/>
            <a:ext cx="1965960" cy="1188720"/>
          </a:xfrm>
          <a:prstGeom prst="rect">
            <a:avLst/>
          </a:prstGeom>
          <a:noFill/>
        </p:spPr>
        <p:txBody>
          <a:bodyPr wrap="square" anchor="ctr" lIns="45720" rIns="45720" tIns="18288" bIns="18288"/>
          <a:lstStyle/>
          <a:p>
            <a:pPr algn="ctr">
              <a:spcBef>
                <a:spcPts val="0"/>
              </a:spcBef>
              <a:buNone/>
            </a:pPr>
            <a:r>
              <a:rPr sz="1800" b="1">
                <a:solidFill>
                  <a:srgbClr val="FFFFFF"/>
                </a:solidFill>
                <a:latin typeface="Roboto Black"/>
                <a:ea typeface="Roboto Black"/>
                <a:cs typeface="Roboto Black"/>
              </a:rPr>
              <a:t>Report</a:t>
            </a:r>
          </a:p>
          <a:p>
            <a:pPr algn="ctr">
              <a:spcBef>
                <a:spcPts val="200"/>
              </a:spcBef>
              <a:buNone/>
            </a:pPr>
            <a:r>
              <a:rPr sz="1350" b="0">
                <a:solidFill>
                  <a:srgbClr val="FFFFFF"/>
                </a:solidFill>
                <a:latin typeface="Roboto Medium"/>
                <a:ea typeface="Roboto Medium"/>
                <a:cs typeface="Roboto Medium"/>
              </a:rPr>
              <a:t>refined</a:t>
            </a:r>
          </a:p>
        </p:txBody>
      </p:sp>
      <p:sp>
        <p:nvSpPr>
          <p:cNvPr id="22" name="Rectangle 21"/>
          <p:cNvSpPr/>
          <p:nvPr/>
        </p:nvSpPr>
        <p:spPr>
          <a:xfrm>
            <a:off x="411480" y="2606040"/>
            <a:ext cx="5669280" cy="15087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11480" y="2606040"/>
            <a:ext cx="566928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57784" y="2715768"/>
            <a:ext cx="5394960" cy="64008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0.197 / 0.128 / 0.105</a:t>
            </a:r>
          </a:p>
        </p:txBody>
      </p:sp>
      <p:sp>
        <p:nvSpPr>
          <p:cNvPr id="25" name="TextBox 24"/>
          <p:cNvSpPr txBox="1"/>
          <p:nvPr/>
        </p:nvSpPr>
        <p:spPr>
          <a:xfrm>
            <a:off x="557784" y="3355848"/>
            <a:ext cx="5394960" cy="640080"/>
          </a:xfrm>
          <a:prstGeom prst="rect">
            <a:avLst/>
          </a:prstGeom>
          <a:noFill/>
        </p:spPr>
        <p:txBody>
          <a:bodyPr wrap="square" anchor="t" lIns="45720" rIns="45720" tIns="18288" bIns="18288"/>
          <a:lstStyle/>
          <a:p>
            <a:pPr>
              <a:spcBef>
                <a:spcPts val="0"/>
              </a:spcBef>
              <a:buNone/>
            </a:pPr>
            <a:r>
              <a:rPr sz="1500" b="0">
                <a:solidFill>
                  <a:srgbClr val="666666"/>
                </a:solidFill>
                <a:latin typeface="Roboto Medium"/>
                <a:ea typeface="Roboto Medium"/>
                <a:cs typeface="Roboto Medium"/>
              </a:rPr>
              <a:t>BLEU-4 trên IU X-Ray / MIMIC-CXR / CheXpert Plus</a:t>
            </a:r>
          </a:p>
        </p:txBody>
      </p:sp>
      <p:sp>
        <p:nvSpPr>
          <p:cNvPr id="26" name="Rectangle 25"/>
          <p:cNvSpPr/>
          <p:nvPr/>
        </p:nvSpPr>
        <p:spPr>
          <a:xfrm>
            <a:off x="411480" y="4297680"/>
            <a:ext cx="5669280" cy="15087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11480" y="4297680"/>
            <a:ext cx="5669280"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57784" y="4407408"/>
            <a:ext cx="5394960" cy="640080"/>
          </a:xfrm>
          <a:prstGeom prst="rect">
            <a:avLst/>
          </a:prstGeom>
          <a:noFill/>
        </p:spPr>
        <p:txBody>
          <a:bodyPr wrap="square" anchor="t" lIns="45720" rIns="45720" tIns="18288" bIns="18288"/>
          <a:lstStyle/>
          <a:p>
            <a:pPr>
              <a:spcBef>
                <a:spcPts val="0"/>
              </a:spcBef>
              <a:buNone/>
            </a:pPr>
            <a:r>
              <a:rPr sz="2800" b="1">
                <a:solidFill>
                  <a:srgbClr val="003366"/>
                </a:solidFill>
                <a:latin typeface="Roboto Black"/>
                <a:ea typeface="Roboto Black"/>
                <a:cs typeface="Roboto Black"/>
              </a:rPr>
              <a:t>0.295 vs 0.260</a:t>
            </a:r>
          </a:p>
        </p:txBody>
      </p:sp>
      <p:sp>
        <p:nvSpPr>
          <p:cNvPr id="29" name="TextBox 28"/>
          <p:cNvSpPr txBox="1"/>
          <p:nvPr/>
        </p:nvSpPr>
        <p:spPr>
          <a:xfrm>
            <a:off x="557784" y="5047488"/>
            <a:ext cx="5394960" cy="640080"/>
          </a:xfrm>
          <a:prstGeom prst="rect">
            <a:avLst/>
          </a:prstGeom>
          <a:noFill/>
        </p:spPr>
        <p:txBody>
          <a:bodyPr wrap="square" anchor="t" lIns="45720" rIns="45720" tIns="18288" bIns="18288"/>
          <a:lstStyle/>
          <a:p>
            <a:pPr>
              <a:spcBef>
                <a:spcPts val="0"/>
              </a:spcBef>
              <a:buNone/>
            </a:pPr>
            <a:r>
              <a:rPr sz="1500" b="0">
                <a:solidFill>
                  <a:srgbClr val="666666"/>
                </a:solidFill>
                <a:latin typeface="Roboto Medium"/>
                <a:ea typeface="Roboto Medium"/>
                <a:cs typeface="Roboto Medium"/>
              </a:rPr>
              <a:t>clinical F1 (CheXpert Plus) so với R2GenGPT</a:t>
            </a:r>
          </a:p>
        </p:txBody>
      </p:sp>
      <p:sp>
        <p:nvSpPr>
          <p:cNvPr id="30" name="Rectangle 29"/>
          <p:cNvSpPr/>
          <p:nvPr/>
        </p:nvSpPr>
        <p:spPr>
          <a:xfrm>
            <a:off x="6309360" y="2606040"/>
            <a:ext cx="5468112" cy="320040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309360" y="2606040"/>
            <a:ext cx="546811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55664" y="2715768"/>
            <a:ext cx="5212080" cy="301752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Đánh giá phản biện</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“Agent” = </a:t>
            </a:r>
            <a:r>
              <a:rPr sz="1600" b="1">
                <a:solidFill>
                  <a:srgbClr val="003366"/>
                </a:solidFill>
                <a:latin typeface="Roboto Black"/>
                <a:ea typeface="Roboto Black"/>
                <a:cs typeface="Roboto Black"/>
              </a:rPr>
              <a:t>module retrieval tất định</a:t>
            </a:r>
            <a:r>
              <a:rPr sz="1600" b="0">
                <a:solidFill>
                  <a:srgbClr val="222222"/>
                </a:solidFill>
                <a:latin typeface="Roboto Medium"/>
                <a:ea typeface="Roboto Medium"/>
                <a:cs typeface="Roboto Medium"/>
              </a:rPr>
              <a:t>, không giao tiếp hay thương lượng.</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“Iterative” thực tế chỉ </a:t>
            </a:r>
            <a:r>
              <a:rPr sz="1600" b="1">
                <a:solidFill>
                  <a:srgbClr val="003366"/>
                </a:solidFill>
                <a:latin typeface="Roboto Black"/>
                <a:ea typeface="Roboto Black"/>
                <a:cs typeface="Roboto Black"/>
              </a:rPr>
              <a:t>1 lượt</a:t>
            </a:r>
            <a:r>
              <a:rPr sz="1600" b="0">
                <a:solidFill>
                  <a:srgbClr val="222222"/>
                </a:solidFill>
                <a:latin typeface="Roboto Medium"/>
                <a:ea typeface="Roboto Medium"/>
                <a:cs typeface="Roboto Medium"/>
              </a:rPr>
              <a:t> tinh chỉnh.</a:t>
            </a:r>
          </a:p>
          <a:p>
            <a:pPr marL="125984" indent="-125984">
              <a:spcBef>
                <a:spcPts val="600"/>
              </a:spcBef>
              <a:buClr>
                <a:srgbClr val="C00000"/>
              </a:buClr>
              <a:buFont typeface="Arial"/>
              <a:buChar char="•"/>
            </a:pPr>
            <a:r>
              <a:rPr sz="1600" b="0">
                <a:solidFill>
                  <a:srgbClr val="222222"/>
                </a:solidFill>
                <a:latin typeface="Roboto Medium"/>
                <a:ea typeface="Roboto Medium"/>
                <a:cs typeface="Roboto Medium"/>
              </a:rPr>
              <a:t>BLEU tăng nhỏ (0.101 → 0.105); không kiểm định thống kê, không có bác sĩ đánh giá.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UrbanAgent: collaborative reasoning cho urban region profiling</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5. Application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32</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ectangle 7"/>
          <p:cNvSpPr/>
          <p:nvPr/>
        </p:nvSpPr>
        <p:spPr>
          <a:xfrm>
            <a:off x="411480" y="960120"/>
            <a:ext cx="5577840" cy="23774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11480" y="960120"/>
            <a:ext cx="5577840" cy="5669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960120"/>
            <a:ext cx="557784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Stage A · Tool-augmented agents</a:t>
            </a:r>
          </a:p>
        </p:txBody>
      </p:sp>
      <p:sp>
        <p:nvSpPr>
          <p:cNvPr id="11" name="TextBox 10"/>
          <p:cNvSpPr txBox="1"/>
          <p:nvPr/>
        </p:nvSpPr>
        <p:spPr>
          <a:xfrm>
            <a:off x="521207" y="1600200"/>
            <a:ext cx="5358384" cy="1691640"/>
          </a:xfrm>
          <a:prstGeom prst="rect">
            <a:avLst/>
          </a:prstGeom>
          <a:noFill/>
        </p:spPr>
        <p:txBody>
          <a:bodyPr wrap="square" anchor="t" lIns="45720" rIns="45720" tIns="18288" bIns="18288"/>
          <a:lstStyle/>
          <a:p>
            <a:pPr marL="125984" indent="-125984">
              <a:spcBef>
                <a:spcPts val="300"/>
              </a:spcBef>
              <a:buClr>
                <a:srgbClr val="C00000"/>
              </a:buClr>
              <a:buFont typeface="Arial"/>
              <a:buChar char="•"/>
            </a:pPr>
            <a:r>
              <a:rPr sz="1600" b="0">
                <a:solidFill>
                  <a:srgbClr val="222222"/>
                </a:solidFill>
                <a:latin typeface="Roboto Medium"/>
                <a:ea typeface="Roboto Medium"/>
                <a:cs typeface="Roboto Medium"/>
              </a:rPr>
              <a:t>4 agent theo modality: </a:t>
            </a:r>
            <a:r>
              <a:rPr sz="1600" b="1">
                <a:solidFill>
                  <a:srgbClr val="003366"/>
                </a:solidFill>
                <a:latin typeface="Roboto Black"/>
                <a:ea typeface="Roboto Black"/>
                <a:cs typeface="Roboto Black"/>
              </a:rPr>
              <a:t>satellite, text, POI, 3D</a:t>
            </a:r>
            <a:r>
              <a:rPr sz="1600" b="0">
                <a:solidFill>
                  <a:srgbClr val="222222"/>
                </a:solidFill>
                <a:latin typeface="Roboto Medium"/>
                <a:ea typeface="Roboto Medium"/>
                <a:cs typeface="Roboto Medium"/>
              </a:rPr>
              <a:t>.</a:t>
            </a:r>
          </a:p>
          <a:p>
            <a:pPr marL="125984" indent="-125984">
              <a:spcBef>
                <a:spcPts val="300"/>
              </a:spcBef>
              <a:buClr>
                <a:srgbClr val="C00000"/>
              </a:buClr>
              <a:buFont typeface="Arial"/>
              <a:buChar char="•"/>
            </a:pPr>
            <a:r>
              <a:rPr sz="1600" b="0">
                <a:solidFill>
                  <a:srgbClr val="222222"/>
                </a:solidFill>
                <a:latin typeface="Roboto Medium"/>
                <a:ea typeface="Roboto Medium"/>
                <a:cs typeface="Roboto Medium"/>
              </a:rPr>
              <a:t>Qwen3-VL-4B + 4 tool (web search, crop-zoom, nightlight, ảnh lịch sử).</a:t>
            </a:r>
          </a:p>
          <a:p>
            <a:pPr marL="125984" indent="-125984">
              <a:spcBef>
                <a:spcPts val="300"/>
              </a:spcBef>
              <a:buClr>
                <a:srgbClr val="C00000"/>
              </a:buClr>
              <a:buFont typeface="Arial"/>
              <a:buChar char="•"/>
            </a:pPr>
            <a:r>
              <a:rPr sz="1600" b="0">
                <a:solidFill>
                  <a:srgbClr val="222222"/>
                </a:solidFill>
                <a:latin typeface="Roboto Medium"/>
                <a:ea typeface="Roboto Medium"/>
                <a:cs typeface="Roboto Medium"/>
              </a:rPr>
              <a:t>SFT → </a:t>
            </a:r>
            <a:r>
              <a:rPr sz="1600" b="1">
                <a:solidFill>
                  <a:srgbClr val="003366"/>
                </a:solidFill>
                <a:latin typeface="Roboto Black"/>
                <a:ea typeface="Roboto Black"/>
                <a:cs typeface="Roboto Black"/>
              </a:rPr>
              <a:t>GRPO</a:t>
            </a:r>
            <a:r>
              <a:rPr sz="1600" b="0">
                <a:solidFill>
                  <a:srgbClr val="222222"/>
                </a:solidFill>
                <a:latin typeface="Roboto Medium"/>
                <a:ea typeface="Roboto Medium"/>
                <a:cs typeface="Roboto Medium"/>
              </a:rPr>
              <a:t>, reward = outcome + format + process.</a:t>
            </a:r>
          </a:p>
        </p:txBody>
      </p:sp>
      <p:sp>
        <p:nvSpPr>
          <p:cNvPr id="12" name="Rectangle 11"/>
          <p:cNvSpPr/>
          <p:nvPr/>
        </p:nvSpPr>
        <p:spPr>
          <a:xfrm>
            <a:off x="6199632" y="960120"/>
            <a:ext cx="5577840" cy="237744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199632" y="960120"/>
            <a:ext cx="557784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99632" y="960120"/>
            <a:ext cx="5577840" cy="566928"/>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Stage B · Relation-aware graph</a:t>
            </a:r>
          </a:p>
        </p:txBody>
      </p:sp>
      <p:sp>
        <p:nvSpPr>
          <p:cNvPr id="15" name="TextBox 14"/>
          <p:cNvSpPr txBox="1"/>
          <p:nvPr/>
        </p:nvSpPr>
        <p:spPr>
          <a:xfrm>
            <a:off x="6309360" y="1600200"/>
            <a:ext cx="5358384" cy="1691640"/>
          </a:xfrm>
          <a:prstGeom prst="rect">
            <a:avLst/>
          </a:prstGeom>
          <a:noFill/>
        </p:spPr>
        <p:txBody>
          <a:bodyPr wrap="square" anchor="t" lIns="45720" rIns="45720" tIns="18288" bIns="18288"/>
          <a:lstStyle/>
          <a:p>
            <a:pPr marL="125984" indent="-125984">
              <a:spcBef>
                <a:spcPts val="300"/>
              </a:spcBef>
              <a:buClr>
                <a:srgbClr val="C00000"/>
              </a:buClr>
              <a:buFont typeface="Arial"/>
              <a:buChar char="•"/>
            </a:pPr>
            <a:r>
              <a:rPr sz="1600" b="1">
                <a:solidFill>
                  <a:srgbClr val="003366"/>
                </a:solidFill>
                <a:latin typeface="Roboto Black"/>
                <a:ea typeface="Roboto Black"/>
                <a:cs typeface="Roboto Black"/>
              </a:rPr>
              <a:t>Corroboration</a:t>
            </a:r>
            <a:r>
              <a:rPr sz="1600" b="0">
                <a:solidFill>
                  <a:srgbClr val="222222"/>
                </a:solidFill>
                <a:latin typeface="Roboto Medium"/>
                <a:ea typeface="Roboto Medium"/>
                <a:cs typeface="Roboto Medium"/>
              </a:rPr>
              <a:t>: dự đoán gần nhau → củng cố.</a:t>
            </a:r>
          </a:p>
          <a:p>
            <a:pPr marL="125984" indent="-125984">
              <a:spcBef>
                <a:spcPts val="300"/>
              </a:spcBef>
              <a:buClr>
                <a:srgbClr val="C00000"/>
              </a:buClr>
              <a:buFont typeface="Arial"/>
              <a:buChar char="•"/>
            </a:pPr>
            <a:r>
              <a:rPr sz="1600" b="1">
                <a:solidFill>
                  <a:srgbClr val="003366"/>
                </a:solidFill>
                <a:latin typeface="Roboto Black"/>
                <a:ea typeface="Roboto Black"/>
                <a:cs typeface="Roboto Black"/>
              </a:rPr>
              <a:t>Rectification</a:t>
            </a:r>
            <a:r>
              <a:rPr sz="1600" b="0">
                <a:solidFill>
                  <a:srgbClr val="222222"/>
                </a:solidFill>
                <a:latin typeface="Roboto Medium"/>
                <a:ea typeface="Roboto Medium"/>
                <a:cs typeface="Roboto Medium"/>
              </a:rPr>
              <a:t>: lệch nhiều → sửa.</a:t>
            </a:r>
          </a:p>
          <a:p>
            <a:pPr marL="125984" indent="-125984">
              <a:spcBef>
                <a:spcPts val="300"/>
              </a:spcBef>
              <a:buClr>
                <a:srgbClr val="C00000"/>
              </a:buClr>
              <a:buFont typeface="Arial"/>
              <a:buChar char="•"/>
            </a:pPr>
            <a:r>
              <a:rPr sz="1600" b="1">
                <a:solidFill>
                  <a:srgbClr val="003366"/>
                </a:solidFill>
                <a:latin typeface="Roboto Black"/>
                <a:ea typeface="Roboto Black"/>
                <a:cs typeface="Roboto Black"/>
              </a:rPr>
              <a:t>Supervisory</a:t>
            </a:r>
            <a:r>
              <a:rPr sz="1600" b="0">
                <a:solidFill>
                  <a:srgbClr val="222222"/>
                </a:solidFill>
                <a:latin typeface="Roboto Medium"/>
                <a:ea typeface="Roboto Medium"/>
                <a:cs typeface="Roboto Medium"/>
              </a:rPr>
              <a:t>: agent tự tin hơn hướng dẫn. 5 vòng GRU → final judge.</a:t>
            </a:r>
          </a:p>
        </p:txBody>
      </p:sp>
      <p:sp>
        <p:nvSpPr>
          <p:cNvPr id="16" name="TextBox 15"/>
          <p:cNvSpPr txBox="1"/>
          <p:nvPr/>
        </p:nvSpPr>
        <p:spPr>
          <a:xfrm>
            <a:off x="411480" y="3611880"/>
            <a:ext cx="1828800" cy="685800"/>
          </a:xfrm>
          <a:prstGeom prst="rect">
            <a:avLst/>
          </a:prstGeom>
          <a:noFill/>
        </p:spPr>
        <p:txBody>
          <a:bodyPr wrap="square" anchor="t" lIns="45720" rIns="45720" tIns="18288" bIns="18288"/>
          <a:lstStyle/>
          <a:p>
            <a:pPr>
              <a:spcBef>
                <a:spcPts val="0"/>
              </a:spcBef>
              <a:buNone/>
            </a:pPr>
            <a:r>
              <a:rPr sz="2600" b="1">
                <a:solidFill>
                  <a:srgbClr val="003366"/>
                </a:solidFill>
                <a:latin typeface="Roboto Black"/>
                <a:ea typeface="Roboto Black"/>
                <a:cs typeface="Roboto Black"/>
              </a:rPr>
              <a:t>0.63–0.65</a:t>
            </a:r>
          </a:p>
        </p:txBody>
      </p:sp>
      <p:sp>
        <p:nvSpPr>
          <p:cNvPr id="17" name="TextBox 16"/>
          <p:cNvSpPr txBox="1"/>
          <p:nvPr/>
        </p:nvSpPr>
        <p:spPr>
          <a:xfrm>
            <a:off x="411480" y="4270248"/>
            <a:ext cx="1828800" cy="640080"/>
          </a:xfrm>
          <a:prstGeom prst="rect">
            <a:avLst/>
          </a:prstGeom>
          <a:noFill/>
        </p:spPr>
        <p:txBody>
          <a:bodyPr wrap="square" anchor="t" lIns="45720" rIns="45720" tIns="18288" bIns="18288"/>
          <a:lstStyle/>
          <a:p>
            <a:pPr>
              <a:spcBef>
                <a:spcPts val="0"/>
              </a:spcBef>
              <a:buNone/>
            </a:pPr>
            <a:r>
              <a:rPr sz="1350" b="0">
                <a:solidFill>
                  <a:srgbClr val="666666"/>
                </a:solidFill>
                <a:latin typeface="Roboto Medium"/>
                <a:ea typeface="Roboto Medium"/>
                <a:cs typeface="Roboto Medium"/>
              </a:rPr>
              <a:t>R² trong miền (carbon, dân số, GDP)</a:t>
            </a:r>
          </a:p>
        </p:txBody>
      </p:sp>
      <p:sp>
        <p:nvSpPr>
          <p:cNvPr id="18" name="TextBox 17"/>
          <p:cNvSpPr txBox="1"/>
          <p:nvPr/>
        </p:nvSpPr>
        <p:spPr>
          <a:xfrm>
            <a:off x="2331720" y="3611880"/>
            <a:ext cx="1828800" cy="685800"/>
          </a:xfrm>
          <a:prstGeom prst="rect">
            <a:avLst/>
          </a:prstGeom>
          <a:noFill/>
        </p:spPr>
        <p:txBody>
          <a:bodyPr wrap="square" anchor="t" lIns="45720" rIns="45720" tIns="18288" bIns="18288"/>
          <a:lstStyle/>
          <a:p>
            <a:pPr>
              <a:spcBef>
                <a:spcPts val="0"/>
              </a:spcBef>
              <a:buNone/>
            </a:pPr>
            <a:r>
              <a:rPr sz="2600" b="1">
                <a:solidFill>
                  <a:srgbClr val="003366"/>
                </a:solidFill>
                <a:latin typeface="Roboto Black"/>
                <a:ea typeface="Roboto Black"/>
                <a:cs typeface="Roboto Black"/>
              </a:rPr>
              <a:t>≈ 0.60</a:t>
            </a:r>
          </a:p>
        </p:txBody>
      </p:sp>
      <p:sp>
        <p:nvSpPr>
          <p:cNvPr id="19" name="TextBox 18"/>
          <p:cNvSpPr txBox="1"/>
          <p:nvPr/>
        </p:nvSpPr>
        <p:spPr>
          <a:xfrm>
            <a:off x="2331720" y="4270248"/>
            <a:ext cx="1828800" cy="640080"/>
          </a:xfrm>
          <a:prstGeom prst="rect">
            <a:avLst/>
          </a:prstGeom>
          <a:noFill/>
        </p:spPr>
        <p:txBody>
          <a:bodyPr wrap="square" anchor="t" lIns="45720" rIns="45720" tIns="18288" bIns="18288"/>
          <a:lstStyle/>
          <a:p>
            <a:pPr>
              <a:spcBef>
                <a:spcPts val="0"/>
              </a:spcBef>
              <a:buNone/>
            </a:pPr>
            <a:r>
              <a:rPr sz="1350" b="0">
                <a:solidFill>
                  <a:srgbClr val="666666"/>
                </a:solidFill>
                <a:latin typeface="Roboto Medium"/>
                <a:ea typeface="Roboto Medium"/>
                <a:cs typeface="Roboto Medium"/>
              </a:rPr>
              <a:t>R² trên thành phố chưa thấy</a:t>
            </a:r>
          </a:p>
        </p:txBody>
      </p:sp>
      <p:sp>
        <p:nvSpPr>
          <p:cNvPr id="20" name="TextBox 19"/>
          <p:cNvSpPr txBox="1"/>
          <p:nvPr/>
        </p:nvSpPr>
        <p:spPr>
          <a:xfrm>
            <a:off x="4251960" y="3611880"/>
            <a:ext cx="1828800" cy="685800"/>
          </a:xfrm>
          <a:prstGeom prst="rect">
            <a:avLst/>
          </a:prstGeom>
          <a:noFill/>
        </p:spPr>
        <p:txBody>
          <a:bodyPr wrap="square" anchor="t" lIns="45720" rIns="45720" tIns="18288" bIns="18288"/>
          <a:lstStyle/>
          <a:p>
            <a:pPr>
              <a:spcBef>
                <a:spcPts val="0"/>
              </a:spcBef>
              <a:buNone/>
            </a:pPr>
            <a:r>
              <a:rPr sz="2600" b="1">
                <a:solidFill>
                  <a:srgbClr val="C00000"/>
                </a:solidFill>
                <a:latin typeface="Roboto Black"/>
                <a:ea typeface="Roboto Black"/>
                <a:cs typeface="Roboto Black"/>
              </a:rPr>
              <a:t>+8.1%</a:t>
            </a:r>
          </a:p>
        </p:txBody>
      </p:sp>
      <p:sp>
        <p:nvSpPr>
          <p:cNvPr id="21" name="TextBox 20"/>
          <p:cNvSpPr txBox="1"/>
          <p:nvPr/>
        </p:nvSpPr>
        <p:spPr>
          <a:xfrm>
            <a:off x="4251960" y="4270248"/>
            <a:ext cx="1828800" cy="640080"/>
          </a:xfrm>
          <a:prstGeom prst="rect">
            <a:avLst/>
          </a:prstGeom>
          <a:noFill/>
        </p:spPr>
        <p:txBody>
          <a:bodyPr wrap="square" anchor="t" lIns="45720" rIns="45720" tIns="18288" bIns="18288"/>
          <a:lstStyle/>
          <a:p>
            <a:pPr>
              <a:spcBef>
                <a:spcPts val="0"/>
              </a:spcBef>
              <a:buNone/>
            </a:pPr>
            <a:r>
              <a:rPr sz="1350" b="0">
                <a:solidFill>
                  <a:srgbClr val="666666"/>
                </a:solidFill>
                <a:latin typeface="Roboto Medium"/>
                <a:ea typeface="Roboto Medium"/>
                <a:cs typeface="Roboto Medium"/>
              </a:rPr>
              <a:t>R² trung bình so với baseline mạnh nhất</a:t>
            </a:r>
          </a:p>
        </p:txBody>
      </p:sp>
      <p:sp>
        <p:nvSpPr>
          <p:cNvPr id="22" name="Rectangle 21"/>
          <p:cNvSpPr/>
          <p:nvPr/>
        </p:nvSpPr>
        <p:spPr>
          <a:xfrm>
            <a:off x="6199632" y="3566160"/>
            <a:ext cx="5577840" cy="237744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199632" y="3566160"/>
            <a:ext cx="5577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45936" y="3675887"/>
            <a:ext cx="5303520" cy="2194560"/>
          </a:xfrm>
          <a:prstGeom prst="rect">
            <a:avLst/>
          </a:prstGeom>
          <a:noFill/>
        </p:spPr>
        <p:txBody>
          <a:bodyPr wrap="square" anchor="t" lIns="45720" rIns="45720" tIns="18288" bIns="18288"/>
          <a:lstStyle/>
          <a:p>
            <a:pPr>
              <a:spcBef>
                <a:spcPts val="0"/>
              </a:spcBef>
              <a:buNone/>
            </a:pPr>
            <a:r>
              <a:rPr sz="1900" b="1">
                <a:solidFill>
                  <a:srgbClr val="C00000"/>
                </a:solidFill>
                <a:latin typeface="Roboto Black"/>
                <a:ea typeface="Roboto Black"/>
                <a:cs typeface="Roboto Black"/>
              </a:rPr>
              <a:t>Đánh giá phản biện</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“Debate” là </a:t>
            </a:r>
            <a:r>
              <a:rPr sz="1600" b="1">
                <a:solidFill>
                  <a:srgbClr val="003366"/>
                </a:solidFill>
                <a:latin typeface="Roboto Black"/>
                <a:ea typeface="Roboto Black"/>
                <a:cs typeface="Roboto Black"/>
              </a:rPr>
              <a:t>GNN/GRU được huấn luyện</a:t>
            </a:r>
            <a:r>
              <a:rPr sz="1600" b="0">
                <a:solidFill>
                  <a:srgbClr val="222222"/>
                </a:solidFill>
                <a:latin typeface="Roboto Medium"/>
                <a:ea typeface="Roboto Medium"/>
                <a:cs typeface="Roboto Medium"/>
              </a:rPr>
              <a:t>, không phải tranh luận bằng ngôn ngữ.</a:t>
            </a:r>
          </a:p>
          <a:p>
            <a:pPr marL="125984" indent="-125984">
              <a:spcBef>
                <a:spcPts val="500"/>
              </a:spcBef>
              <a:buClr>
                <a:srgbClr val="C00000"/>
              </a:buClr>
              <a:buFont typeface="Arial"/>
              <a:buChar char="•"/>
            </a:pPr>
            <a:r>
              <a:rPr sz="1600" b="0">
                <a:solidFill>
                  <a:srgbClr val="222222"/>
                </a:solidFill>
                <a:latin typeface="Roboto Medium"/>
                <a:ea typeface="Roboto Medium"/>
                <a:cs typeface="Roboto Medium"/>
              </a:rPr>
              <a:t>Dữ liệu nhỏ (2,000 vị trí); text sinh từ chính ảnh vệ tinh → các modality không độc lập.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p6.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Part number"/>
          <p:cNvSpPr txBox="1"/>
          <p:nvPr/>
        </p:nvSpPr>
        <p:spPr>
          <a:xfrm>
            <a:off x="749808" y="2176272"/>
            <a:ext cx="1554480" cy="1188720"/>
          </a:xfrm>
          <a:prstGeom prst="rect">
            <a:avLst/>
          </a:prstGeom>
          <a:noFill/>
        </p:spPr>
        <p:txBody>
          <a:bodyPr wrap="square" anchor="t" lIns="45720" rIns="45720" tIns="18288" bIns="18288"/>
          <a:lstStyle/>
          <a:p>
            <a:pPr>
              <a:spcBef>
                <a:spcPts val="0"/>
              </a:spcBef>
              <a:buNone/>
            </a:pPr>
            <a:r>
              <a:rPr sz="8000" b="1">
                <a:solidFill>
                  <a:srgbClr val="C00000"/>
                </a:solidFill>
                <a:latin typeface="Roboto Black"/>
                <a:ea typeface="Roboto Black"/>
                <a:cs typeface="Roboto Black"/>
              </a:rPr>
              <a:t>06</a:t>
            </a:r>
          </a:p>
        </p:txBody>
      </p:sp>
      <p:sp>
        <p:nvSpPr>
          <p:cNvPr id="5" name="TextBox 4"/>
          <p:cNvSpPr txBox="1"/>
          <p:nvPr/>
        </p:nvSpPr>
        <p:spPr>
          <a:xfrm>
            <a:off x="2331720" y="2395728"/>
            <a:ext cx="3657600" cy="365760"/>
          </a:xfrm>
          <a:prstGeom prst="rect">
            <a:avLst/>
          </a:prstGeom>
          <a:noFill/>
        </p:spPr>
        <p:txBody>
          <a:bodyPr wrap="square" anchor="t" lIns="45720" rIns="45720" tIns="18288" bIns="18288"/>
          <a:lstStyle/>
          <a:p>
            <a:pPr>
              <a:spcBef>
                <a:spcPts val="0"/>
              </a:spcBef>
              <a:buNone/>
            </a:pPr>
            <a:r>
              <a:rPr sz="1500" b="1">
                <a:solidFill>
                  <a:srgbClr val="C00000"/>
                </a:solidFill>
                <a:latin typeface="Roboto Black"/>
                <a:ea typeface="Roboto Black"/>
                <a:cs typeface="Roboto Black"/>
              </a:rPr>
              <a:t>PHẦN 6</a:t>
            </a:r>
          </a:p>
        </p:txBody>
      </p:sp>
      <p:sp>
        <p:nvSpPr>
          <p:cNvPr id="6" name="Title"/>
          <p:cNvSpPr txBox="1"/>
          <p:nvPr/>
        </p:nvSpPr>
        <p:spPr>
          <a:xfrm>
            <a:off x="2313432" y="2724912"/>
            <a:ext cx="6400800" cy="731520"/>
          </a:xfrm>
          <a:prstGeom prst="rect">
            <a:avLst/>
          </a:prstGeom>
          <a:noFill/>
        </p:spPr>
        <p:txBody>
          <a:bodyPr wrap="square" anchor="t" lIns="45720" rIns="45720" tIns="18288" bIns="18288"/>
          <a:lstStyle/>
          <a:p>
            <a:pPr>
              <a:spcBef>
                <a:spcPts val="0"/>
              </a:spcBef>
              <a:buNone/>
            </a:pPr>
            <a:r>
              <a:rPr sz="3100" b="1">
                <a:solidFill>
                  <a:srgbClr val="003366"/>
                </a:solidFill>
                <a:latin typeface="Roboto Black"/>
                <a:ea typeface="Roboto Black"/>
                <a:cs typeface="Roboto Black"/>
              </a:rPr>
              <a:t>So sánh &amp; kết luận</a:t>
            </a:r>
          </a:p>
        </p:txBody>
      </p:sp>
      <p:sp>
        <p:nvSpPr>
          <p:cNvPr id="7" name="Rectangle 6"/>
          <p:cNvSpPr/>
          <p:nvPr/>
        </p:nvSpPr>
        <p:spPr>
          <a:xfrm>
            <a:off x="841248" y="3657600"/>
            <a:ext cx="100584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39959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9959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1</a:t>
            </a:r>
          </a:p>
        </p:txBody>
      </p:sp>
      <p:sp>
        <p:nvSpPr>
          <p:cNvPr id="10" name="TextBox 9"/>
          <p:cNvSpPr txBox="1"/>
          <p:nvPr/>
        </p:nvSpPr>
        <p:spPr>
          <a:xfrm>
            <a:off x="1261872" y="39502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So sánh hệ thống 8 paper</a:t>
            </a:r>
          </a:p>
        </p:txBody>
      </p:sp>
      <p:sp>
        <p:nvSpPr>
          <p:cNvPr id="11" name="Rounded Rectangle 10"/>
          <p:cNvSpPr/>
          <p:nvPr/>
        </p:nvSpPr>
        <p:spPr>
          <a:xfrm>
            <a:off x="841248" y="44531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4531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2</a:t>
            </a:r>
          </a:p>
        </p:txBody>
      </p:sp>
      <p:sp>
        <p:nvSpPr>
          <p:cNvPr id="13" name="TextBox 12"/>
          <p:cNvSpPr txBox="1"/>
          <p:nvPr/>
        </p:nvSpPr>
        <p:spPr>
          <a:xfrm>
            <a:off x="1261872" y="44074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Ba nhận định xuyên suốt</a:t>
            </a:r>
          </a:p>
        </p:txBody>
      </p:sp>
      <p:sp>
        <p:nvSpPr>
          <p:cNvPr id="14" name="Rounded Rectangle 13"/>
          <p:cNvSpPr/>
          <p:nvPr/>
        </p:nvSpPr>
        <p:spPr>
          <a:xfrm>
            <a:off x="841248" y="49103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49103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3</a:t>
            </a:r>
          </a:p>
        </p:txBody>
      </p:sp>
      <p:sp>
        <p:nvSpPr>
          <p:cNvPr id="16" name="TextBox 15"/>
          <p:cNvSpPr txBox="1"/>
          <p:nvPr/>
        </p:nvSpPr>
        <p:spPr>
          <a:xfrm>
            <a:off x="1261872" y="48646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Research gap và hướng phát triển</a:t>
            </a:r>
          </a:p>
        </p:txBody>
      </p:sp>
      <p:sp>
        <p:nvSpPr>
          <p:cNvPr id="17" name="Rounded Rectangle 16"/>
          <p:cNvSpPr/>
          <p:nvPr/>
        </p:nvSpPr>
        <p:spPr>
          <a:xfrm>
            <a:off x="841248" y="5367528"/>
            <a:ext cx="274320" cy="2743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5367528"/>
            <a:ext cx="274320" cy="274320"/>
          </a:xfrm>
          <a:prstGeom prst="rect">
            <a:avLst/>
          </a:prstGeom>
          <a:noFill/>
        </p:spPr>
        <p:txBody>
          <a:bodyPr wrap="square" anchor="ctr" lIns="0" rIns="0" tIns="0" bIns="0"/>
          <a:lstStyle/>
          <a:p>
            <a:pPr algn="ctr">
              <a:spcBef>
                <a:spcPts val="0"/>
              </a:spcBef>
              <a:buNone/>
            </a:pPr>
            <a:r>
              <a:rPr sz="1100" b="1">
                <a:solidFill>
                  <a:srgbClr val="FFFFFF"/>
                </a:solidFill>
                <a:latin typeface="Roboto Black"/>
                <a:ea typeface="Roboto Black"/>
                <a:cs typeface="Roboto Black"/>
              </a:rPr>
              <a:t>4</a:t>
            </a:r>
          </a:p>
        </p:txBody>
      </p:sp>
      <p:sp>
        <p:nvSpPr>
          <p:cNvPr id="19" name="TextBox 18"/>
          <p:cNvSpPr txBox="1"/>
          <p:nvPr/>
        </p:nvSpPr>
        <p:spPr>
          <a:xfrm>
            <a:off x="1261872" y="5321808"/>
            <a:ext cx="5852160" cy="365760"/>
          </a:xfrm>
          <a:prstGeom prst="rect">
            <a:avLst/>
          </a:prstGeom>
          <a:noFill/>
        </p:spPr>
        <p:txBody>
          <a:bodyPr wrap="square" anchor="ctr" lIns="45720" rIns="45720" tIns="18288" bIns="18288"/>
          <a:lstStyle/>
          <a:p>
            <a:pPr>
              <a:spcBef>
                <a:spcPts val="0"/>
              </a:spcBef>
              <a:buNone/>
            </a:pPr>
            <a:r>
              <a:rPr sz="1600" b="0">
                <a:solidFill>
                  <a:srgbClr val="222B36"/>
                </a:solidFill>
                <a:latin typeface="Roboto Medium"/>
                <a:ea typeface="Roboto Medium"/>
                <a:cs typeface="Roboto Medium"/>
              </a:rPr>
              <a:t>Kết luận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So sánh hệ thống tám paper</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So sánh</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34</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graphicFrame>
        <p:nvGraphicFramePr>
          <p:cNvPr id="8" name="Table 7"/>
          <p:cNvGraphicFramePr>
            <a:graphicFrameLocks noGrp="1"/>
          </p:cNvGraphicFramePr>
          <p:nvPr/>
        </p:nvGraphicFramePr>
        <p:xfrm>
          <a:off x="411480" y="960120"/>
          <a:ext cx="7863840" cy="4526280"/>
        </p:xfrm>
        <a:graphic>
          <a:graphicData uri="http://schemas.openxmlformats.org/drawingml/2006/table">
            <a:tbl>
              <a:tblPr firstRow="0" bandRow="0"/>
              <a:tblGrid>
                <a:gridCol w="1600200"/>
                <a:gridCol w="1691640"/>
                <a:gridCol w="960120"/>
                <a:gridCol w="1051560"/>
                <a:gridCol w="1508760"/>
                <a:gridCol w="1051560"/>
              </a:tblGrid>
              <a:tr h="502920">
                <a:tc>
                  <a:txBody>
                    <a:bodyPr wrap="square"/>
                    <a:lstStyle/>
                    <a:p>
                      <a:pPr>
                        <a:spcBef>
                          <a:spcPts val="0"/>
                        </a:spcBef>
                        <a:buNone/>
                      </a:pPr>
                      <a:r>
                        <a:rPr sz="1400" b="1">
                          <a:solidFill>
                            <a:srgbClr val="FFFFFF"/>
                          </a:solidFill>
                          <a:latin typeface="Roboto Black"/>
                          <a:ea typeface="Roboto Black"/>
                          <a:cs typeface="Roboto Black"/>
                        </a:rPr>
                        <a:t>Paper</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Loại đóng góp</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Training</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White-box</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Chi phí</a:t>
                      </a:r>
                    </a:p>
                  </a:txBody>
                  <a:tcPr marL="54864" marR="54864" marT="27432" marB="27432" anchor="ctr">
                    <a:solidFill>
                      <a:srgbClr val="003366"/>
                    </a:solidFill>
                  </a:tcPr>
                </a:tc>
                <a:tc>
                  <a:txBody>
                    <a:bodyPr wrap="square"/>
                    <a:lstStyle/>
                    <a:p>
                      <a:pPr>
                        <a:spcBef>
                          <a:spcPts val="0"/>
                        </a:spcBef>
                        <a:buNone/>
                      </a:pPr>
                      <a:r>
                        <a:rPr sz="1400" b="1">
                          <a:solidFill>
                            <a:srgbClr val="FFFFFF"/>
                          </a:solidFill>
                          <a:latin typeface="Roboto Black"/>
                          <a:ea typeface="Roboto Black"/>
                          <a:cs typeface="Roboto Black"/>
                        </a:rPr>
                        <a:t>Thống kê</a:t>
                      </a:r>
                    </a:p>
                  </a:txBody>
                  <a:tcPr marL="54864" marR="54864" marT="27432" marB="27432" anchor="ctr">
                    <a:solidFill>
                      <a:srgbClr val="003366"/>
                    </a:solidFill>
                  </a:tcPr>
                </a:tc>
              </a:tr>
              <a:tr h="502920">
                <a:tc>
                  <a:txBody>
                    <a:bodyPr wrap="square"/>
                    <a:lstStyle/>
                    <a:p>
                      <a:pPr>
                        <a:spcBef>
                          <a:spcPts val="0"/>
                        </a:spcBef>
                        <a:buNone/>
                      </a:pPr>
                      <a:r>
                        <a:rPr sz="1400" b="1">
                          <a:solidFill>
                            <a:srgbClr val="003366"/>
                          </a:solidFill>
                          <a:latin typeface="Roboto Black"/>
                          <a:ea typeface="Roboto Black"/>
                          <a:cs typeface="Roboto Black"/>
                        </a:rPr>
                        <a:t>MIRAGE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Defense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TIDE</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Benchmark</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1">
                          <a:solidFill>
                            <a:srgbClr val="003366"/>
                          </a:solidFill>
                          <a:latin typeface="Roboto Black"/>
                          <a:ea typeface="Roboto Black"/>
                          <a:cs typeface="Roboto Black"/>
                        </a:rPr>
                        <a:t>✓</a:t>
                      </a:r>
                    </a:p>
                  </a:txBody>
                  <a:tcPr marL="54864" marR="54864" marT="27432" marB="27432" anchor="ctr">
                    <a:solidFill>
                      <a:srgbClr val="F3F6FB"/>
                    </a:solidFill>
                  </a:tcPr>
                </a:tc>
              </a:tr>
              <a:tr h="502920">
                <a:tc>
                  <a:txBody>
                    <a:bodyPr wrap="square"/>
                    <a:lstStyle/>
                    <a:p>
                      <a:pPr>
                        <a:spcBef>
                          <a:spcPts val="0"/>
                        </a:spcBef>
                        <a:buNone/>
                      </a:pPr>
                      <a:r>
                        <a:rPr sz="1400" b="1">
                          <a:solidFill>
                            <a:srgbClr val="003366"/>
                          </a:solidFill>
                          <a:latin typeface="Roboto Black"/>
                          <a:ea typeface="Roboto Black"/>
                          <a:cs typeface="Roboto Black"/>
                        </a:rPr>
                        <a:t>ProgRouter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Router</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online</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1">
                          <a:solidFill>
                            <a:srgbClr val="003366"/>
                          </a:solidFill>
                          <a:latin typeface="Roboto Black"/>
                          <a:ea typeface="Roboto Black"/>
                          <a:cs typeface="Roboto Black"/>
                        </a:rPr>
                        <a:t>✓ năng lượng</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HalluProp</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Risk predictor</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 thời gian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r>
              <a:tr h="502920">
                <a:tc>
                  <a:txBody>
                    <a:bodyPr wrap="square"/>
                    <a:lstStyle/>
                    <a:p>
                      <a:pPr>
                        <a:spcBef>
                          <a:spcPts val="0"/>
                        </a:spcBef>
                        <a:buNone/>
                      </a:pPr>
                      <a:r>
                        <a:rPr sz="1400" b="1">
                          <a:solidFill>
                            <a:srgbClr val="003366"/>
                          </a:solidFill>
                          <a:latin typeface="Roboto Black"/>
                          <a:ea typeface="Roboto Black"/>
                          <a:cs typeface="Roboto Black"/>
                        </a:rPr>
                        <a:t>DAIN</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Kiến trúc fusion</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 tham số</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AGENT-RADAR</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Plug-in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1">
                          <a:solidFill>
                            <a:srgbClr val="C00000"/>
                          </a:solidFill>
                          <a:latin typeface="Roboto Black"/>
                          <a:ea typeface="Roboto Black"/>
                          <a:cs typeface="Roboto Black"/>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 thời gian</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r>
              <a:tr h="502920">
                <a:tc>
                  <a:txBody>
                    <a:bodyPr wrap="square"/>
                    <a:lstStyle/>
                    <a:p>
                      <a:pPr>
                        <a:spcBef>
                          <a:spcPts val="0"/>
                        </a:spcBef>
                        <a:buNone/>
                      </a:pPr>
                      <a:r>
                        <a:rPr sz="1400" b="1">
                          <a:solidFill>
                            <a:srgbClr val="003366"/>
                          </a:solidFill>
                          <a:latin typeface="Roboto Black"/>
                          <a:ea typeface="Roboto Black"/>
                          <a:cs typeface="Roboto Black"/>
                        </a:rPr>
                        <a:t>MAC-RRG</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Ứng dụng</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FFFFF"/>
                    </a:solidFill>
                  </a:tcPr>
                </a:tc>
              </a:tr>
              <a:tr h="502920">
                <a:tc>
                  <a:txBody>
                    <a:bodyPr wrap="square"/>
                    <a:lstStyle/>
                    <a:p>
                      <a:pPr>
                        <a:spcBef>
                          <a:spcPts val="0"/>
                        </a:spcBef>
                        <a:buNone/>
                      </a:pPr>
                      <a:r>
                        <a:rPr sz="1400" b="1">
                          <a:solidFill>
                            <a:srgbClr val="003366"/>
                          </a:solidFill>
                          <a:latin typeface="Roboto Black"/>
                          <a:ea typeface="Roboto Black"/>
                          <a:cs typeface="Roboto Black"/>
                        </a:rPr>
                        <a:t>UrbanAgent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Ứng dụng</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c>
                  <a:txBody>
                    <a:bodyPr wrap="square"/>
                    <a:lstStyle/>
                    <a:p>
                      <a:pPr>
                        <a:spcBef>
                          <a:spcPts val="0"/>
                        </a:spcBef>
                        <a:buNone/>
                      </a:pPr>
                      <a:r>
                        <a:rPr sz="1400" b="0">
                          <a:solidFill>
                            <a:srgbClr val="222222"/>
                          </a:solidFill>
                          <a:latin typeface="Roboto Medium"/>
                          <a:ea typeface="Roboto Medium"/>
                          <a:cs typeface="Roboto Medium"/>
                        </a:rPr>
                        <a:t>✗</a:t>
                      </a:r>
                    </a:p>
                  </a:txBody>
                  <a:tcPr marL="54864" marR="54864" marT="27432" marB="27432" anchor="ctr">
                    <a:solidFill>
                      <a:srgbClr val="F3F6FB"/>
                    </a:solidFill>
                  </a:tcPr>
                </a:tc>
              </a:tr>
            </a:tbl>
          </a:graphicData>
        </a:graphic>
      </p:graphicFrame>
      <p:sp>
        <p:nvSpPr>
          <p:cNvPr id="9" name="Rectangle 8"/>
          <p:cNvSpPr/>
          <p:nvPr/>
        </p:nvSpPr>
        <p:spPr>
          <a:xfrm>
            <a:off x="8503920" y="960120"/>
            <a:ext cx="3273552" cy="498348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03920" y="960120"/>
            <a:ext cx="3273552" cy="54864"/>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50224" y="1069848"/>
            <a:ext cx="2999232" cy="480060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Đọc bảng</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Chỉ </a:t>
            </a:r>
            <a:r>
              <a:rPr sz="1600" b="1">
                <a:solidFill>
                  <a:srgbClr val="003366"/>
                </a:solidFill>
                <a:latin typeface="Roboto Black"/>
                <a:ea typeface="Roboto Black"/>
                <a:cs typeface="Roboto Black"/>
              </a:rPr>
              <a:t>TIDE</a:t>
            </a:r>
            <a:r>
              <a:rPr sz="1600" b="0">
                <a:solidFill>
                  <a:srgbClr val="222222"/>
                </a:solidFill>
                <a:latin typeface="Roboto Medium"/>
                <a:ea typeface="Roboto Medium"/>
                <a:cs typeface="Roboto Medium"/>
              </a:rPr>
              <a:t> có kiểm định thống kê.</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Chỉ </a:t>
            </a:r>
            <a:r>
              <a:rPr sz="1600" b="1">
                <a:solidFill>
                  <a:srgbClr val="003366"/>
                </a:solidFill>
                <a:latin typeface="Roboto Black"/>
                <a:ea typeface="Roboto Black"/>
                <a:cs typeface="Roboto Black"/>
              </a:rPr>
              <a:t>ProgRouter</a:t>
            </a:r>
            <a:r>
              <a:rPr sz="1600" b="0">
                <a:solidFill>
                  <a:srgbClr val="222222"/>
                </a:solidFill>
                <a:latin typeface="Roboto Medium"/>
                <a:ea typeface="Roboto Medium"/>
                <a:cs typeface="Roboto Medium"/>
              </a:rPr>
              <a:t> đo năng lượng GPU thực.</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Chỉ </a:t>
            </a:r>
            <a:r>
              <a:rPr sz="1600" b="1">
                <a:solidFill>
                  <a:srgbClr val="003366"/>
                </a:solidFill>
                <a:latin typeface="Roboto Black"/>
                <a:ea typeface="Roboto Black"/>
                <a:cs typeface="Roboto Black"/>
              </a:rPr>
              <a:t>AGENT-RADAR</a:t>
            </a:r>
            <a:r>
              <a:rPr sz="1600" b="0">
                <a:solidFill>
                  <a:srgbClr val="222222"/>
                </a:solidFill>
                <a:latin typeface="Roboto Medium"/>
                <a:ea typeface="Roboto Medium"/>
                <a:cs typeface="Roboto Medium"/>
              </a:rPr>
              <a:t> bắt buộc white-box.</a:t>
            </a:r>
          </a:p>
          <a:p>
            <a:pPr marL="125984" indent="-125984">
              <a:spcBef>
                <a:spcPts val="800"/>
              </a:spcBef>
              <a:buClr>
                <a:srgbClr val="C00000"/>
              </a:buClr>
              <a:buFont typeface="Arial"/>
              <a:buChar char="•"/>
            </a:pPr>
            <a:r>
              <a:rPr sz="1600" b="0">
                <a:solidFill>
                  <a:srgbClr val="222222"/>
                </a:solidFill>
                <a:latin typeface="Roboto Medium"/>
                <a:ea typeface="Roboto Medium"/>
                <a:cs typeface="Roboto Medium"/>
              </a:rPr>
              <a:t>Cùng benchmark nhưng khác tập con, topology, backbone → </a:t>
            </a:r>
            <a:r>
              <a:rPr sz="1600" b="1">
                <a:solidFill>
                  <a:srgbClr val="C00000"/>
                </a:solidFill>
                <a:latin typeface="Roboto Black"/>
                <a:ea typeface="Roboto Black"/>
                <a:cs typeface="Roboto Black"/>
              </a:rPr>
              <a:t>không so trực tiếp</a:t>
            </a:r>
            <a:r>
              <a:rPr sz="1600" b="0">
                <a:solidFill>
                  <a:srgbClr val="222222"/>
                </a:solidFill>
                <a:latin typeface="Roboto Medium"/>
                <a:ea typeface="Roboto Medium"/>
                <a:cs typeface="Roboto Medium"/>
              </a:rPr>
              <a:t> được con số.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Ba nhận định xuyên suốt</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So sánh</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35</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05840"/>
            <a:ext cx="914400" cy="12801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05840"/>
            <a:ext cx="914400" cy="1280160"/>
          </a:xfrm>
          <a:prstGeom prst="rect">
            <a:avLst/>
          </a:prstGeom>
          <a:noFill/>
        </p:spPr>
        <p:txBody>
          <a:bodyPr wrap="square" anchor="ctr" lIns="45720" rIns="45720" tIns="18288" bIns="18288"/>
          <a:lstStyle/>
          <a:p>
            <a:pPr algn="ctr">
              <a:spcBef>
                <a:spcPts val="0"/>
              </a:spcBef>
              <a:buNone/>
            </a:pPr>
            <a:r>
              <a:rPr sz="3000" b="1">
                <a:solidFill>
                  <a:srgbClr val="FFFFFF"/>
                </a:solidFill>
                <a:latin typeface="Roboto Black"/>
                <a:ea typeface="Roboto Black"/>
                <a:cs typeface="Roboto Black"/>
              </a:rPr>
              <a:t>1</a:t>
            </a:r>
          </a:p>
        </p:txBody>
      </p:sp>
      <p:sp>
        <p:nvSpPr>
          <p:cNvPr id="10" name="Rectangle 9"/>
          <p:cNvSpPr/>
          <p:nvPr/>
        </p:nvSpPr>
        <p:spPr>
          <a:xfrm>
            <a:off x="1463040" y="1005840"/>
            <a:ext cx="10314432" cy="12801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00200" y="1078992"/>
            <a:ext cx="10040112" cy="118872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Communication graph là trung tâm</a:t>
            </a:r>
          </a:p>
          <a:p>
            <a:pPr>
              <a:spcBef>
                <a:spcPts val="500"/>
              </a:spcBef>
              <a:buNone/>
            </a:pPr>
            <a:r>
              <a:rPr sz="1600" b="0">
                <a:solidFill>
                  <a:srgbClr val="222222"/>
                </a:solidFill>
                <a:latin typeface="Roboto Medium"/>
                <a:ea typeface="Roboto Medium"/>
                <a:cs typeface="Roboto Medium"/>
              </a:rPr>
              <a:t>6/8 bài thao tác trực tiếp: </a:t>
            </a:r>
            <a:r>
              <a:rPr sz="1600" b="1">
                <a:solidFill>
                  <a:srgbClr val="003366"/>
                </a:solidFill>
                <a:latin typeface="Roboto Black"/>
                <a:ea typeface="Roboto Black"/>
                <a:cs typeface="Roboto Black"/>
              </a:rPr>
              <a:t>giấu</a:t>
            </a:r>
            <a:r>
              <a:rPr sz="1600" b="0">
                <a:solidFill>
                  <a:srgbClr val="222222"/>
                </a:solidFill>
                <a:latin typeface="Roboto Medium"/>
                <a:ea typeface="Roboto Medium"/>
                <a:cs typeface="Roboto Medium"/>
              </a:rPr>
              <a:t> (MIRAGE), </a:t>
            </a:r>
            <a:r>
              <a:rPr sz="1600" b="1">
                <a:solidFill>
                  <a:srgbClr val="003366"/>
                </a:solidFill>
                <a:latin typeface="Roboto Black"/>
                <a:ea typeface="Roboto Black"/>
                <a:cs typeface="Roboto Black"/>
              </a:rPr>
              <a:t>phân tích</a:t>
            </a:r>
            <a:r>
              <a:rPr sz="1600" b="0">
                <a:solidFill>
                  <a:srgbClr val="222222"/>
                </a:solidFill>
                <a:latin typeface="Roboto Medium"/>
                <a:ea typeface="Roboto Medium"/>
                <a:cs typeface="Roboto Medium"/>
              </a:rPr>
              <a:t> (HalluProp), </a:t>
            </a:r>
            <a:r>
              <a:rPr sz="1600" b="1">
                <a:solidFill>
                  <a:srgbClr val="003366"/>
                </a:solidFill>
                <a:latin typeface="Roboto Black"/>
                <a:ea typeface="Roboto Black"/>
                <a:cs typeface="Roboto Black"/>
              </a:rPr>
              <a:t>đo khoảng cách</a:t>
            </a:r>
            <a:r>
              <a:rPr sz="1600" b="0">
                <a:solidFill>
                  <a:srgbClr val="222222"/>
                </a:solidFill>
                <a:latin typeface="Roboto Medium"/>
                <a:ea typeface="Roboto Medium"/>
                <a:cs typeface="Roboto Medium"/>
              </a:rPr>
              <a:t> (RADAR), </a:t>
            </a:r>
            <a:r>
              <a:rPr sz="1600" b="1">
                <a:solidFill>
                  <a:srgbClr val="003366"/>
                </a:solidFill>
                <a:latin typeface="Roboto Black"/>
                <a:ea typeface="Roboto Black"/>
                <a:cs typeface="Roboto Black"/>
              </a:rPr>
              <a:t>học</a:t>
            </a:r>
            <a:r>
              <a:rPr sz="1600" b="0">
                <a:solidFill>
                  <a:srgbClr val="222222"/>
                </a:solidFill>
                <a:latin typeface="Roboto Medium"/>
                <a:ea typeface="Roboto Medium"/>
                <a:cs typeface="Roboto Medium"/>
              </a:rPr>
              <a:t> (DAIN, UrbanAgent), </a:t>
            </a:r>
            <a:r>
              <a:rPr sz="1600" b="1">
                <a:solidFill>
                  <a:srgbClr val="003366"/>
                </a:solidFill>
                <a:latin typeface="Roboto Black"/>
                <a:ea typeface="Roboto Black"/>
                <a:cs typeface="Roboto Black"/>
              </a:rPr>
              <a:t>truy vết</a:t>
            </a:r>
            <a:r>
              <a:rPr sz="1600" b="0">
                <a:solidFill>
                  <a:srgbClr val="222222"/>
                </a:solidFill>
                <a:latin typeface="Roboto Medium"/>
                <a:ea typeface="Roboto Medium"/>
                <a:cs typeface="Roboto Medium"/>
              </a:rPr>
              <a:t> (TIDE).</a:t>
            </a:r>
          </a:p>
        </p:txBody>
      </p:sp>
      <p:sp>
        <p:nvSpPr>
          <p:cNvPr id="12" name="Rounded Rectangle 11"/>
          <p:cNvSpPr/>
          <p:nvPr/>
        </p:nvSpPr>
        <p:spPr>
          <a:xfrm>
            <a:off x="411480" y="2468880"/>
            <a:ext cx="914400" cy="128016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11480" y="2468880"/>
            <a:ext cx="914400" cy="1280160"/>
          </a:xfrm>
          <a:prstGeom prst="rect">
            <a:avLst/>
          </a:prstGeom>
          <a:noFill/>
        </p:spPr>
        <p:txBody>
          <a:bodyPr wrap="square" anchor="ctr" lIns="45720" rIns="45720" tIns="18288" bIns="18288"/>
          <a:lstStyle/>
          <a:p>
            <a:pPr algn="ctr">
              <a:spcBef>
                <a:spcPts val="0"/>
              </a:spcBef>
              <a:buNone/>
            </a:pPr>
            <a:r>
              <a:rPr sz="3000" b="1">
                <a:solidFill>
                  <a:srgbClr val="FFFFFF"/>
                </a:solidFill>
                <a:latin typeface="Roboto Black"/>
                <a:ea typeface="Roboto Black"/>
                <a:cs typeface="Roboto Black"/>
              </a:rPr>
              <a:t>2</a:t>
            </a:r>
          </a:p>
        </p:txBody>
      </p:sp>
      <p:sp>
        <p:nvSpPr>
          <p:cNvPr id="14" name="Rectangle 13"/>
          <p:cNvSpPr/>
          <p:nvPr/>
        </p:nvSpPr>
        <p:spPr>
          <a:xfrm>
            <a:off x="1463040" y="2468880"/>
            <a:ext cx="10314432" cy="12801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00200" y="2542032"/>
            <a:ext cx="10040112" cy="118872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Lan truyền là rủi ro cốt lõi</a:t>
            </a:r>
          </a:p>
          <a:p>
            <a:pPr>
              <a:spcBef>
                <a:spcPts val="500"/>
              </a:spcBef>
              <a:buNone/>
            </a:pPr>
            <a:r>
              <a:rPr sz="1600" b="0">
                <a:solidFill>
                  <a:srgbClr val="222222"/>
                </a:solidFill>
                <a:latin typeface="Roboto Medium"/>
                <a:ea typeface="Roboto Medium"/>
                <a:cs typeface="Roboto Medium"/>
              </a:rPr>
              <a:t>Thảo luận </a:t>
            </a:r>
            <a:r>
              <a:rPr sz="1600" b="1">
                <a:solidFill>
                  <a:srgbClr val="003366"/>
                </a:solidFill>
                <a:latin typeface="Roboto Black"/>
                <a:ea typeface="Roboto Black"/>
                <a:cs typeface="Roboto Black"/>
              </a:rPr>
              <a:t>khuếch đại</a:t>
            </a:r>
            <a:r>
              <a:rPr sz="1600" b="0">
                <a:solidFill>
                  <a:srgbClr val="222222"/>
                </a:solidFill>
                <a:latin typeface="Roboto Medium"/>
                <a:ea typeface="Roboto Medium"/>
                <a:cs typeface="Roboto Medium"/>
              </a:rPr>
              <a:t> sai lệch thay vì sửa sai (TIDE); hallucination lan theo cạnh (HalluProp).</a:t>
            </a:r>
          </a:p>
        </p:txBody>
      </p:sp>
      <p:sp>
        <p:nvSpPr>
          <p:cNvPr id="16" name="Rounded Rectangle 15"/>
          <p:cNvSpPr/>
          <p:nvPr/>
        </p:nvSpPr>
        <p:spPr>
          <a:xfrm>
            <a:off x="411480" y="3931920"/>
            <a:ext cx="914400" cy="128016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480" y="3931920"/>
            <a:ext cx="914400" cy="1280160"/>
          </a:xfrm>
          <a:prstGeom prst="rect">
            <a:avLst/>
          </a:prstGeom>
          <a:noFill/>
        </p:spPr>
        <p:txBody>
          <a:bodyPr wrap="square" anchor="ctr" lIns="45720" rIns="45720" tIns="18288" bIns="18288"/>
          <a:lstStyle/>
          <a:p>
            <a:pPr algn="ctr">
              <a:spcBef>
                <a:spcPts val="0"/>
              </a:spcBef>
              <a:buNone/>
            </a:pPr>
            <a:r>
              <a:rPr sz="3000" b="1">
                <a:solidFill>
                  <a:srgbClr val="FFFFFF"/>
                </a:solidFill>
                <a:latin typeface="Roboto Black"/>
                <a:ea typeface="Roboto Black"/>
                <a:cs typeface="Roboto Black"/>
              </a:rPr>
              <a:t>3</a:t>
            </a:r>
          </a:p>
        </p:txBody>
      </p:sp>
      <p:sp>
        <p:nvSpPr>
          <p:cNvPr id="18" name="Rectangle 17"/>
          <p:cNvSpPr/>
          <p:nvPr/>
        </p:nvSpPr>
        <p:spPr>
          <a:xfrm>
            <a:off x="1463040" y="3931920"/>
            <a:ext cx="10314432" cy="128016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00200" y="4005072"/>
            <a:ext cx="10040112" cy="1188720"/>
          </a:xfrm>
          <a:prstGeom prst="rect">
            <a:avLst/>
          </a:prstGeom>
          <a:noFill/>
        </p:spPr>
        <p:txBody>
          <a:bodyPr wrap="square" anchor="t" lIns="45720" rIns="45720" tIns="18288" bIns="18288"/>
          <a:lstStyle/>
          <a:p>
            <a:pPr>
              <a:spcBef>
                <a:spcPts val="0"/>
              </a:spcBef>
              <a:buNone/>
            </a:pPr>
            <a:r>
              <a:rPr sz="1900" b="1">
                <a:solidFill>
                  <a:srgbClr val="003366"/>
                </a:solidFill>
                <a:latin typeface="Roboto Black"/>
                <a:ea typeface="Roboto Black"/>
                <a:cs typeface="Roboto Black"/>
              </a:rPr>
              <a:t>Khái niệm “agent” bị nới rộng</a:t>
            </a:r>
          </a:p>
          <a:p>
            <a:pPr>
              <a:spcBef>
                <a:spcPts val="500"/>
              </a:spcBef>
              <a:buNone/>
            </a:pPr>
            <a:r>
              <a:rPr sz="1600" b="0">
                <a:solidFill>
                  <a:srgbClr val="222222"/>
                </a:solidFill>
                <a:latin typeface="Roboto Medium"/>
                <a:ea typeface="Roboto Medium"/>
                <a:cs typeface="Roboto Medium"/>
              </a:rPr>
              <a:t>LLM agent thật (5 bài) · LLM + aggregator học được (UrbanAgent) · neural / retrieval module (DAIN, MAC-RRG).</a:t>
            </a:r>
          </a:p>
        </p:txBody>
      </p:sp>
      <p:sp>
        <p:nvSpPr>
          <p:cNvPr id="20" name="TextBox 19"/>
          <p:cNvSpPr txBox="1"/>
          <p:nvPr/>
        </p:nvSpPr>
        <p:spPr>
          <a:xfrm>
            <a:off x="411480" y="5440680"/>
            <a:ext cx="11365992" cy="502920"/>
          </a:xfrm>
          <a:prstGeom prst="rect">
            <a:avLst/>
          </a:prstGeom>
          <a:noFill/>
        </p:spPr>
        <p:txBody>
          <a:bodyPr wrap="square" anchor="t" lIns="45720" rIns="45720" tIns="18288" bIns="18288"/>
          <a:lstStyle/>
          <a:p>
            <a:pPr>
              <a:spcBef>
                <a:spcPts val="0"/>
              </a:spcBef>
              <a:buNone/>
            </a:pPr>
            <a:r>
              <a:rPr sz="1550" b="0">
                <a:solidFill>
                  <a:srgbClr val="666666"/>
                </a:solidFill>
                <a:latin typeface="Roboto Medium"/>
                <a:ea typeface="Roboto Medium"/>
                <a:cs typeface="Roboto Medium"/>
              </a:rPr>
              <a:t>Hiệu quả </a:t>
            </a:r>
            <a:r>
              <a:rPr sz="1550" b="1">
                <a:solidFill>
                  <a:srgbClr val="003366"/>
                </a:solidFill>
                <a:latin typeface="Roboto Black"/>
                <a:ea typeface="Roboto Black"/>
                <a:cs typeface="Roboto Black"/>
              </a:rPr>
              <a:t>không</a:t>
            </a:r>
            <a:r>
              <a:rPr sz="1550" b="0">
                <a:solidFill>
                  <a:srgbClr val="666666"/>
                </a:solidFill>
                <a:latin typeface="Roboto Medium"/>
                <a:ea typeface="Roboto Medium"/>
                <a:cs typeface="Roboto Medium"/>
              </a:rPr>
              <a:t> đến từ nhiều agent hơn: ProgRouter dùng chủ yếu model 0.5B; DAIN tốt nhất với τ = 4/8 agent.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Research gap và hướng phát triển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Kết luận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36</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TextBox 7"/>
          <p:cNvSpPr txBox="1"/>
          <p:nvPr/>
        </p:nvSpPr>
        <p:spPr>
          <a:xfrm>
            <a:off x="411480" y="914400"/>
            <a:ext cx="5303520" cy="457200"/>
          </a:xfrm>
          <a:prstGeom prst="rect">
            <a:avLst/>
          </a:prstGeom>
          <a:noFill/>
        </p:spPr>
        <p:txBody>
          <a:bodyPr wrap="square" anchor="t" lIns="45720" rIns="45720" tIns="18288" bIns="18288"/>
          <a:lstStyle/>
          <a:p>
            <a:pPr>
              <a:spcBef>
                <a:spcPts val="0"/>
              </a:spcBef>
              <a:buNone/>
            </a:pPr>
            <a:r>
              <a:rPr sz="2000" b="1">
                <a:solidFill>
                  <a:srgbClr val="C00000"/>
                </a:solidFill>
                <a:latin typeface="Roboto Black"/>
                <a:ea typeface="Roboto Black"/>
                <a:cs typeface="Roboto Black"/>
              </a:rPr>
              <a:t>Research gap</a:t>
            </a:r>
          </a:p>
        </p:txBody>
      </p:sp>
      <p:sp>
        <p:nvSpPr>
          <p:cNvPr id="9" name="Rounded Rectangle 8"/>
          <p:cNvSpPr/>
          <p:nvPr/>
        </p:nvSpPr>
        <p:spPr>
          <a:xfrm>
            <a:off x="411480" y="146304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11480" y="146304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G1</a:t>
            </a:r>
          </a:p>
        </p:txBody>
      </p:sp>
      <p:sp>
        <p:nvSpPr>
          <p:cNvPr id="11" name="Rectangle 10"/>
          <p:cNvSpPr/>
          <p:nvPr/>
        </p:nvSpPr>
        <p:spPr>
          <a:xfrm>
            <a:off x="1069848" y="146304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61288" y="146304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Chưa có benchmark chung: chất lượng + chi phí + robustness</a:t>
            </a:r>
          </a:p>
        </p:txBody>
      </p:sp>
      <p:sp>
        <p:nvSpPr>
          <p:cNvPr id="13" name="Rounded Rectangle 12"/>
          <p:cNvSpPr/>
          <p:nvPr/>
        </p:nvSpPr>
        <p:spPr>
          <a:xfrm>
            <a:off x="411480" y="233172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11480" y="233172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G2</a:t>
            </a:r>
          </a:p>
        </p:txBody>
      </p:sp>
      <p:sp>
        <p:nvSpPr>
          <p:cNvPr id="15" name="Rectangle 14"/>
          <p:cNvSpPr/>
          <p:nvPr/>
        </p:nvSpPr>
        <p:spPr>
          <a:xfrm>
            <a:off x="1069848" y="233172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33172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7/8 bài không có phương sai hay kiểm định thống kê</a:t>
            </a:r>
          </a:p>
        </p:txBody>
      </p:sp>
      <p:sp>
        <p:nvSpPr>
          <p:cNvPr id="17" name="Rounded Rectangle 16"/>
          <p:cNvSpPr/>
          <p:nvPr/>
        </p:nvSpPr>
        <p:spPr>
          <a:xfrm>
            <a:off x="411480" y="320040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11480" y="320040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G3</a:t>
            </a:r>
          </a:p>
        </p:txBody>
      </p:sp>
      <p:sp>
        <p:nvSpPr>
          <p:cNvPr id="19" name="Rectangle 18"/>
          <p:cNvSpPr/>
          <p:nvPr/>
        </p:nvSpPr>
        <p:spPr>
          <a:xfrm>
            <a:off x="1069848" y="320040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61288" y="320040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Quy mô nhỏ: ≤ 8 agent, 2–5 vòng, tác vụ ngắn</a:t>
            </a:r>
          </a:p>
        </p:txBody>
      </p:sp>
      <p:sp>
        <p:nvSpPr>
          <p:cNvPr id="21" name="Rounded Rectangle 20"/>
          <p:cNvSpPr/>
          <p:nvPr/>
        </p:nvSpPr>
        <p:spPr>
          <a:xfrm>
            <a:off x="411480" y="4069079"/>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11480" y="4069079"/>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G4</a:t>
            </a:r>
          </a:p>
        </p:txBody>
      </p:sp>
      <p:sp>
        <p:nvSpPr>
          <p:cNvPr id="23" name="Rectangle 22"/>
          <p:cNvSpPr/>
          <p:nvPr/>
        </p:nvSpPr>
        <p:spPr>
          <a:xfrm>
            <a:off x="1069848" y="4069079"/>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61288" y="4069079"/>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Chưa có adaptive attacker; chưa có cách khôi phục sự thật</a:t>
            </a:r>
          </a:p>
        </p:txBody>
      </p:sp>
      <p:sp>
        <p:nvSpPr>
          <p:cNvPr id="25" name="Rounded Rectangle 24"/>
          <p:cNvSpPr/>
          <p:nvPr/>
        </p:nvSpPr>
        <p:spPr>
          <a:xfrm>
            <a:off x="411480" y="4937760"/>
            <a:ext cx="566928" cy="713232"/>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11480" y="4937760"/>
            <a:ext cx="566928" cy="713232"/>
          </a:xfrm>
          <a:prstGeom prst="rect">
            <a:avLst/>
          </a:prstGeom>
          <a:noFill/>
        </p:spPr>
        <p:txBody>
          <a:bodyPr wrap="square" anchor="ctr" lIns="45720" rIns="45720" tIns="18288" bIns="18288"/>
          <a:lstStyle/>
          <a:p>
            <a:pPr algn="ctr">
              <a:spcBef>
                <a:spcPts val="0"/>
              </a:spcBef>
              <a:buNone/>
            </a:pPr>
            <a:r>
              <a:rPr sz="1500" b="1">
                <a:solidFill>
                  <a:srgbClr val="FFFFFF"/>
                </a:solidFill>
                <a:latin typeface="Roboto Black"/>
                <a:ea typeface="Roboto Black"/>
                <a:cs typeface="Roboto Black"/>
              </a:rPr>
              <a:t>G5</a:t>
            </a:r>
          </a:p>
        </p:txBody>
      </p:sp>
      <p:sp>
        <p:nvSpPr>
          <p:cNvPr id="27" name="Rectangle 26"/>
          <p:cNvSpPr/>
          <p:nvPr/>
        </p:nvSpPr>
        <p:spPr>
          <a:xfrm>
            <a:off x="1069848" y="4937760"/>
            <a:ext cx="4553712" cy="713232"/>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61288" y="4937760"/>
            <a:ext cx="4389120" cy="713232"/>
          </a:xfrm>
          <a:prstGeom prst="rect">
            <a:avLst/>
          </a:prstGeom>
          <a:noFill/>
        </p:spPr>
        <p:txBody>
          <a:bodyPr wrap="square" anchor="ctr" lIns="45720" rIns="45720" tIns="18288" bIns="18288"/>
          <a:lstStyle/>
          <a:p>
            <a:pPr>
              <a:spcBef>
                <a:spcPts val="0"/>
              </a:spcBef>
              <a:buNone/>
            </a:pPr>
            <a:r>
              <a:rPr sz="1500" b="0">
                <a:solidFill>
                  <a:srgbClr val="222222"/>
                </a:solidFill>
                <a:latin typeface="Roboto Medium"/>
                <a:ea typeface="Roboto Medium"/>
                <a:cs typeface="Roboto Medium"/>
              </a:rPr>
              <a:t>Phương pháp tối ưu chưa được thử trong điều kiện đối kháng</a:t>
            </a:r>
          </a:p>
        </p:txBody>
      </p:sp>
      <p:sp>
        <p:nvSpPr>
          <p:cNvPr id="29" name="TextBox 28"/>
          <p:cNvSpPr txBox="1"/>
          <p:nvPr/>
        </p:nvSpPr>
        <p:spPr>
          <a:xfrm>
            <a:off x="6035040" y="914400"/>
            <a:ext cx="5760720" cy="457200"/>
          </a:xfrm>
          <a:prstGeom prst="rect">
            <a:avLst/>
          </a:prstGeom>
          <a:noFill/>
        </p:spPr>
        <p:txBody>
          <a:bodyPr wrap="square" anchor="t" lIns="45720" rIns="45720" tIns="18288" bIns="18288"/>
          <a:lstStyle/>
          <a:p>
            <a:pPr>
              <a:spcBef>
                <a:spcPts val="0"/>
              </a:spcBef>
              <a:buNone/>
            </a:pPr>
            <a:r>
              <a:rPr sz="2000" b="1">
                <a:solidFill>
                  <a:srgbClr val="003366"/>
                </a:solidFill>
                <a:latin typeface="Roboto Black"/>
                <a:ea typeface="Roboto Black"/>
                <a:cs typeface="Roboto Black"/>
              </a:rPr>
              <a:t>Hướng phát triển</a:t>
            </a:r>
          </a:p>
        </p:txBody>
      </p:sp>
      <p:sp>
        <p:nvSpPr>
          <p:cNvPr id="30" name="Rectangle 29"/>
          <p:cNvSpPr/>
          <p:nvPr/>
        </p:nvSpPr>
        <p:spPr>
          <a:xfrm>
            <a:off x="6035040" y="1463040"/>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163056" y="1499616"/>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Benchmark 3 trục</a:t>
            </a:r>
          </a:p>
          <a:p>
            <a:pPr>
              <a:spcBef>
                <a:spcPts val="200"/>
              </a:spcBef>
              <a:buNone/>
            </a:pPr>
            <a:r>
              <a:rPr sz="1500" b="0">
                <a:solidFill>
                  <a:srgbClr val="222222"/>
                </a:solidFill>
                <a:latin typeface="Roboto Medium"/>
                <a:ea typeface="Roboto Medium"/>
                <a:cs typeface="Roboto Medium"/>
              </a:rPr>
              <a:t>chất lượng · chi phí · robustness (giao thức C0/C1 của TIDE)</a:t>
            </a:r>
          </a:p>
        </p:txBody>
      </p:sp>
      <p:sp>
        <p:nvSpPr>
          <p:cNvPr id="32" name="Rectangle 31"/>
          <p:cNvSpPr/>
          <p:nvPr/>
        </p:nvSpPr>
        <p:spPr>
          <a:xfrm>
            <a:off x="6035040" y="2551176"/>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163056" y="2587752"/>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Provenance-aware communication</a:t>
            </a:r>
          </a:p>
          <a:p>
            <a:pPr>
              <a:spcBef>
                <a:spcPts val="200"/>
              </a:spcBef>
              <a:buNone/>
            </a:pPr>
            <a:r>
              <a:rPr sz="1500" b="0">
                <a:solidFill>
                  <a:srgbClr val="222222"/>
                </a:solidFill>
                <a:latin typeface="Roboto Medium"/>
                <a:ea typeface="Roboto Medium"/>
                <a:cs typeface="Roboto Medium"/>
              </a:rPr>
              <a:t>score(RADAR) × (1 − ĥ_j) × μ^hop</a:t>
            </a:r>
          </a:p>
        </p:txBody>
      </p:sp>
      <p:sp>
        <p:nvSpPr>
          <p:cNvPr id="34" name="Rectangle 33"/>
          <p:cNvSpPr/>
          <p:nvPr/>
        </p:nvSpPr>
        <p:spPr>
          <a:xfrm>
            <a:off x="6035040" y="3639312"/>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63056" y="3675887"/>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Risk-aware routing</a:t>
            </a:r>
          </a:p>
          <a:p>
            <a:pPr>
              <a:spcBef>
                <a:spcPts val="200"/>
              </a:spcBef>
              <a:buNone/>
            </a:pPr>
            <a:r>
              <a:rPr sz="1500" b="0">
                <a:solidFill>
                  <a:srgbClr val="222222"/>
                </a:solidFill>
                <a:latin typeface="Roboto Medium"/>
                <a:ea typeface="Roboto Medium"/>
                <a:cs typeface="Roboto Medium"/>
              </a:rPr>
              <a:t>ProgRouter + HalluProp: bước rủi ro → model mạnh</a:t>
            </a:r>
          </a:p>
        </p:txBody>
      </p:sp>
      <p:sp>
        <p:nvSpPr>
          <p:cNvPr id="36" name="Rectangle 35"/>
          <p:cNvSpPr/>
          <p:nvPr/>
        </p:nvSpPr>
        <p:spPr>
          <a:xfrm>
            <a:off x="6035040" y="4727448"/>
            <a:ext cx="5742432" cy="932688"/>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163056" y="4764024"/>
            <a:ext cx="5486400" cy="877824"/>
          </a:xfrm>
          <a:prstGeom prst="rect">
            <a:avLst/>
          </a:prstGeom>
          <a:noFill/>
        </p:spPr>
        <p:txBody>
          <a:bodyPr wrap="square" anchor="ctr" lIns="45720" rIns="45720" tIns="18288" bIns="18288"/>
          <a:lstStyle/>
          <a:p>
            <a:pPr>
              <a:spcBef>
                <a:spcPts val="0"/>
              </a:spcBef>
              <a:buNone/>
            </a:pPr>
            <a:r>
              <a:rPr sz="1700" b="1">
                <a:solidFill>
                  <a:srgbClr val="003366"/>
                </a:solidFill>
                <a:latin typeface="Roboto Black"/>
                <a:ea typeface="Roboto Black"/>
                <a:cs typeface="Roboto Black"/>
              </a:rPr>
              <a:t>Verifier agent chủ động</a:t>
            </a:r>
          </a:p>
          <a:p>
            <a:pPr>
              <a:spcBef>
                <a:spcPts val="200"/>
              </a:spcBef>
              <a:buNone/>
            </a:pPr>
            <a:r>
              <a:rPr sz="1500" b="0">
                <a:solidFill>
                  <a:srgbClr val="222222"/>
                </a:solidFill>
                <a:latin typeface="Roboto Medium"/>
                <a:ea typeface="Roboto Medium"/>
                <a:cs typeface="Roboto Medium"/>
              </a:rPr>
              <a:t>đòi bằng chứng trực tiếp trước khi đồng thuận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Kết luận</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6. Kết luận</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37</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8" name="Rounded Rectangle 7"/>
          <p:cNvSpPr/>
          <p:nvPr/>
        </p:nvSpPr>
        <p:spPr>
          <a:xfrm>
            <a:off x="411480" y="1005840"/>
            <a:ext cx="68580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00584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1</a:t>
            </a:r>
          </a:p>
        </p:txBody>
      </p:sp>
      <p:sp>
        <p:nvSpPr>
          <p:cNvPr id="10" name="Rectangle 9"/>
          <p:cNvSpPr/>
          <p:nvPr/>
        </p:nvSpPr>
        <p:spPr>
          <a:xfrm>
            <a:off x="1234440" y="100584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44168" y="100584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Communication graph là trung tâm</a:t>
            </a:r>
          </a:p>
          <a:p>
            <a:pPr>
              <a:spcBef>
                <a:spcPts val="300"/>
              </a:spcBef>
              <a:buNone/>
            </a:pPr>
            <a:r>
              <a:rPr sz="1550" b="0">
                <a:solidFill>
                  <a:srgbClr val="222222"/>
                </a:solidFill>
                <a:latin typeface="Roboto Medium"/>
                <a:ea typeface="Roboto Medium"/>
                <a:cs typeface="Roboto Medium"/>
              </a:rPr>
              <a:t>quyết định hiệu năng, lan truyền rủi ro, cần được bảo vệ</a:t>
            </a:r>
          </a:p>
        </p:txBody>
      </p:sp>
      <p:sp>
        <p:nvSpPr>
          <p:cNvPr id="12" name="Rounded Rectangle 11"/>
          <p:cNvSpPr/>
          <p:nvPr/>
        </p:nvSpPr>
        <p:spPr>
          <a:xfrm>
            <a:off x="6172200" y="1005840"/>
            <a:ext cx="68580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72200" y="100584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2</a:t>
            </a:r>
          </a:p>
        </p:txBody>
      </p:sp>
      <p:sp>
        <p:nvSpPr>
          <p:cNvPr id="14" name="Rectangle 13"/>
          <p:cNvSpPr/>
          <p:nvPr/>
        </p:nvSpPr>
        <p:spPr>
          <a:xfrm>
            <a:off x="6995160" y="100584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04888" y="100584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Lan truyền là rủi ro cốt lõi</a:t>
            </a:r>
          </a:p>
          <a:p>
            <a:pPr>
              <a:spcBef>
                <a:spcPts val="300"/>
              </a:spcBef>
              <a:buNone/>
            </a:pPr>
            <a:r>
              <a:rPr sz="1550" b="0">
                <a:solidFill>
                  <a:srgbClr val="222222"/>
                </a:solidFill>
                <a:latin typeface="Roboto Medium"/>
                <a:ea typeface="Roboto Medium"/>
                <a:cs typeface="Roboto Medium"/>
              </a:rPr>
              <a:t>thảo luận khuếch đại sai lệch thay vì sửa sai</a:t>
            </a:r>
          </a:p>
        </p:txBody>
      </p:sp>
      <p:sp>
        <p:nvSpPr>
          <p:cNvPr id="16" name="Rounded Rectangle 15"/>
          <p:cNvSpPr/>
          <p:nvPr/>
        </p:nvSpPr>
        <p:spPr>
          <a:xfrm>
            <a:off x="411480" y="2468880"/>
            <a:ext cx="685800" cy="118872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480" y="246888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3</a:t>
            </a:r>
          </a:p>
        </p:txBody>
      </p:sp>
      <p:sp>
        <p:nvSpPr>
          <p:cNvPr id="18" name="Rectangle 17"/>
          <p:cNvSpPr/>
          <p:nvPr/>
        </p:nvSpPr>
        <p:spPr>
          <a:xfrm>
            <a:off x="1234440" y="246888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44168" y="246888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Hiệu quả = kích hoạt đúng</a:t>
            </a:r>
          </a:p>
          <a:p>
            <a:pPr>
              <a:spcBef>
                <a:spcPts val="300"/>
              </a:spcBef>
              <a:buNone/>
            </a:pPr>
            <a:r>
              <a:rPr sz="1550" b="0">
                <a:solidFill>
                  <a:srgbClr val="222222"/>
                </a:solidFill>
                <a:latin typeface="Roboto Medium"/>
                <a:ea typeface="Roboto Medium"/>
                <a:cs typeface="Roboto Medium"/>
              </a:rPr>
              <a:t>đúng agent, đúng model, chú ý đúng nội dung</a:t>
            </a:r>
          </a:p>
        </p:txBody>
      </p:sp>
      <p:sp>
        <p:nvSpPr>
          <p:cNvPr id="20" name="Rounded Rectangle 19"/>
          <p:cNvSpPr/>
          <p:nvPr/>
        </p:nvSpPr>
        <p:spPr>
          <a:xfrm>
            <a:off x="6172200" y="2468880"/>
            <a:ext cx="685800" cy="1188720"/>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72200" y="2468880"/>
            <a:ext cx="685800" cy="1188720"/>
          </a:xfrm>
          <a:prstGeom prst="rect">
            <a:avLst/>
          </a:prstGeom>
          <a:noFill/>
        </p:spPr>
        <p:txBody>
          <a:bodyPr wrap="square" anchor="ctr" lIns="45720" rIns="45720" tIns="18288" bIns="18288"/>
          <a:lstStyle/>
          <a:p>
            <a:pPr algn="ctr">
              <a:spcBef>
                <a:spcPts val="0"/>
              </a:spcBef>
              <a:buNone/>
            </a:pPr>
            <a:r>
              <a:rPr sz="2400" b="1">
                <a:solidFill>
                  <a:srgbClr val="FFFFFF"/>
                </a:solidFill>
                <a:latin typeface="Roboto Black"/>
                <a:ea typeface="Roboto Black"/>
                <a:cs typeface="Roboto Black"/>
              </a:rPr>
              <a:t>4</a:t>
            </a:r>
          </a:p>
        </p:txBody>
      </p:sp>
      <p:sp>
        <p:nvSpPr>
          <p:cNvPr id="22" name="Rectangle 21"/>
          <p:cNvSpPr/>
          <p:nvPr/>
        </p:nvSpPr>
        <p:spPr>
          <a:xfrm>
            <a:off x="6995160" y="2468880"/>
            <a:ext cx="4782312" cy="1188720"/>
          </a:xfrm>
          <a:prstGeom prst="rect">
            <a:avLst/>
          </a:prstGeom>
          <a:solidFill>
            <a:srgbClr val="F3F6FB"/>
          </a:solidFill>
          <a:ln w="9525">
            <a:solidFill>
              <a:srgbClr val="CFD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04888" y="2468880"/>
            <a:ext cx="4572000" cy="1188720"/>
          </a:xfrm>
          <a:prstGeom prst="rect">
            <a:avLst/>
          </a:prstGeom>
          <a:noFill/>
        </p:spPr>
        <p:txBody>
          <a:bodyPr wrap="square" anchor="ctr" lIns="45720" rIns="45720" tIns="18288" bIns="18288"/>
          <a:lstStyle/>
          <a:p>
            <a:pPr>
              <a:spcBef>
                <a:spcPts val="0"/>
              </a:spcBef>
              <a:buNone/>
            </a:pPr>
            <a:r>
              <a:rPr sz="1800" b="1">
                <a:solidFill>
                  <a:srgbClr val="003366"/>
                </a:solidFill>
                <a:latin typeface="Roboto Black"/>
                <a:ea typeface="Roboto Black"/>
                <a:cs typeface="Roboto Black"/>
              </a:rPr>
              <a:t>Thực nghiệm còn yếu</a:t>
            </a:r>
          </a:p>
          <a:p>
            <a:pPr>
              <a:spcBef>
                <a:spcPts val="300"/>
              </a:spcBef>
              <a:buNone/>
            </a:pPr>
            <a:r>
              <a:rPr sz="1550" b="0">
                <a:solidFill>
                  <a:srgbClr val="222222"/>
                </a:solidFill>
                <a:latin typeface="Roboto Medium"/>
                <a:ea typeface="Roboto Medium"/>
                <a:cs typeface="Roboto Medium"/>
              </a:rPr>
              <a:t>quy mô nhỏ, thiếu kiểm định, thiếu đo chi phí</a:t>
            </a:r>
          </a:p>
        </p:txBody>
      </p:sp>
      <p:sp>
        <p:nvSpPr>
          <p:cNvPr id="24" name="Rectangle 23"/>
          <p:cNvSpPr/>
          <p:nvPr/>
        </p:nvSpPr>
        <p:spPr>
          <a:xfrm>
            <a:off x="411480" y="4114800"/>
            <a:ext cx="11365992" cy="1783080"/>
          </a:xfrm>
          <a:prstGeom prst="rect">
            <a:avLst/>
          </a:prstGeom>
          <a:solidFill>
            <a:srgbClr val="FCF4F4"/>
          </a:solidFill>
          <a:ln w="9525">
            <a:solidFill>
              <a:srgbClr val="EBCB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11480" y="4114800"/>
            <a:ext cx="11365992"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57784" y="4224528"/>
            <a:ext cx="11064240" cy="1600200"/>
          </a:xfrm>
          <a:prstGeom prst="rect">
            <a:avLst/>
          </a:prstGeom>
          <a:noFill/>
        </p:spPr>
        <p:txBody>
          <a:bodyPr wrap="square" anchor="t" lIns="45720" rIns="45720" tIns="18288" bIns="18288"/>
          <a:lstStyle/>
          <a:p>
            <a:pPr>
              <a:spcBef>
                <a:spcPts val="0"/>
              </a:spcBef>
              <a:buNone/>
            </a:pPr>
            <a:r>
              <a:rPr sz="1800" b="1">
                <a:solidFill>
                  <a:srgbClr val="C00000"/>
                </a:solidFill>
                <a:latin typeface="Roboto Black"/>
                <a:ea typeface="Roboto Black"/>
                <a:cs typeface="Roboto Black"/>
              </a:rPr>
              <a:t>Câu hỏi của lĩnh vực đang chuyển</a:t>
            </a:r>
          </a:p>
          <a:p>
            <a:pPr>
              <a:spcBef>
                <a:spcPts val="600"/>
              </a:spcBef>
              <a:buNone/>
            </a:pPr>
            <a:r>
              <a:rPr sz="2000" b="0">
                <a:solidFill>
                  <a:srgbClr val="666666"/>
                </a:solidFill>
                <a:latin typeface="Roboto Medium"/>
                <a:ea typeface="Roboto Medium"/>
                <a:cs typeface="Roboto Medium"/>
              </a:rPr>
              <a:t>Từ  “nhiều agent có tốt hơn một agent?”</a:t>
            </a:r>
          </a:p>
          <a:p>
            <a:pPr>
              <a:spcBef>
                <a:spcPts val="400"/>
              </a:spcBef>
              <a:buNone/>
            </a:pPr>
            <a:r>
              <a:rPr sz="2000" b="0">
                <a:solidFill>
                  <a:srgbClr val="222222"/>
                </a:solidFill>
                <a:latin typeface="Roboto Medium"/>
                <a:ea typeface="Roboto Medium"/>
                <a:cs typeface="Roboto Medium"/>
              </a:rPr>
              <a:t>sang  “làm sao để MAS </a:t>
            </a:r>
            <a:r>
              <a:rPr sz="2000" b="1">
                <a:solidFill>
                  <a:srgbClr val="003366"/>
                </a:solidFill>
                <a:latin typeface="Roboto Black"/>
                <a:ea typeface="Roboto Black"/>
                <a:cs typeface="Roboto Black"/>
              </a:rPr>
              <a:t>hiệu quả</a:t>
            </a:r>
            <a:r>
              <a:rPr sz="2000" b="0">
                <a:solidFill>
                  <a:srgbClr val="222222"/>
                </a:solidFill>
                <a:latin typeface="Roboto Medium"/>
                <a:ea typeface="Roboto Medium"/>
                <a:cs typeface="Roboto Medium"/>
              </a:rPr>
              <a:t>, </a:t>
            </a:r>
            <a:r>
              <a:rPr sz="2000" b="1">
                <a:solidFill>
                  <a:srgbClr val="003366"/>
                </a:solidFill>
                <a:latin typeface="Roboto Black"/>
                <a:ea typeface="Roboto Black"/>
                <a:cs typeface="Roboto Black"/>
              </a:rPr>
              <a:t>đáng tin cậy</a:t>
            </a:r>
            <a:r>
              <a:rPr sz="2000" b="0">
                <a:solidFill>
                  <a:srgbClr val="222222"/>
                </a:solidFill>
                <a:latin typeface="Roboto Medium"/>
                <a:ea typeface="Roboto Medium"/>
                <a:cs typeface="Roboto Medium"/>
              </a:rPr>
              <a:t> và </a:t>
            </a:r>
            <a:r>
              <a:rPr sz="2000" b="1">
                <a:solidFill>
                  <a:srgbClr val="003366"/>
                </a:solidFill>
                <a:latin typeface="Roboto Black"/>
                <a:ea typeface="Roboto Black"/>
                <a:cs typeface="Roboto Black"/>
              </a:rPr>
              <a:t>an toàn</a:t>
            </a:r>
            <a:r>
              <a:rPr sz="2000" b="0">
                <a:solidFill>
                  <a:srgbClr val="222222"/>
                </a:solidFill>
                <a:latin typeface="Roboto Medium"/>
                <a:ea typeface="Roboto Medium"/>
                <a:cs typeface="Roboto Medium"/>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photo" descr="cover.jpg"/>
          <p:cNvPicPr>
            <a:picLocks noChangeAspect="1"/>
          </p:cNvPicPr>
          <p:nvPr/>
        </p:nvPicPr>
        <p:blipFill>
          <a:blip r:embed="rId3"/>
          <a:stretch>
            <a:fillRect/>
          </a:stretch>
        </p:blipFill>
        <p:spPr>
          <a:xfrm>
            <a:off x="0" y="0"/>
            <a:ext cx="12191695" cy="6858000"/>
          </a:xfrm>
          <a:prstGeom prst="rect">
            <a:avLst/>
          </a:prstGeom>
        </p:spPr>
      </p:pic>
      <p:pic>
        <p:nvPicPr>
          <p:cNvPr id="3" name="Picture 2" descr="hust_logo.png"/>
          <p:cNvPicPr>
            <a:picLocks noChangeAspect="1"/>
          </p:cNvPicPr>
          <p:nvPr/>
        </p:nvPicPr>
        <p:blipFill>
          <a:blip r:embed="rId4"/>
          <a:stretch>
            <a:fillRect/>
          </a:stretch>
        </p:blipFill>
        <p:spPr>
          <a:xfrm>
            <a:off x="393192" y="274320"/>
            <a:ext cx="3172968" cy="1152144"/>
          </a:xfrm>
          <a:prstGeom prst="rect">
            <a:avLst/>
          </a:prstGeom>
        </p:spPr>
      </p:pic>
      <p:sp>
        <p:nvSpPr>
          <p:cNvPr id="4" name="TextBox 3"/>
          <p:cNvSpPr txBox="1"/>
          <p:nvPr/>
        </p:nvSpPr>
        <p:spPr>
          <a:xfrm>
            <a:off x="685800" y="1691640"/>
            <a:ext cx="6858000" cy="1097280"/>
          </a:xfrm>
          <a:prstGeom prst="rect">
            <a:avLst/>
          </a:prstGeom>
          <a:noFill/>
        </p:spPr>
        <p:txBody>
          <a:bodyPr wrap="square" anchor="t" lIns="45720" rIns="45720" tIns="18288" bIns="18288"/>
          <a:lstStyle/>
          <a:p>
            <a:pPr>
              <a:spcBef>
                <a:spcPts val="0"/>
              </a:spcBef>
              <a:buNone/>
            </a:pPr>
            <a:r>
              <a:rPr sz="3800" b="1">
                <a:solidFill>
                  <a:srgbClr val="C00000"/>
                </a:solidFill>
                <a:latin typeface="Roboto Black"/>
                <a:ea typeface="Roboto Black"/>
                <a:cs typeface="Roboto Black"/>
              </a:rPr>
              <a:t>Cảm ơn cô và các bạn</a:t>
            </a:r>
          </a:p>
          <a:p>
            <a:pPr>
              <a:spcBef>
                <a:spcPts val="600"/>
              </a:spcBef>
              <a:buNone/>
            </a:pPr>
            <a:r>
              <a:rPr sz="2400" b="1">
                <a:solidFill>
                  <a:srgbClr val="003366"/>
                </a:solidFill>
                <a:latin typeface="Roboto Black"/>
                <a:ea typeface="Roboto Black"/>
                <a:cs typeface="Roboto Black"/>
              </a:rPr>
              <a:t>đã lắng nghe!  ·  Q&amp;A</a:t>
            </a:r>
          </a:p>
        </p:txBody>
      </p:sp>
      <p:graphicFrame>
        <p:nvGraphicFramePr>
          <p:cNvPr id="5" name="Table 4"/>
          <p:cNvGraphicFramePr>
            <a:graphicFrameLocks noGrp="1"/>
          </p:cNvGraphicFramePr>
          <p:nvPr/>
        </p:nvGraphicFramePr>
        <p:xfrm>
          <a:off x="685800" y="3063240"/>
          <a:ext cx="6675120" cy="2286000"/>
        </p:xfrm>
        <a:graphic>
          <a:graphicData uri="http://schemas.openxmlformats.org/drawingml/2006/table">
            <a:tbl>
              <a:tblPr firstRow="0" bandRow="0"/>
              <a:tblGrid>
                <a:gridCol w="2743200"/>
                <a:gridCol w="3931920"/>
              </a:tblGrid>
              <a:tr h="457200">
                <a:tc>
                  <a:txBody>
                    <a:bodyPr wrap="square"/>
                    <a:lstStyle/>
                    <a:p>
                      <a:pPr>
                        <a:spcBef>
                          <a:spcPts val="0"/>
                        </a:spcBef>
                        <a:buNone/>
                      </a:pPr>
                      <a:r>
                        <a:rPr sz="1500" b="1">
                          <a:solidFill>
                            <a:srgbClr val="FFFFFF"/>
                          </a:solidFill>
                          <a:latin typeface="Roboto Black"/>
                          <a:ea typeface="Roboto Black"/>
                          <a:cs typeface="Roboto Black"/>
                        </a:rPr>
                        <a:t>Thành viên</a:t>
                      </a:r>
                    </a:p>
                  </a:txBody>
                  <a:tcPr marL="54864" marR="54864" marT="27432" marB="27432" anchor="ctr">
                    <a:solidFill>
                      <a:srgbClr val="003366"/>
                    </a:solidFill>
                  </a:tcPr>
                </a:tc>
                <a:tc>
                  <a:txBody>
                    <a:bodyPr wrap="square"/>
                    <a:lstStyle/>
                    <a:p>
                      <a:pPr>
                        <a:spcBef>
                          <a:spcPts val="0"/>
                        </a:spcBef>
                        <a:buNone/>
                      </a:pPr>
                      <a:r>
                        <a:rPr sz="1500" b="1">
                          <a:solidFill>
                            <a:srgbClr val="FFFFFF"/>
                          </a:solidFill>
                          <a:latin typeface="Roboto Black"/>
                          <a:ea typeface="Roboto Black"/>
                          <a:cs typeface="Roboto Black"/>
                        </a:rPr>
                        <a:t>Paper phụ trách</a:t>
                      </a:r>
                    </a:p>
                  </a:txBody>
                  <a:tcPr marL="54864" marR="54864" marT="27432" marB="27432" anchor="ctr">
                    <a:solidFill>
                      <a:srgbClr val="003366"/>
                    </a:solidFill>
                  </a:tcPr>
                </a:tc>
              </a:tr>
              <a:tr h="457200">
                <a:tc>
                  <a:txBody>
                    <a:bodyPr wrap="square"/>
                    <a:lstStyle/>
                    <a:p>
                      <a:pPr>
                        <a:spcBef>
                          <a:spcPts val="0"/>
                        </a:spcBef>
                        <a:buNone/>
                      </a:pPr>
                      <a:r>
                        <a:rPr sz="1500" b="1">
                          <a:solidFill>
                            <a:srgbClr val="003366"/>
                          </a:solidFill>
                          <a:latin typeface="Roboto Black"/>
                          <a:ea typeface="Roboto Black"/>
                          <a:cs typeface="Roboto Black"/>
                        </a:rPr>
                        <a:t>Trần Xuân Hương</a:t>
                      </a:r>
                    </a:p>
                  </a:txBody>
                  <a:tcPr marL="54864" marR="54864" marT="27432" marB="27432" anchor="ctr">
                    <a:solidFill>
                      <a:srgbClr val="FFFFFF"/>
                    </a:solidFill>
                  </a:tcPr>
                </a:tc>
                <a:tc>
                  <a:txBody>
                    <a:bodyPr wrap="square"/>
                    <a:lstStyle/>
                    <a:p>
                      <a:pPr>
                        <a:spcBef>
                          <a:spcPts val="0"/>
                        </a:spcBef>
                        <a:buNone/>
                      </a:pPr>
                      <a:r>
                        <a:rPr sz="1500" b="0">
                          <a:solidFill>
                            <a:srgbClr val="222222"/>
                          </a:solidFill>
                          <a:latin typeface="Roboto Medium"/>
                          <a:ea typeface="Roboto Medium"/>
                          <a:cs typeface="Roboto Medium"/>
                        </a:rPr>
                        <a:t>MIRAGE · TIDE</a:t>
                      </a:r>
                    </a:p>
                  </a:txBody>
                  <a:tcPr marL="54864" marR="54864" marT="27432" marB="27432" anchor="ctr">
                    <a:solidFill>
                      <a:srgbClr val="FFFFFF"/>
                    </a:solidFill>
                  </a:tcPr>
                </a:tc>
              </a:tr>
              <a:tr h="457200">
                <a:tc>
                  <a:txBody>
                    <a:bodyPr wrap="square"/>
                    <a:lstStyle/>
                    <a:p>
                      <a:pPr>
                        <a:spcBef>
                          <a:spcPts val="0"/>
                        </a:spcBef>
                        <a:buNone/>
                      </a:pPr>
                      <a:r>
                        <a:rPr sz="1500" b="1">
                          <a:solidFill>
                            <a:srgbClr val="003366"/>
                          </a:solidFill>
                          <a:latin typeface="Roboto Black"/>
                          <a:ea typeface="Roboto Black"/>
                          <a:cs typeface="Roboto Black"/>
                        </a:rPr>
                        <a:t>Vũ Tùng Dương</a:t>
                      </a:r>
                    </a:p>
                  </a:txBody>
                  <a:tcPr marL="54864" marR="54864" marT="27432" marB="27432" anchor="ctr">
                    <a:solidFill>
                      <a:srgbClr val="F3F6FB"/>
                    </a:solidFill>
                  </a:tcPr>
                </a:tc>
                <a:tc>
                  <a:txBody>
                    <a:bodyPr wrap="square"/>
                    <a:lstStyle/>
                    <a:p>
                      <a:pPr>
                        <a:spcBef>
                          <a:spcPts val="0"/>
                        </a:spcBef>
                        <a:buNone/>
                      </a:pPr>
                      <a:r>
                        <a:rPr sz="1500" b="0">
                          <a:solidFill>
                            <a:srgbClr val="222222"/>
                          </a:solidFill>
                          <a:latin typeface="Roboto Medium"/>
                          <a:ea typeface="Roboto Medium"/>
                          <a:cs typeface="Roboto Medium"/>
                        </a:rPr>
                        <a:t>ProgRouter · HalluProp</a:t>
                      </a:r>
                    </a:p>
                  </a:txBody>
                  <a:tcPr marL="54864" marR="54864" marT="27432" marB="27432" anchor="ctr">
                    <a:solidFill>
                      <a:srgbClr val="F3F6FB"/>
                    </a:solidFill>
                  </a:tcPr>
                </a:tc>
              </a:tr>
              <a:tr h="457200">
                <a:tc>
                  <a:txBody>
                    <a:bodyPr wrap="square"/>
                    <a:lstStyle/>
                    <a:p>
                      <a:pPr>
                        <a:spcBef>
                          <a:spcPts val="0"/>
                        </a:spcBef>
                        <a:buNone/>
                      </a:pPr>
                      <a:r>
                        <a:rPr sz="1500" b="1">
                          <a:solidFill>
                            <a:srgbClr val="003366"/>
                          </a:solidFill>
                          <a:latin typeface="Roboto Black"/>
                          <a:ea typeface="Roboto Black"/>
                          <a:cs typeface="Roboto Black"/>
                        </a:rPr>
                        <a:t>Phạm Việt Dũng</a:t>
                      </a:r>
                    </a:p>
                  </a:txBody>
                  <a:tcPr marL="54864" marR="54864" marT="27432" marB="27432" anchor="ctr">
                    <a:solidFill>
                      <a:srgbClr val="FFFFFF"/>
                    </a:solidFill>
                  </a:tcPr>
                </a:tc>
                <a:tc>
                  <a:txBody>
                    <a:bodyPr wrap="square"/>
                    <a:lstStyle/>
                    <a:p>
                      <a:pPr>
                        <a:spcBef>
                          <a:spcPts val="0"/>
                        </a:spcBef>
                        <a:buNone/>
                      </a:pPr>
                      <a:r>
                        <a:rPr sz="1500" b="0">
                          <a:solidFill>
                            <a:srgbClr val="222222"/>
                          </a:solidFill>
                          <a:latin typeface="Roboto Medium"/>
                          <a:ea typeface="Roboto Medium"/>
                          <a:cs typeface="Roboto Medium"/>
                        </a:rPr>
                        <a:t>DAIN · AGENT-RADAR</a:t>
                      </a:r>
                    </a:p>
                  </a:txBody>
                  <a:tcPr marL="54864" marR="54864" marT="27432" marB="27432" anchor="ctr">
                    <a:solidFill>
                      <a:srgbClr val="FFFFFF"/>
                    </a:solidFill>
                  </a:tcPr>
                </a:tc>
              </a:tr>
              <a:tr h="457200">
                <a:tc>
                  <a:txBody>
                    <a:bodyPr wrap="square"/>
                    <a:lstStyle/>
                    <a:p>
                      <a:pPr>
                        <a:spcBef>
                          <a:spcPts val="0"/>
                        </a:spcBef>
                        <a:buNone/>
                      </a:pPr>
                      <a:r>
                        <a:rPr sz="1500" b="1">
                          <a:solidFill>
                            <a:srgbClr val="003366"/>
                          </a:solidFill>
                          <a:latin typeface="Roboto Black"/>
                          <a:ea typeface="Roboto Black"/>
                          <a:cs typeface="Roboto Black"/>
                        </a:rPr>
                        <a:t>Lê Văn Đức</a:t>
                      </a:r>
                    </a:p>
                  </a:txBody>
                  <a:tcPr marL="54864" marR="54864" marT="27432" marB="27432" anchor="ctr">
                    <a:solidFill>
                      <a:srgbClr val="F3F6FB"/>
                    </a:solidFill>
                  </a:tcPr>
                </a:tc>
                <a:tc>
                  <a:txBody>
                    <a:bodyPr wrap="square"/>
                    <a:lstStyle/>
                    <a:p>
                      <a:pPr>
                        <a:spcBef>
                          <a:spcPts val="0"/>
                        </a:spcBef>
                        <a:buNone/>
                      </a:pPr>
                      <a:r>
                        <a:rPr sz="1500" b="0">
                          <a:solidFill>
                            <a:srgbClr val="222222"/>
                          </a:solidFill>
                          <a:latin typeface="Roboto Medium"/>
                          <a:ea typeface="Roboto Medium"/>
                          <a:cs typeface="Roboto Medium"/>
                        </a:rPr>
                        <a:t>MAC-RRG · UrbanAgent</a:t>
                      </a:r>
                    </a:p>
                  </a:txBody>
                  <a:tcPr marL="54864" marR="54864" marT="27432" marB="27432" anchor="ctr">
                    <a:solidFill>
                      <a:srgbClr val="F3F6FB"/>
                    </a:solidFill>
                  </a:tcPr>
                </a:tc>
              </a:tr>
            </a:tbl>
          </a:graphicData>
        </a:graphic>
      </p:graphicFrame>
      <p:sp>
        <p:nvSpPr>
          <p:cNvPr id="6" name="TextBox 5"/>
          <p:cNvSpPr txBox="1"/>
          <p:nvPr/>
        </p:nvSpPr>
        <p:spPr>
          <a:xfrm>
            <a:off x="685800" y="5532120"/>
            <a:ext cx="6858000" cy="365760"/>
          </a:xfrm>
          <a:prstGeom prst="rect">
            <a:avLst/>
          </a:prstGeom>
          <a:noFill/>
        </p:spPr>
        <p:txBody>
          <a:bodyPr wrap="square" anchor="t" lIns="45720" rIns="45720" tIns="18288" bIns="18288"/>
          <a:lstStyle/>
          <a:p>
            <a:pPr>
              <a:spcBef>
                <a:spcPts val="0"/>
              </a:spcBef>
              <a:buNone/>
            </a:pPr>
            <a:r>
              <a:rPr sz="1300" b="0">
                <a:solidFill>
                  <a:srgbClr val="666666"/>
                </a:solidFill>
                <a:latin typeface="Roboto Medium"/>
                <a:ea typeface="Roboto Medium"/>
                <a:cs typeface="Roboto Medium"/>
              </a:rPr>
              <a:t>Học phần IT4772 – Xử lý ngôn ngữ tự nhiên · Đại học Bách khoa Hà Nội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Tổng quan phương pháp</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12</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Shape 21"/>
          <p:cNvSpPr/>
          <p:nvPr/>
        </p:nvSpPr>
        <p:spPr>
          <a:xfrm>
            <a:off x="411480" y="1051560"/>
            <a:ext cx="2514600" cy="1463040"/>
          </a:xfrm>
          <a:prstGeom prst="roundRect">
            <a:avLst>
              <a:gd name="adj" fmla="val 8000"/>
            </a:avLst>
          </a:prstGeom>
          <a:solidFill>
            <a:srgbClr val="F3F6FB"/>
          </a:solidFill>
          <a:ln w="12700">
            <a:solidFill>
              <a:srgbClr val="003366"/>
            </a:solidFill>
          </a:ln>
          <a:effectLst/>
        </p:spPr>
        <p:txBody>
          <a:bodyPr wrap="square" rtlCol="0" anchor="ctr" lIns="73152" rIns="73152" tIns="36576" bIns="36576"/>
          <a:lstStyle/>
          <a:p>
            <a:pPr algn="ctr">
              <a:spcBef>
                <a:spcPts val="0"/>
              </a:spcBef>
              <a:spcAft>
                <a:spcPts val="0"/>
              </a:spcAft>
              <a:buNone/>
            </a:pPr>
            <a:r>
              <a:rPr sz="1600" b="1">
                <a:solidFill>
                  <a:srgbClr val="003366"/>
                </a:solidFill>
                <a:latin typeface="Roboto Black"/>
                <a:ea typeface="Roboto Black"/>
                <a:cs typeface="Roboto Black"/>
              </a:rPr>
              <a:t>MAS gốc</a:t>
            </a:r>
          </a:p>
          <a:p>
            <a:pPr algn="ctr">
              <a:spcBef>
                <a:spcPts val="300"/>
              </a:spcBef>
              <a:spcAft>
                <a:spcPts val="0"/>
              </a:spcAft>
              <a:buNone/>
            </a:pPr>
            <a:r>
              <a:rPr sz="1300" b="0">
                <a:solidFill>
                  <a:srgbClr val="222222"/>
                </a:solidFill>
                <a:latin typeface="Roboto Medium"/>
                <a:ea typeface="Roboto Medium"/>
                <a:cs typeface="Roboto Medium"/>
              </a:rPr>
              <a:t>S = (P, G)</a:t>
            </a:r>
          </a:p>
          <a:p>
            <a:pPr algn="ctr">
              <a:spcBef>
                <a:spcPts val="0"/>
              </a:spcBef>
              <a:spcAft>
                <a:spcPts val="0"/>
              </a:spcAft>
              <a:buNone/>
            </a:pPr>
            <a:r>
              <a:rPr sz="1300" b="0">
                <a:solidFill>
                  <a:srgbClr val="222222"/>
                </a:solidFill>
                <a:latin typeface="Roboto Medium"/>
                <a:ea typeface="Roboto Medium"/>
                <a:cs typeface="Roboto Medium"/>
              </a:rPr>
              <a:t>topology thật G</a:t>
            </a:r>
          </a:p>
        </p:txBody>
      </p:sp>
      <p:sp>
        <p:nvSpPr>
          <p:cNvPr id="22" name="Shape 22"/>
          <p:cNvSpPr/>
          <p:nvPr/>
        </p:nvSpPr>
        <p:spPr>
          <a:xfrm>
            <a:off x="3362249" y="1051560"/>
            <a:ext cx="2514600" cy="1463040"/>
          </a:xfrm>
          <a:prstGeom prst="roundRect">
            <a:avLst>
              <a:gd name="adj" fmla="val 8000"/>
            </a:avLst>
          </a:prstGeom>
          <a:solidFill>
            <a:srgbClr val="003366"/>
          </a:solidFill>
          <a:ln>
            <a:noFill/>
          </a:ln>
          <a:effectLst/>
        </p:spPr>
        <p:txBody>
          <a:bodyPr wrap="square" rtlCol="0" anchor="ctr" lIns="73152" rIns="73152" tIns="36576" bIns="36576"/>
          <a:lstStyle/>
          <a:p>
            <a:pPr algn="ctr">
              <a:spcBef>
                <a:spcPts val="0"/>
              </a:spcBef>
              <a:spcAft>
                <a:spcPts val="0"/>
              </a:spcAft>
              <a:buNone/>
            </a:pPr>
            <a:r>
              <a:rPr sz="1600" b="1">
                <a:solidFill>
                  <a:srgbClr val="FFFFFF"/>
                </a:solidFill>
                <a:latin typeface="Roboto Black"/>
                <a:ea typeface="Roboto Black"/>
                <a:cs typeface="Roboto Black"/>
              </a:rPr>
              <a:t>1. Phantom topology synthesis</a:t>
            </a:r>
          </a:p>
          <a:p>
            <a:pPr algn="ctr">
              <a:spcBef>
                <a:spcPts val="300"/>
              </a:spcBef>
              <a:spcAft>
                <a:spcPts val="0"/>
              </a:spcAft>
              <a:buNone/>
            </a:pPr>
            <a:r>
              <a:rPr sz="1300" b="0">
                <a:solidFill>
                  <a:srgbClr val="FFFFFF"/>
                </a:solidFill>
                <a:latin typeface="Roboto Medium"/>
                <a:ea typeface="Roboto Medium"/>
                <a:cs typeface="Roboto Medium"/>
              </a:rPr>
              <a:t>đi dây lại cạnh để tạo G′</a:t>
            </a:r>
          </a:p>
        </p:txBody>
      </p:sp>
      <p:sp>
        <p:nvSpPr>
          <p:cNvPr id="23" name="Shape 23"/>
          <p:cNvSpPr/>
          <p:nvPr/>
        </p:nvSpPr>
        <p:spPr>
          <a:xfrm>
            <a:off x="6313018" y="1051560"/>
            <a:ext cx="2514600" cy="1463040"/>
          </a:xfrm>
          <a:prstGeom prst="roundRect">
            <a:avLst>
              <a:gd name="adj" fmla="val 8000"/>
            </a:avLst>
          </a:prstGeom>
          <a:solidFill>
            <a:srgbClr val="003366"/>
          </a:solidFill>
          <a:ln>
            <a:noFill/>
          </a:ln>
          <a:effectLst/>
        </p:spPr>
        <p:txBody>
          <a:bodyPr wrap="square" rtlCol="0" anchor="ctr" lIns="73152" rIns="73152" tIns="36576" bIns="36576"/>
          <a:lstStyle/>
          <a:p>
            <a:pPr algn="ctr">
              <a:spcBef>
                <a:spcPts val="0"/>
              </a:spcBef>
              <a:spcAft>
                <a:spcPts val="0"/>
              </a:spcAft>
              <a:buNone/>
            </a:pPr>
            <a:r>
              <a:rPr sz="1600" b="1">
                <a:solidFill>
                  <a:srgbClr val="FFFFFF"/>
                </a:solidFill>
                <a:latin typeface="Roboto Black"/>
                <a:ea typeface="Roboto Black"/>
                <a:cs typeface="Roboto Black"/>
              </a:rPr>
              <a:t>2. Semantic edge realization</a:t>
            </a:r>
          </a:p>
          <a:p>
            <a:pPr algn="ctr">
              <a:spcBef>
                <a:spcPts val="300"/>
              </a:spcBef>
              <a:spcAft>
                <a:spcPts val="0"/>
              </a:spcAft>
              <a:buNone/>
            </a:pPr>
            <a:r>
              <a:rPr sz="1300" b="0">
                <a:solidFill>
                  <a:srgbClr val="FFFFFF"/>
                </a:solidFill>
                <a:latin typeface="Roboto Medium"/>
                <a:ea typeface="Roboto Medium"/>
                <a:cs typeface="Roboto Medium"/>
              </a:rPr>
              <a:t>làm lộ cạnh ảo, che cạnh thật</a:t>
            </a:r>
          </a:p>
        </p:txBody>
      </p:sp>
      <p:sp>
        <p:nvSpPr>
          <p:cNvPr id="24" name="Shape 24"/>
          <p:cNvSpPr/>
          <p:nvPr/>
        </p:nvSpPr>
        <p:spPr>
          <a:xfrm>
            <a:off x="9263786" y="1051560"/>
            <a:ext cx="2514600" cy="1463040"/>
          </a:xfrm>
          <a:prstGeom prst="roundRect">
            <a:avLst>
              <a:gd name="adj" fmla="val 8000"/>
            </a:avLst>
          </a:prstGeom>
          <a:solidFill>
            <a:srgbClr val="003366"/>
          </a:solidFill>
          <a:ln>
            <a:noFill/>
          </a:ln>
          <a:effectLst/>
        </p:spPr>
        <p:txBody>
          <a:bodyPr wrap="square" rtlCol="0" anchor="ctr" lIns="73152" rIns="73152" tIns="36576" bIns="36576"/>
          <a:lstStyle/>
          <a:p>
            <a:pPr algn="ctr">
              <a:spcBef>
                <a:spcPts val="0"/>
              </a:spcBef>
              <a:spcAft>
                <a:spcPts val="0"/>
              </a:spcAft>
              <a:buNone/>
            </a:pPr>
            <a:r>
              <a:rPr sz="1600" b="1">
                <a:solidFill>
                  <a:srgbClr val="FFFFFF"/>
                </a:solidFill>
                <a:latin typeface="Roboto Black"/>
                <a:ea typeface="Roboto Black"/>
                <a:cs typeface="Roboto Black"/>
              </a:rPr>
              <a:t>3. Protected execution</a:t>
            </a:r>
          </a:p>
          <a:p>
            <a:pPr algn="ctr">
              <a:spcBef>
                <a:spcPts val="300"/>
              </a:spcBef>
              <a:spcAft>
                <a:spcPts val="0"/>
              </a:spcAft>
              <a:buNone/>
            </a:pPr>
            <a:r>
              <a:rPr sz="1300" b="0">
                <a:solidFill>
                  <a:srgbClr val="FFFFFF"/>
                </a:solidFill>
                <a:latin typeface="Roboto Medium"/>
                <a:ea typeface="Roboto Medium"/>
                <a:cs typeface="Roboto Medium"/>
              </a:rPr>
              <a:t>chạy trên G, phơi bày G′</a:t>
            </a:r>
          </a:p>
        </p:txBody>
      </p:sp>
      <p:cxnSp>
        <p:nvCxnSpPr>
          <p:cNvPr id="25" name="Connector 25"/>
          <p:cNvCxnSpPr/>
          <p:nvPr/>
        </p:nvCxnSpPr>
        <p:spPr>
          <a:xfrm>
            <a:off x="2962656" y="1783080"/>
            <a:ext cx="363017" cy="0"/>
          </a:xfrm>
          <a:prstGeom prst="straightConnector1">
            <a:avLst/>
          </a:prstGeom>
          <a:ln w="22225">
            <a:solidFill>
              <a:srgbClr val="003366"/>
            </a:solidFill>
            <a:tailEnd type="triangle" w="med" len="med"/>
          </a:ln>
        </p:spPr>
      </p:cxnSp>
      <p:cxnSp>
        <p:nvCxnSpPr>
          <p:cNvPr id="26" name="Connector 26"/>
          <p:cNvCxnSpPr/>
          <p:nvPr/>
        </p:nvCxnSpPr>
        <p:spPr>
          <a:xfrm>
            <a:off x="5913425" y="1783080"/>
            <a:ext cx="363017" cy="0"/>
          </a:xfrm>
          <a:prstGeom prst="straightConnector1">
            <a:avLst/>
          </a:prstGeom>
          <a:ln w="22225">
            <a:solidFill>
              <a:srgbClr val="003366"/>
            </a:solidFill>
            <a:tailEnd type="triangle" w="med" len="med"/>
          </a:ln>
        </p:spPr>
      </p:cxnSp>
      <p:cxnSp>
        <p:nvCxnSpPr>
          <p:cNvPr id="27" name="Connector 27"/>
          <p:cNvCxnSpPr/>
          <p:nvPr/>
        </p:nvCxnSpPr>
        <p:spPr>
          <a:xfrm>
            <a:off x="8864194" y="1783080"/>
            <a:ext cx="363017" cy="0"/>
          </a:xfrm>
          <a:prstGeom prst="straightConnector1">
            <a:avLst/>
          </a:prstGeom>
          <a:ln w="22225">
            <a:solidFill>
              <a:srgbClr val="003366"/>
            </a:solidFill>
            <a:tailEnd type="triangle" w="med" len="med"/>
          </a:ln>
        </p:spPr>
      </p:cxnSp>
      <p:cxnSp>
        <p:nvCxnSpPr>
          <p:cNvPr id="28" name="Connector 28"/>
          <p:cNvCxnSpPr/>
          <p:nvPr/>
        </p:nvCxnSpPr>
        <p:spPr>
          <a:xfrm>
            <a:off x="10521086" y="2514600"/>
            <a:ext cx="0" cy="228600"/>
          </a:xfrm>
          <a:prstGeom prst="straightConnector1">
            <a:avLst/>
          </a:prstGeom>
          <a:ln w="22225">
            <a:solidFill>
              <a:srgbClr val="003366"/>
            </a:solidFill>
          </a:ln>
        </p:spPr>
      </p:cxnSp>
      <p:cxnSp>
        <p:nvCxnSpPr>
          <p:cNvPr id="29" name="Connector 29"/>
          <p:cNvCxnSpPr/>
          <p:nvPr/>
        </p:nvCxnSpPr>
        <p:spPr>
          <a:xfrm>
            <a:off x="7595006" y="2743200"/>
            <a:ext cx="2926080" cy="0"/>
          </a:xfrm>
          <a:prstGeom prst="straightConnector1">
            <a:avLst/>
          </a:prstGeom>
          <a:ln w="22225">
            <a:solidFill>
              <a:srgbClr val="003366"/>
            </a:solidFill>
          </a:ln>
        </p:spPr>
      </p:cxnSp>
      <p:cxnSp>
        <p:nvCxnSpPr>
          <p:cNvPr id="30" name="Connector 30"/>
          <p:cNvCxnSpPr/>
          <p:nvPr/>
        </p:nvCxnSpPr>
        <p:spPr>
          <a:xfrm>
            <a:off x="7595006" y="2743200"/>
            <a:ext cx="0" cy="246888"/>
          </a:xfrm>
          <a:prstGeom prst="straightConnector1">
            <a:avLst/>
          </a:prstGeom>
          <a:ln w="22225">
            <a:solidFill>
              <a:srgbClr val="003366"/>
            </a:solidFill>
            <a:tailEnd type="triangle" w="med" len="med"/>
          </a:ln>
        </p:spPr>
      </p:cxnSp>
      <p:cxnSp>
        <p:nvCxnSpPr>
          <p:cNvPr id="31" name="Connector 31"/>
          <p:cNvCxnSpPr/>
          <p:nvPr/>
        </p:nvCxnSpPr>
        <p:spPr>
          <a:xfrm>
            <a:off x="10521086" y="2743200"/>
            <a:ext cx="0" cy="246888"/>
          </a:xfrm>
          <a:prstGeom prst="straightConnector1">
            <a:avLst/>
          </a:prstGeom>
          <a:ln w="22225">
            <a:solidFill>
              <a:srgbClr val="003366"/>
            </a:solidFill>
            <a:tailEnd type="triangle" w="med" len="med"/>
          </a:ln>
        </p:spPr>
      </p:cxnSp>
      <p:sp>
        <p:nvSpPr>
          <p:cNvPr id="32" name="Shape 32"/>
          <p:cNvSpPr/>
          <p:nvPr/>
        </p:nvSpPr>
        <p:spPr>
          <a:xfrm>
            <a:off x="6246266" y="3017520"/>
            <a:ext cx="2697480" cy="1371600"/>
          </a:xfrm>
          <a:prstGeom prst="roundRect">
            <a:avLst>
              <a:gd name="adj" fmla="val 8000"/>
            </a:avLst>
          </a:prstGeom>
          <a:solidFill>
            <a:srgbClr val="FFFFFF"/>
          </a:solidFill>
          <a:ln w="12700">
            <a:solidFill>
              <a:srgbClr val="003366"/>
            </a:solidFill>
          </a:ln>
          <a:effectLst/>
        </p:spPr>
        <p:txBody>
          <a:bodyPr wrap="square" rtlCol="0" anchor="ctr" lIns="73152" rIns="73152" tIns="36576" bIns="36576"/>
          <a:lstStyle/>
          <a:p>
            <a:pPr algn="ctr">
              <a:spcBef>
                <a:spcPts val="0"/>
              </a:spcBef>
              <a:spcAft>
                <a:spcPts val="0"/>
              </a:spcAft>
              <a:buNone/>
            </a:pPr>
            <a:r>
              <a:rPr sz="1600" b="1">
                <a:solidFill>
                  <a:srgbClr val="003366"/>
                </a:solidFill>
                <a:latin typeface="Roboto Black"/>
                <a:ea typeface="Roboto Black"/>
                <a:cs typeface="Roboto Black"/>
              </a:rPr>
              <a:t>Execution view</a:t>
            </a:r>
          </a:p>
          <a:p>
            <a:pPr algn="ctr">
              <a:spcBef>
                <a:spcPts val="300"/>
              </a:spcBef>
              <a:spcAft>
                <a:spcPts val="0"/>
              </a:spcAft>
              <a:buNone/>
            </a:pPr>
            <a:r>
              <a:rPr sz="1300" b="0">
                <a:solidFill>
                  <a:srgbClr val="222222"/>
                </a:solidFill>
                <a:latin typeface="Roboto Medium"/>
                <a:ea typeface="Roboto Medium"/>
                <a:cs typeface="Roboto Medium"/>
              </a:rPr>
              <a:t>agent giao tiếp đúng theo G thật → kết quả tác vụ không đổi</a:t>
            </a:r>
          </a:p>
        </p:txBody>
      </p:sp>
      <p:sp>
        <p:nvSpPr>
          <p:cNvPr id="33" name="Shape 33"/>
          <p:cNvSpPr/>
          <p:nvPr/>
        </p:nvSpPr>
        <p:spPr>
          <a:xfrm>
            <a:off x="9172346" y="3017520"/>
            <a:ext cx="2697480" cy="1371600"/>
          </a:xfrm>
          <a:prstGeom prst="roundRect">
            <a:avLst>
              <a:gd name="adj" fmla="val 8000"/>
            </a:avLst>
          </a:prstGeom>
          <a:solidFill>
            <a:srgbClr val="FCF4F4"/>
          </a:solidFill>
          <a:ln w="12700">
            <a:solidFill>
              <a:srgbClr val="C00000"/>
            </a:solidFill>
          </a:ln>
          <a:effectLst/>
        </p:spPr>
        <p:txBody>
          <a:bodyPr wrap="square" rtlCol="0" anchor="ctr" lIns="73152" rIns="73152" tIns="36576" bIns="36576"/>
          <a:lstStyle/>
          <a:p>
            <a:pPr algn="ctr">
              <a:spcBef>
                <a:spcPts val="0"/>
              </a:spcBef>
              <a:spcAft>
                <a:spcPts val="0"/>
              </a:spcAft>
              <a:buNone/>
            </a:pPr>
            <a:r>
              <a:rPr sz="1600" b="1">
                <a:solidFill>
                  <a:srgbClr val="C00000"/>
                </a:solidFill>
                <a:latin typeface="Roboto Black"/>
                <a:ea typeface="Roboto Black"/>
                <a:cs typeface="Roboto Black"/>
              </a:rPr>
              <a:t>Exposure view</a:t>
            </a:r>
          </a:p>
          <a:p>
            <a:pPr algn="ctr">
              <a:spcBef>
                <a:spcPts val="300"/>
              </a:spcBef>
              <a:spcAft>
                <a:spcPts val="0"/>
              </a:spcAft>
              <a:buNone/>
            </a:pPr>
            <a:r>
              <a:rPr sz="1300" b="0">
                <a:solidFill>
                  <a:srgbClr val="222222"/>
                </a:solidFill>
                <a:latin typeface="Roboto Medium"/>
                <a:ea typeface="Roboto Medium"/>
                <a:cs typeface="Roboto Medium"/>
              </a:rPr>
              <a:t>vết lập luận đã che + bằng chứng ảo → kẻ tấn công suy ra Ĝ ≈ G′</a:t>
            </a:r>
          </a:p>
        </p:txBody>
      </p:sp>
      <p:sp>
        <p:nvSpPr>
          <p:cNvPr id="34" name="Card 34"/>
          <p:cNvSpPr/>
          <p:nvPr/>
        </p:nvSpPr>
        <p:spPr>
          <a:xfrm>
            <a:off x="411480" y="3017520"/>
            <a:ext cx="5606186" cy="137160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5" name="Card bar 35"/>
          <p:cNvSpPr/>
          <p:nvPr/>
        </p:nvSpPr>
        <p:spPr>
          <a:xfrm>
            <a:off x="411480" y="3017520"/>
            <a:ext cx="5606186" cy="54864"/>
          </a:xfrm>
          <a:prstGeom prst="rect">
            <a:avLst/>
          </a:prstGeom>
          <a:solidFill>
            <a:srgbClr val="003366"/>
          </a:solidFill>
          <a:ln>
            <a:noFill/>
          </a:ln>
          <a:effectLst/>
        </p:spPr>
        <p:txBody>
          <a:bodyPr wrap="square" rtlCol="0" anchor="ctr" lIns="73152" rIns="73152" tIns="36576" bIns="36576"/>
          <a:lstStyle/>
          <a:p/>
        </p:txBody>
      </p:sp>
      <p:sp>
        <p:nvSpPr>
          <p:cNvPr id="36" name="TextBox 36"/>
          <p:cNvSpPr txBox="1"/>
          <p:nvPr/>
        </p:nvSpPr>
        <p:spPr>
          <a:xfrm>
            <a:off x="548640" y="3108960"/>
            <a:ext cx="5331866" cy="1234440"/>
          </a:xfrm>
          <a:prstGeom prst="rect">
            <a:avLst/>
          </a:prstGeom>
          <a:noFill/>
        </p:spPr>
        <p:txBody>
          <a:bodyPr wrap="square" anchor="t" lIns="45720" rIns="45720" tIns="18288" bIns="18288"/>
          <a:lstStyle/>
          <a:p>
            <a:pPr>
              <a:spcBef>
                <a:spcPts val="0"/>
              </a:spcBef>
              <a:spcAft>
                <a:spcPts val="0"/>
              </a:spcAft>
              <a:buNone/>
            </a:pPr>
            <a:r>
              <a:rPr sz="1600" b="1">
                <a:solidFill>
                  <a:srgbClr val="003366"/>
                </a:solidFill>
                <a:latin typeface="Roboto Black"/>
                <a:ea typeface="Roboto Black"/>
                <a:cs typeface="Roboto Black"/>
              </a:rPr>
              <a:t>Hai tập cạnh cần xử lý</a:t>
            </a:r>
          </a:p>
          <a:p>
            <a:pPr marL="110600" indent="-110600">
              <a:spcBef>
                <a:spcPts val="300"/>
              </a:spcBef>
              <a:spcAft>
                <a:spcPts val="0"/>
              </a:spcAft>
              <a:buClr>
                <a:srgbClr val="C00000"/>
              </a:buClr>
              <a:buFont typeface="Arial"/>
              <a:buChar char="•"/>
            </a:pPr>
            <a:r>
              <a:rPr sz="1400" b="1">
                <a:solidFill>
                  <a:srgbClr val="003366"/>
                </a:solidFill>
                <a:latin typeface="Roboto Black"/>
                <a:ea typeface="Roboto Black"/>
                <a:cs typeface="Roboto Black"/>
              </a:rPr>
              <a:t>E</a:t>
            </a:r>
            <a:r>
              <a:rPr sz="1400" b="0" baseline="-25000">
                <a:solidFill>
                  <a:srgbClr val="003366"/>
                </a:solidFill>
                <a:latin typeface="Roboto Medium"/>
                <a:ea typeface="Roboto Medium"/>
                <a:cs typeface="Roboto Medium"/>
              </a:rPr>
              <a:t>p</a:t>
            </a:r>
            <a:r>
              <a:rPr sz="1400" b="1">
                <a:solidFill>
                  <a:srgbClr val="003366"/>
                </a:solidFill>
                <a:latin typeface="Roboto Black"/>
                <a:ea typeface="Roboto Black"/>
                <a:cs typeface="Roboto Black"/>
              </a:rPr>
              <a:t xml:space="preserve"> = E′ \ E</a:t>
            </a:r>
            <a:r>
              <a:rPr sz="1400" b="0">
                <a:solidFill>
                  <a:srgbClr val="222222"/>
                </a:solidFill>
                <a:latin typeface="Roboto Medium"/>
                <a:ea typeface="Roboto Medium"/>
                <a:cs typeface="Roboto Medium"/>
              </a:rPr>
              <a:t xml:space="preserve"> (phantom edge): cạnh ảo, phải </a:t>
            </a:r>
            <a:r>
              <a:rPr sz="1400" b="0" i="1">
                <a:solidFill>
                  <a:srgbClr val="222222"/>
                </a:solidFill>
                <a:latin typeface="Roboto Medium"/>
                <a:ea typeface="Roboto Medium"/>
                <a:cs typeface="Roboto Medium"/>
              </a:rPr>
              <a:t>làm lộ</a:t>
            </a:r>
            <a:r>
              <a:rPr sz="1400" b="0">
                <a:solidFill>
                  <a:srgbClr val="222222"/>
                </a:solidFill>
                <a:latin typeface="Roboto Medium"/>
                <a:ea typeface="Roboto Medium"/>
                <a:cs typeface="Roboto Medium"/>
              </a:rPr>
              <a:t>.</a:t>
            </a:r>
          </a:p>
          <a:p>
            <a:pPr marL="110600" indent="-110600">
              <a:spcBef>
                <a:spcPts val="200"/>
              </a:spcBef>
              <a:spcAft>
                <a:spcPts val="0"/>
              </a:spcAft>
              <a:buClr>
                <a:srgbClr val="C00000"/>
              </a:buClr>
              <a:buFont typeface="Arial"/>
              <a:buChar char="•"/>
            </a:pPr>
            <a:r>
              <a:rPr sz="1400" b="1">
                <a:solidFill>
                  <a:srgbClr val="003366"/>
                </a:solidFill>
                <a:latin typeface="Roboto Black"/>
                <a:ea typeface="Roboto Black"/>
                <a:cs typeface="Roboto Black"/>
              </a:rPr>
              <a:t>E</a:t>
            </a:r>
            <a:r>
              <a:rPr sz="1400" b="0" baseline="-25000">
                <a:solidFill>
                  <a:srgbClr val="003366"/>
                </a:solidFill>
                <a:latin typeface="Roboto Medium"/>
                <a:ea typeface="Roboto Medium"/>
                <a:cs typeface="Roboto Medium"/>
              </a:rPr>
              <a:t>h</a:t>
            </a:r>
            <a:r>
              <a:rPr sz="1400" b="1">
                <a:solidFill>
                  <a:srgbClr val="003366"/>
                </a:solidFill>
                <a:latin typeface="Roboto Black"/>
                <a:ea typeface="Roboto Black"/>
                <a:cs typeface="Roboto Black"/>
              </a:rPr>
              <a:t xml:space="preserve"> = E \ E′</a:t>
            </a:r>
            <a:r>
              <a:rPr sz="1400" b="0">
                <a:solidFill>
                  <a:srgbClr val="222222"/>
                </a:solidFill>
                <a:latin typeface="Roboto Medium"/>
                <a:ea typeface="Roboto Medium"/>
                <a:cs typeface="Roboto Medium"/>
              </a:rPr>
              <a:t xml:space="preserve"> (genuine edge vắng trong G′): cạnh thật, phải </a:t>
            </a:r>
            <a:r>
              <a:rPr sz="1400" b="0" i="1">
                <a:solidFill>
                  <a:srgbClr val="222222"/>
                </a:solidFill>
                <a:latin typeface="Roboto Medium"/>
                <a:ea typeface="Roboto Medium"/>
                <a:cs typeface="Roboto Medium"/>
              </a:rPr>
              <a:t>che giấu</a:t>
            </a:r>
            <a:r>
              <a:rPr sz="1400" b="0">
                <a:solidFill>
                  <a:srgbClr val="222222"/>
                </a:solidFill>
                <a:latin typeface="Roboto Medium"/>
                <a:ea typeface="Roboto Medium"/>
                <a:cs typeface="Roboto Medium"/>
              </a:rPr>
              <a:t>.</a:t>
            </a:r>
          </a:p>
        </p:txBody>
      </p:sp>
      <p:sp>
        <p:nvSpPr>
          <p:cNvPr id="37" name="Shape 37"/>
          <p:cNvSpPr/>
          <p:nvPr/>
        </p:nvSpPr>
        <p:spPr>
          <a:xfrm>
            <a:off x="411480" y="4663440"/>
            <a:ext cx="11365992" cy="1188720"/>
          </a:xfrm>
          <a:prstGeom prst="rect">
            <a:avLst/>
          </a:prstGeom>
          <a:solidFill>
            <a:srgbClr val="EEF3FA"/>
          </a:solidFill>
          <a:ln>
            <a:noFill/>
          </a:ln>
          <a:effectLst/>
        </p:spPr>
        <p:txBody>
          <a:bodyPr wrap="square" rtlCol="0" anchor="ctr" lIns="182880" rIns="182880" tIns="91440" bIns="91440"/>
          <a:lstStyle/>
          <a:p>
            <a:pPr>
              <a:spcBef>
                <a:spcPts val="0"/>
              </a:spcBef>
              <a:spcAft>
                <a:spcPts val="0"/>
              </a:spcAft>
              <a:buNone/>
            </a:pPr>
            <a:r>
              <a:rPr sz="1600" b="1">
                <a:solidFill>
                  <a:srgbClr val="003366"/>
                </a:solidFill>
                <a:latin typeface="Roboto Black"/>
                <a:ea typeface="Roboto Black"/>
                <a:cs typeface="Roboto Black"/>
              </a:rPr>
              <a:t>Ý tưởng cốt lõi:</a:t>
            </a:r>
            <a:r>
              <a:rPr sz="1600" b="0">
                <a:solidFill>
                  <a:srgbClr val="222222"/>
                </a:solidFill>
                <a:latin typeface="Roboto Medium"/>
                <a:ea typeface="Roboto Medium"/>
                <a:cs typeface="Roboto Medium"/>
              </a:rPr>
              <a:t xml:space="preserve"> tách cấu trúc dùng để </a:t>
            </a:r>
            <a:r>
              <a:rPr sz="1600" b="0" i="1">
                <a:solidFill>
                  <a:srgbClr val="222222"/>
                </a:solidFill>
                <a:latin typeface="Roboto Medium"/>
                <a:ea typeface="Roboto Medium"/>
                <a:cs typeface="Roboto Medium"/>
              </a:rPr>
              <a:t>tính toán</a:t>
            </a:r>
            <a:r>
              <a:rPr sz="1600" b="0">
                <a:solidFill>
                  <a:srgbClr val="222222"/>
                </a:solidFill>
                <a:latin typeface="Roboto Medium"/>
                <a:ea typeface="Roboto Medium"/>
                <a:cs typeface="Roboto Medium"/>
              </a:rPr>
              <a:t xml:space="preserve"> khỏi cấu trúc </a:t>
            </a:r>
            <a:r>
              <a:rPr sz="1600" b="0" i="1">
                <a:solidFill>
                  <a:srgbClr val="222222"/>
                </a:solidFill>
                <a:latin typeface="Roboto Medium"/>
                <a:ea typeface="Roboto Medium"/>
                <a:cs typeface="Roboto Medium"/>
              </a:rPr>
              <a:t>phơi bày</a:t>
            </a:r>
            <a:r>
              <a:rPr sz="1600" b="0">
                <a:solidFill>
                  <a:srgbClr val="222222"/>
                </a:solidFill>
                <a:latin typeface="Roboto Medium"/>
                <a:ea typeface="Roboto Medium"/>
                <a:cs typeface="Roboto Medium"/>
              </a:rPr>
              <a:t xml:space="preserve"> ra ngoài. Tác vụ vẫn chạy trên G nên chất lượng gần như giữ nguyên; kẻ tấn công chỉ thấy bằng chứng “trỏ” về 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Bước 1 – Phantom topology synthesis</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13</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TextBox 21"/>
          <p:cNvSpPr txBox="1"/>
          <p:nvPr/>
        </p:nvSpPr>
        <p:spPr>
          <a:xfrm>
            <a:off x="411480" y="914400"/>
            <a:ext cx="5897880" cy="3657600"/>
          </a:xfrm>
          <a:prstGeom prst="rect">
            <a:avLst/>
          </a:prstGeom>
          <a:noFill/>
        </p:spPr>
        <p:txBody>
          <a:bodyPr wrap="square" anchor="t" lIns="45720" rIns="45720" tIns="18288" bIns="18288"/>
          <a:lstStyle/>
          <a:p>
            <a:pPr>
              <a:spcBef>
                <a:spcPts val="0"/>
              </a:spcBef>
              <a:spcAft>
                <a:spcPts val="0"/>
              </a:spcAft>
              <a:buNone/>
            </a:pPr>
            <a:r>
              <a:rPr sz="2250" b="1">
                <a:solidFill>
                  <a:srgbClr val="003366"/>
                </a:solidFill>
                <a:latin typeface="Roboto Black"/>
                <a:ea typeface="Roboto Black"/>
                <a:cs typeface="Roboto Black"/>
              </a:rPr>
              <a:t>Đi dây lại cạnh, có ràng buộc</a:t>
            </a:r>
          </a:p>
          <a:p>
            <a:pPr marL="134300" indent="-134300">
              <a:spcBef>
                <a:spcPts val="500"/>
              </a:spcBef>
              <a:spcAft>
                <a:spcPts val="0"/>
              </a:spcAft>
              <a:buClr>
                <a:srgbClr val="C00000"/>
              </a:buClr>
              <a:buFont typeface="Arial"/>
              <a:buChar char="•"/>
            </a:pPr>
            <a:r>
              <a:rPr sz="1700" b="0">
                <a:solidFill>
                  <a:srgbClr val="222222"/>
                </a:solidFill>
                <a:latin typeface="Roboto Medium"/>
                <a:ea typeface="Roboto Medium"/>
                <a:cs typeface="Roboto Medium"/>
              </a:rPr>
              <a:t xml:space="preserve">Giữ nguyên tập agent A, chỉ </a:t>
            </a:r>
            <a:r>
              <a:rPr sz="1700" b="1">
                <a:solidFill>
                  <a:srgbClr val="003366"/>
                </a:solidFill>
                <a:latin typeface="Roboto Black"/>
                <a:ea typeface="Roboto Black"/>
                <a:cs typeface="Roboto Black"/>
              </a:rPr>
              <a:t>thay đổi cạnh</a:t>
            </a:r>
            <a:r>
              <a:rPr sz="1700" b="0">
                <a:solidFill>
                  <a:srgbClr val="222222"/>
                </a:solidFill>
                <a:latin typeface="Roboto Medium"/>
                <a:ea typeface="Roboto Medium"/>
                <a:cs typeface="Roboto Medium"/>
              </a:rPr>
              <a:t xml:space="preserve"> → không thêm agent, role hay vết thực thi.</a:t>
            </a:r>
          </a:p>
          <a:p>
            <a:pPr marL="134300" indent="-134300">
              <a:spcBef>
                <a:spcPts val="500"/>
              </a:spcBef>
              <a:spcAft>
                <a:spcPts val="0"/>
              </a:spcAft>
              <a:buClr>
                <a:srgbClr val="C00000"/>
              </a:buClr>
              <a:buFont typeface="Arial"/>
              <a:buChar char="•"/>
            </a:pPr>
            <a:r>
              <a:rPr sz="1700" b="0">
                <a:solidFill>
                  <a:srgbClr val="222222"/>
                </a:solidFill>
                <a:latin typeface="Roboto Medium"/>
                <a:ea typeface="Roboto Medium"/>
                <a:cs typeface="Roboto Medium"/>
              </a:rPr>
              <a:t xml:space="preserve">Cạnh hợp lệ theo thứ tự thực thi π: </a:t>
            </a:r>
            <a:r>
              <a:rPr sz="1700" b="0" i="1">
                <a:solidFill>
                  <a:srgbClr val="003366"/>
                </a:solidFill>
                <a:latin typeface="Roboto Medium"/>
                <a:ea typeface="Roboto Medium"/>
                <a:cs typeface="Roboto Medium"/>
              </a:rPr>
              <a:t>U</a:t>
            </a:r>
            <a:r>
              <a:rPr sz="1700" b="0" baseline="-25000">
                <a:solidFill>
                  <a:srgbClr val="003366"/>
                </a:solidFill>
                <a:latin typeface="Roboto Medium"/>
                <a:ea typeface="Roboto Medium"/>
                <a:cs typeface="Roboto Medium"/>
              </a:rPr>
              <a:t>π</a:t>
            </a:r>
            <a:r>
              <a:rPr sz="1700" b="0" i="1">
                <a:solidFill>
                  <a:srgbClr val="003366"/>
                </a:solidFill>
                <a:latin typeface="Roboto Medium"/>
                <a:ea typeface="Roboto Medium"/>
                <a:cs typeface="Roboto Medium"/>
              </a:rPr>
              <a:t xml:space="preserve"> = {(a</a:t>
            </a:r>
            <a:r>
              <a:rPr sz="1700" b="0" baseline="-25000">
                <a:solidFill>
                  <a:srgbClr val="003366"/>
                </a:solidFill>
                <a:latin typeface="Roboto Medium"/>
                <a:ea typeface="Roboto Medium"/>
                <a:cs typeface="Roboto Medium"/>
              </a:rPr>
              <a:t>j</a:t>
            </a:r>
            <a:r>
              <a:rPr sz="1700" b="0" i="1">
                <a:solidFill>
                  <a:srgbClr val="003366"/>
                </a:solidFill>
                <a:latin typeface="Roboto Medium"/>
                <a:ea typeface="Roboto Medium"/>
                <a:cs typeface="Roboto Medium"/>
              </a:rPr>
              <a:t>, a</a:t>
            </a:r>
            <a:r>
              <a:rPr sz="1700" b="0" baseline="-25000">
                <a:solidFill>
                  <a:srgbClr val="003366"/>
                </a:solidFill>
                <a:latin typeface="Roboto Medium"/>
                <a:ea typeface="Roboto Medium"/>
                <a:cs typeface="Roboto Medium"/>
              </a:rPr>
              <a:t>i</a:t>
            </a:r>
            <a:r>
              <a:rPr sz="1700" b="0" i="1">
                <a:solidFill>
                  <a:srgbClr val="003366"/>
                </a:solidFill>
                <a:latin typeface="Roboto Medium"/>
                <a:ea typeface="Roboto Medium"/>
                <a:cs typeface="Roboto Medium"/>
              </a:rPr>
              <a:t>) | π(a</a:t>
            </a:r>
            <a:r>
              <a:rPr sz="1700" b="0" baseline="-25000">
                <a:solidFill>
                  <a:srgbClr val="003366"/>
                </a:solidFill>
                <a:latin typeface="Roboto Medium"/>
                <a:ea typeface="Roboto Medium"/>
                <a:cs typeface="Roboto Medium"/>
              </a:rPr>
              <a:t>j</a:t>
            </a:r>
            <a:r>
              <a:rPr sz="1700" b="0" i="1">
                <a:solidFill>
                  <a:srgbClr val="003366"/>
                </a:solidFill>
                <a:latin typeface="Roboto Medium"/>
                <a:ea typeface="Roboto Medium"/>
                <a:cs typeface="Roboto Medium"/>
              </a:rPr>
              <a:t>) &lt; π(a</a:t>
            </a:r>
            <a:r>
              <a:rPr sz="1700" b="0" baseline="-25000">
                <a:solidFill>
                  <a:srgbClr val="003366"/>
                </a:solidFill>
                <a:latin typeface="Roboto Medium"/>
                <a:ea typeface="Roboto Medium"/>
                <a:cs typeface="Roboto Medium"/>
              </a:rPr>
              <a:t>i</a:t>
            </a:r>
            <a:r>
              <a:rPr sz="1700" b="0" i="1">
                <a:solidFill>
                  <a:srgbClr val="003366"/>
                </a:solidFill>
                <a:latin typeface="Roboto Medium"/>
                <a:ea typeface="Roboto Medium"/>
                <a:cs typeface="Roboto Medium"/>
              </a:rPr>
              <a:t>)</a:t>
            </a:r>
            <a:r>
              <a:rPr sz="1700" b="0">
                <a:solidFill>
                  <a:srgbClr val="222222"/>
                </a:solidFill>
                <a:latin typeface="Roboto Medium"/>
                <a:ea typeface="Roboto Medium"/>
                <a:cs typeface="Roboto Medium"/>
              </a:rPr>
              <a:t>} → không tạo chu trình.</a:t>
            </a:r>
          </a:p>
          <a:p>
            <a:pPr marL="134300" indent="-134300">
              <a:spcBef>
                <a:spcPts val="500"/>
              </a:spcBef>
              <a:spcAft>
                <a:spcPts val="0"/>
              </a:spcAft>
              <a:buClr>
                <a:srgbClr val="C00000"/>
              </a:buClr>
              <a:buFont typeface="Arial"/>
              <a:buChar char="•"/>
            </a:pPr>
            <a:r>
              <a:rPr sz="1700" b="0">
                <a:solidFill>
                  <a:srgbClr val="222222"/>
                </a:solidFill>
                <a:latin typeface="Roboto Medium"/>
                <a:ea typeface="Roboto Medium"/>
                <a:cs typeface="Roboto Medium"/>
              </a:rPr>
              <a:t>Tập topology khả thi Ω(G): mọi agent vẫn có đường đi tới decision agent a</a:t>
            </a:r>
            <a:r>
              <a:rPr sz="1700" b="0" baseline="-25000">
                <a:solidFill>
                  <a:srgbClr val="003366"/>
                </a:solidFill>
                <a:latin typeface="Roboto Medium"/>
                <a:ea typeface="Roboto Medium"/>
                <a:cs typeface="Roboto Medium"/>
              </a:rPr>
              <a:t>n</a:t>
            </a:r>
            <a:r>
              <a:rPr sz="1700" b="0">
                <a:solidFill>
                  <a:srgbClr val="222222"/>
                </a:solidFill>
                <a:latin typeface="Roboto Medium"/>
                <a:ea typeface="Roboto Medium"/>
                <a:cs typeface="Roboto Medium"/>
              </a:rPr>
              <a:t xml:space="preserve"> → không có nhánh “chết”.</a:t>
            </a:r>
          </a:p>
          <a:p>
            <a:pPr marL="134300" indent="-134300">
              <a:spcBef>
                <a:spcPts val="500"/>
              </a:spcBef>
              <a:spcAft>
                <a:spcPts val="0"/>
              </a:spcAft>
              <a:buClr>
                <a:srgbClr val="C00000"/>
              </a:buClr>
              <a:buFont typeface="Arial"/>
              <a:buChar char="•"/>
            </a:pPr>
            <a:r>
              <a:rPr sz="1700" b="0">
                <a:solidFill>
                  <a:srgbClr val="222222"/>
                </a:solidFill>
                <a:latin typeface="Roboto Medium"/>
                <a:ea typeface="Roboto Medium"/>
                <a:cs typeface="Roboto Medium"/>
              </a:rPr>
              <a:t>Chọn G′ ∈ K</a:t>
            </a:r>
            <a:r>
              <a:rPr sz="1700" b="0" baseline="-25000">
                <a:solidFill>
                  <a:srgbClr val="003366"/>
                </a:solidFill>
                <a:latin typeface="Roboto Medium"/>
                <a:ea typeface="Roboto Medium"/>
                <a:cs typeface="Roboto Medium"/>
              </a:rPr>
              <a:t>ρ0</a:t>
            </a:r>
            <a:r>
              <a:rPr sz="1700" b="0">
                <a:solidFill>
                  <a:srgbClr val="222222"/>
                </a:solidFill>
                <a:latin typeface="Roboto Medium"/>
                <a:ea typeface="Roboto Medium"/>
                <a:cs typeface="Roboto Medium"/>
              </a:rPr>
              <a:t xml:space="preserve">(G) bằng </a:t>
            </a:r>
            <a:r>
              <a:rPr sz="1700" b="1">
                <a:solidFill>
                  <a:srgbClr val="003366"/>
                </a:solidFill>
                <a:latin typeface="Roboto Black"/>
                <a:ea typeface="Roboto Black"/>
                <a:cs typeface="Roboto Black"/>
              </a:rPr>
              <a:t>order-preserving edge rewiring</a:t>
            </a:r>
            <a:r>
              <a:rPr sz="1700" b="0">
                <a:solidFill>
                  <a:srgbClr val="222222"/>
                </a:solidFill>
                <a:latin typeface="Roboto Medium"/>
                <a:ea typeface="Roboto Medium"/>
                <a:cs typeface="Roboto Medium"/>
              </a:rPr>
              <a:t>, rồi suy ra E</a:t>
            </a:r>
            <a:r>
              <a:rPr sz="1700" b="0" baseline="-25000">
                <a:solidFill>
                  <a:srgbClr val="003366"/>
                </a:solidFill>
                <a:latin typeface="Roboto Medium"/>
                <a:ea typeface="Roboto Medium"/>
                <a:cs typeface="Roboto Medium"/>
              </a:rPr>
              <a:t>p</a:t>
            </a:r>
            <a:r>
              <a:rPr sz="1700" b="0">
                <a:solidFill>
                  <a:srgbClr val="222222"/>
                </a:solidFill>
                <a:latin typeface="Roboto Medium"/>
                <a:ea typeface="Roboto Medium"/>
                <a:cs typeface="Roboto Medium"/>
              </a:rPr>
              <a:t xml:space="preserve"> = E′ \ E và E</a:t>
            </a:r>
            <a:r>
              <a:rPr sz="1700" b="0" baseline="-25000">
                <a:solidFill>
                  <a:srgbClr val="003366"/>
                </a:solidFill>
                <a:latin typeface="Roboto Medium"/>
                <a:ea typeface="Roboto Medium"/>
                <a:cs typeface="Roboto Medium"/>
              </a:rPr>
              <a:t>h</a:t>
            </a:r>
            <a:r>
              <a:rPr sz="1700" b="0">
                <a:solidFill>
                  <a:srgbClr val="222222"/>
                </a:solidFill>
                <a:latin typeface="Roboto Medium"/>
                <a:ea typeface="Roboto Medium"/>
                <a:cs typeface="Roboto Medium"/>
              </a:rPr>
              <a:t xml:space="preserve"> = E \ E′.</a:t>
            </a:r>
          </a:p>
        </p:txBody>
      </p:sp>
      <p:sp>
        <p:nvSpPr>
          <p:cNvPr id="22" name="Card 22"/>
          <p:cNvSpPr/>
          <p:nvPr/>
        </p:nvSpPr>
        <p:spPr>
          <a:xfrm>
            <a:off x="6583680" y="960120"/>
            <a:ext cx="5193792" cy="224028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3" name="Card bar 23"/>
          <p:cNvSpPr/>
          <p:nvPr/>
        </p:nvSpPr>
        <p:spPr>
          <a:xfrm>
            <a:off x="6583680" y="960120"/>
            <a:ext cx="5193792" cy="54864"/>
          </a:xfrm>
          <a:prstGeom prst="rect">
            <a:avLst/>
          </a:prstGeom>
          <a:solidFill>
            <a:srgbClr val="003366"/>
          </a:solidFill>
          <a:ln>
            <a:noFill/>
          </a:ln>
          <a:effectLst/>
        </p:spPr>
        <p:txBody>
          <a:bodyPr wrap="square" rtlCol="0" anchor="ctr" lIns="73152" rIns="73152" tIns="36576" bIns="36576"/>
          <a:lstStyle/>
          <a:p/>
        </p:txBody>
      </p:sp>
      <p:sp>
        <p:nvSpPr>
          <p:cNvPr id="24" name="TextBox 24"/>
          <p:cNvSpPr txBox="1"/>
          <p:nvPr/>
        </p:nvSpPr>
        <p:spPr>
          <a:xfrm>
            <a:off x="6720840" y="1069848"/>
            <a:ext cx="4937760" cy="2103120"/>
          </a:xfrm>
          <a:prstGeom prst="rect">
            <a:avLst/>
          </a:prstGeom>
          <a:noFill/>
        </p:spPr>
        <p:txBody>
          <a:bodyPr wrap="square" anchor="t" lIns="45720" rIns="45720" tIns="18288" bIns="18288"/>
          <a:lstStyle/>
          <a:p>
            <a:pPr>
              <a:spcBef>
                <a:spcPts val="0"/>
              </a:spcBef>
              <a:spcAft>
                <a:spcPts val="0"/>
              </a:spcAft>
              <a:buNone/>
            </a:pPr>
            <a:r>
              <a:rPr sz="1700" b="1">
                <a:solidFill>
                  <a:srgbClr val="003366"/>
                </a:solidFill>
                <a:latin typeface="Roboto Black"/>
                <a:ea typeface="Roboto Black"/>
                <a:cs typeface="Roboto Black"/>
              </a:rPr>
              <a:t>Structural Camouflage Ratio (SCR)</a:t>
            </a:r>
          </a:p>
          <a:p>
            <a:pPr algn="ctr">
              <a:spcBef>
                <a:spcPts val="600"/>
              </a:spcBef>
              <a:spcAft>
                <a:spcPts val="0"/>
              </a:spcAft>
              <a:buNone/>
            </a:pPr>
            <a:r>
              <a:rPr sz="2000" b="0" i="1">
                <a:solidFill>
                  <a:srgbClr val="003366"/>
                </a:solidFill>
                <a:latin typeface="Roboto Medium"/>
                <a:ea typeface="Roboto Medium"/>
                <a:cs typeface="Roboto Medium"/>
              </a:rPr>
              <a:t>ρ(H, G) = 1 − |E</a:t>
            </a:r>
            <a:r>
              <a:rPr sz="2000" b="0" baseline="-25000">
                <a:solidFill>
                  <a:srgbClr val="003366"/>
                </a:solidFill>
                <a:latin typeface="Roboto Medium"/>
                <a:ea typeface="Roboto Medium"/>
                <a:cs typeface="Roboto Medium"/>
              </a:rPr>
              <a:t>H</a:t>
            </a:r>
            <a:r>
              <a:rPr sz="2000" b="0" i="1">
                <a:solidFill>
                  <a:srgbClr val="003366"/>
                </a:solidFill>
                <a:latin typeface="Roboto Medium"/>
                <a:ea typeface="Roboto Medium"/>
                <a:cs typeface="Roboto Medium"/>
              </a:rPr>
              <a:t xml:space="preserve"> ∩ E| / |E</a:t>
            </a:r>
            <a:r>
              <a:rPr sz="2000" b="0" baseline="-25000">
                <a:solidFill>
                  <a:srgbClr val="003366"/>
                </a:solidFill>
                <a:latin typeface="Roboto Medium"/>
                <a:ea typeface="Roboto Medium"/>
                <a:cs typeface="Roboto Medium"/>
              </a:rPr>
              <a:t>H</a:t>
            </a:r>
            <a:r>
              <a:rPr sz="2000" b="0" i="1">
                <a:solidFill>
                  <a:srgbClr val="003366"/>
                </a:solidFill>
                <a:latin typeface="Roboto Medium"/>
                <a:ea typeface="Roboto Medium"/>
                <a:cs typeface="Roboto Medium"/>
              </a:rPr>
              <a:t xml:space="preserve"> ∪ E|</a:t>
            </a:r>
          </a:p>
          <a:p>
            <a:pPr>
              <a:spcBef>
                <a:spcPts val="600"/>
              </a:spcBef>
              <a:spcAft>
                <a:spcPts val="0"/>
              </a:spcAft>
              <a:buNone/>
            </a:pPr>
            <a:r>
              <a:rPr sz="1450" b="0">
                <a:solidFill>
                  <a:srgbClr val="222222"/>
                </a:solidFill>
                <a:latin typeface="Roboto Medium"/>
                <a:ea typeface="Roboto Medium"/>
                <a:cs typeface="Roboto Medium"/>
              </a:rPr>
              <a:t>Một trừ hệ số Jaccard của hai tập cạnh, ρ ∈ [0, 1]: ρ = 0 là trùng G, ρ = 1 là không chung cạnh nào.</a:t>
            </a:r>
          </a:p>
        </p:txBody>
      </p:sp>
      <p:sp>
        <p:nvSpPr>
          <p:cNvPr id="25" name="Card 25"/>
          <p:cNvSpPr/>
          <p:nvPr/>
        </p:nvSpPr>
        <p:spPr>
          <a:xfrm>
            <a:off x="6583680" y="3383280"/>
            <a:ext cx="5193792" cy="251460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6" name="Card bar 26"/>
          <p:cNvSpPr/>
          <p:nvPr/>
        </p:nvSpPr>
        <p:spPr>
          <a:xfrm>
            <a:off x="6583680" y="3383280"/>
            <a:ext cx="5193792" cy="54864"/>
          </a:xfrm>
          <a:prstGeom prst="rect">
            <a:avLst/>
          </a:prstGeom>
          <a:solidFill>
            <a:srgbClr val="003366"/>
          </a:solidFill>
          <a:ln>
            <a:noFill/>
          </a:ln>
          <a:effectLst/>
        </p:spPr>
        <p:txBody>
          <a:bodyPr wrap="square" rtlCol="0" anchor="ctr" lIns="73152" rIns="73152" tIns="36576" bIns="36576"/>
          <a:lstStyle/>
          <a:p/>
        </p:txBody>
      </p:sp>
      <p:sp>
        <p:nvSpPr>
          <p:cNvPr id="27" name="TextBox 27"/>
          <p:cNvSpPr txBox="1"/>
          <p:nvPr/>
        </p:nvSpPr>
        <p:spPr>
          <a:xfrm>
            <a:off x="6720840" y="3493008"/>
            <a:ext cx="4937760" cy="2377440"/>
          </a:xfrm>
          <a:prstGeom prst="rect">
            <a:avLst/>
          </a:prstGeom>
          <a:noFill/>
        </p:spPr>
        <p:txBody>
          <a:bodyPr wrap="square" anchor="t" lIns="45720" rIns="45720" tIns="18288" bIns="18288"/>
          <a:lstStyle/>
          <a:p>
            <a:pPr>
              <a:spcBef>
                <a:spcPts val="0"/>
              </a:spcBef>
              <a:spcAft>
                <a:spcPts val="0"/>
              </a:spcAft>
              <a:buNone/>
            </a:pPr>
            <a:r>
              <a:rPr sz="1700" b="1">
                <a:solidFill>
                  <a:srgbClr val="003366"/>
                </a:solidFill>
                <a:latin typeface="Roboto Black"/>
                <a:ea typeface="Roboto Black"/>
                <a:cs typeface="Roboto Black"/>
              </a:rPr>
              <a:t>Topology anonymity set (k-anonymity)</a:t>
            </a:r>
          </a:p>
          <a:p>
            <a:pPr algn="ctr">
              <a:spcBef>
                <a:spcPts val="600"/>
              </a:spcBef>
              <a:spcAft>
                <a:spcPts val="0"/>
              </a:spcAft>
              <a:buNone/>
            </a:pPr>
            <a:r>
              <a:rPr sz="2000" b="0" i="1">
                <a:solidFill>
                  <a:srgbClr val="003366"/>
                </a:solidFill>
                <a:latin typeface="Roboto Medium"/>
                <a:ea typeface="Roboto Medium"/>
                <a:cs typeface="Roboto Medium"/>
              </a:rPr>
              <a:t>K</a:t>
            </a:r>
            <a:r>
              <a:rPr sz="2000" b="0" baseline="-25000">
                <a:solidFill>
                  <a:srgbClr val="003366"/>
                </a:solidFill>
                <a:latin typeface="Roboto Medium"/>
                <a:ea typeface="Roboto Medium"/>
                <a:cs typeface="Roboto Medium"/>
              </a:rPr>
              <a:t>ρ0</a:t>
            </a:r>
            <a:r>
              <a:rPr sz="2000" b="0" i="1">
                <a:solidFill>
                  <a:srgbClr val="003366"/>
                </a:solidFill>
                <a:latin typeface="Roboto Medium"/>
                <a:ea typeface="Roboto Medium"/>
                <a:cs typeface="Roboto Medium"/>
              </a:rPr>
              <a:t>(G) = { H ∈ Ω(G) | ρ(H, G) ≥ ρ</a:t>
            </a:r>
            <a:r>
              <a:rPr sz="2000" b="0" baseline="-25000">
                <a:solidFill>
                  <a:srgbClr val="003366"/>
                </a:solidFill>
                <a:latin typeface="Roboto Medium"/>
                <a:ea typeface="Roboto Medium"/>
                <a:cs typeface="Roboto Medium"/>
              </a:rPr>
              <a:t>0</a:t>
            </a:r>
            <a:r>
              <a:rPr sz="2000" b="0" i="1">
                <a:solidFill>
                  <a:srgbClr val="003366"/>
                </a:solidFill>
                <a:latin typeface="Roboto Medium"/>
                <a:ea typeface="Roboto Medium"/>
                <a:cs typeface="Roboto Medium"/>
              </a:rPr>
              <a:t xml:space="preserve"> </a:t>
            </a:r>
            <a:r>
              <a:rPr sz="2000" b="0">
                <a:solidFill>
                  <a:srgbClr val="003366"/>
                </a:solidFill>
                <a:latin typeface="Roboto Medium"/>
                <a:ea typeface="Roboto Medium"/>
                <a:cs typeface="Roboto Medium"/>
              </a:rPr>
              <a:t>}</a:t>
            </a:r>
          </a:p>
          <a:p>
            <a:pPr marL="114550" indent="-114550">
              <a:spcBef>
                <a:spcPts val="600"/>
              </a:spcBef>
              <a:spcAft>
                <a:spcPts val="0"/>
              </a:spcAft>
              <a:buClr>
                <a:srgbClr val="C00000"/>
              </a:buClr>
              <a:buFont typeface="Arial"/>
              <a:buChar char="•"/>
            </a:pPr>
            <a:r>
              <a:rPr sz="1450" b="0">
                <a:solidFill>
                  <a:srgbClr val="222222"/>
                </a:solidFill>
                <a:latin typeface="Roboto Medium"/>
                <a:ea typeface="Roboto Medium"/>
                <a:cs typeface="Roboto Medium"/>
              </a:rPr>
              <a:t>ρ</a:t>
            </a:r>
            <a:r>
              <a:rPr sz="1450" b="0" baseline="-25000">
                <a:solidFill>
                  <a:srgbClr val="003366"/>
                </a:solidFill>
                <a:latin typeface="Roboto Medium"/>
                <a:ea typeface="Roboto Medium"/>
                <a:cs typeface="Roboto Medium"/>
              </a:rPr>
              <a:t>0</a:t>
            </a:r>
            <a:r>
              <a:rPr sz="1450" b="0">
                <a:solidFill>
                  <a:srgbClr val="222222"/>
                </a:solidFill>
                <a:latin typeface="Roboto Medium"/>
                <a:ea typeface="Roboto Medium"/>
                <a:cs typeface="Roboto Medium"/>
              </a:rPr>
              <a:t>: độ lệch tối thiểu so với G.</a:t>
            </a:r>
          </a:p>
          <a:p>
            <a:pPr marL="114550" indent="-114550">
              <a:spcBef>
                <a:spcPts val="300"/>
              </a:spcBef>
              <a:spcAft>
                <a:spcPts val="0"/>
              </a:spcAft>
              <a:buClr>
                <a:srgbClr val="C00000"/>
              </a:buClr>
              <a:buFont typeface="Arial"/>
              <a:buChar char="•"/>
            </a:pPr>
            <a:r>
              <a:rPr sz="1450" b="0">
                <a:solidFill>
                  <a:srgbClr val="222222"/>
                </a:solidFill>
                <a:latin typeface="Roboto Medium"/>
                <a:ea typeface="Roboto Medium"/>
                <a:cs typeface="Roboto Medium"/>
              </a:rPr>
              <a:t>K</a:t>
            </a:r>
            <a:r>
              <a:rPr sz="1450" b="0" baseline="-25000">
                <a:solidFill>
                  <a:srgbClr val="003366"/>
                </a:solidFill>
                <a:latin typeface="Roboto Medium"/>
                <a:ea typeface="Roboto Medium"/>
                <a:cs typeface="Roboto Medium"/>
              </a:rPr>
              <a:t>topo</a:t>
            </a:r>
            <a:r>
              <a:rPr sz="1450" b="0">
                <a:solidFill>
                  <a:srgbClr val="222222"/>
                </a:solidFill>
                <a:latin typeface="Roboto Medium"/>
                <a:ea typeface="Roboto Medium"/>
                <a:cs typeface="Roboto Medium"/>
              </a:rPr>
              <a:t xml:space="preserve"> = |K</a:t>
            </a:r>
            <a:r>
              <a:rPr sz="1450" b="0" baseline="-25000">
                <a:solidFill>
                  <a:srgbClr val="003366"/>
                </a:solidFill>
                <a:latin typeface="Roboto Medium"/>
                <a:ea typeface="Roboto Medium"/>
                <a:cs typeface="Roboto Medium"/>
              </a:rPr>
              <a:t>ρ0</a:t>
            </a:r>
            <a:r>
              <a:rPr sz="1450" b="0">
                <a:solidFill>
                  <a:srgbClr val="222222"/>
                </a:solidFill>
                <a:latin typeface="Roboto Medium"/>
                <a:ea typeface="Roboto Medium"/>
                <a:cs typeface="Roboto Medium"/>
              </a:rPr>
              <a:t>(G)|: số topology “ngụy trang” khả thi → G bị giấu giữa nhiều ứng viên.</a:t>
            </a:r>
          </a:p>
        </p:txBody>
      </p:sp>
      <p:sp>
        <p:nvSpPr>
          <p:cNvPr id="28" name="Shape 28"/>
          <p:cNvSpPr/>
          <p:nvPr/>
        </p:nvSpPr>
        <p:spPr>
          <a:xfrm>
            <a:off x="411480" y="4663440"/>
            <a:ext cx="5897880" cy="1234440"/>
          </a:xfrm>
          <a:prstGeom prst="rect">
            <a:avLst/>
          </a:prstGeom>
          <a:solidFill>
            <a:srgbClr val="EEF3FA"/>
          </a:solidFill>
          <a:ln>
            <a:noFill/>
          </a:ln>
          <a:effectLst/>
        </p:spPr>
        <p:txBody>
          <a:bodyPr wrap="square" rtlCol="0" anchor="ctr" lIns="182880" rIns="182880" tIns="91440" bIns="91440"/>
          <a:lstStyle/>
          <a:p>
            <a:pPr>
              <a:spcBef>
                <a:spcPts val="0"/>
              </a:spcBef>
              <a:spcAft>
                <a:spcPts val="0"/>
              </a:spcAft>
              <a:buNone/>
            </a:pPr>
            <a:r>
              <a:rPr sz="1550" b="1">
                <a:solidFill>
                  <a:srgbClr val="003366"/>
                </a:solidFill>
                <a:latin typeface="Roboto Black"/>
                <a:ea typeface="Roboto Black"/>
                <a:cs typeface="Roboto Black"/>
              </a:rPr>
              <a:t>ρ</a:t>
            </a:r>
            <a:r>
              <a:rPr sz="1550" b="0" baseline="-25000">
                <a:solidFill>
                  <a:srgbClr val="003366"/>
                </a:solidFill>
                <a:latin typeface="Roboto Medium"/>
                <a:ea typeface="Roboto Medium"/>
                <a:cs typeface="Roboto Medium"/>
              </a:rPr>
              <a:t>0</a:t>
            </a:r>
            <a:r>
              <a:rPr sz="1550" b="1">
                <a:solidFill>
                  <a:srgbClr val="003366"/>
                </a:solidFill>
                <a:latin typeface="Roboto Black"/>
                <a:ea typeface="Roboto Black"/>
                <a:cs typeface="Roboto Black"/>
              </a:rPr>
              <a:t xml:space="preserve"> điều khiển đánh đổi:</a:t>
            </a:r>
            <a:r>
              <a:rPr sz="1550" b="0">
                <a:solidFill>
                  <a:srgbClr val="222222"/>
                </a:solidFill>
                <a:latin typeface="Roboto Medium"/>
                <a:ea typeface="Roboto Medium"/>
                <a:cs typeface="Roboto Medium"/>
              </a:rPr>
              <a:t xml:space="preserve"> ρ</a:t>
            </a:r>
            <a:r>
              <a:rPr sz="1550" b="0" baseline="-25000">
                <a:solidFill>
                  <a:srgbClr val="003366"/>
                </a:solidFill>
                <a:latin typeface="Roboto Medium"/>
                <a:ea typeface="Roboto Medium"/>
                <a:cs typeface="Roboto Medium"/>
              </a:rPr>
              <a:t>0</a:t>
            </a:r>
            <a:r>
              <a:rPr sz="1550" b="0">
                <a:solidFill>
                  <a:srgbClr val="222222"/>
                </a:solidFill>
                <a:latin typeface="Roboto Medium"/>
                <a:ea typeface="Roboto Medium"/>
                <a:cs typeface="Roboto Medium"/>
              </a:rPr>
              <a:t xml:space="preserve"> càng lớn thì G′ càng khác G, che càng tốt, nhưng utility giảm (xem phần phân tích tham số).</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Bước 2–3 – Edge realization và dual-view</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14</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Card 21"/>
          <p:cNvSpPr/>
          <p:nvPr/>
        </p:nvSpPr>
        <p:spPr>
          <a:xfrm>
            <a:off x="411480" y="914400"/>
            <a:ext cx="5545836" cy="324612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2" name="Card bar 22"/>
          <p:cNvSpPr/>
          <p:nvPr/>
        </p:nvSpPr>
        <p:spPr>
          <a:xfrm>
            <a:off x="411480" y="914400"/>
            <a:ext cx="5545836" cy="54864"/>
          </a:xfrm>
          <a:prstGeom prst="rect">
            <a:avLst/>
          </a:prstGeom>
          <a:solidFill>
            <a:srgbClr val="003366"/>
          </a:solidFill>
          <a:ln>
            <a:noFill/>
          </a:ln>
          <a:effectLst/>
        </p:spPr>
        <p:txBody>
          <a:bodyPr wrap="square" rtlCol="0" anchor="ctr" lIns="73152" rIns="73152" tIns="36576" bIns="36576"/>
          <a:lstStyle/>
          <a:p/>
        </p:txBody>
      </p:sp>
      <p:sp>
        <p:nvSpPr>
          <p:cNvPr id="23" name="TextBox 23"/>
          <p:cNvSpPr txBox="1"/>
          <p:nvPr/>
        </p:nvSpPr>
        <p:spPr>
          <a:xfrm>
            <a:off x="548640" y="1005840"/>
            <a:ext cx="5271516" cy="3108960"/>
          </a:xfrm>
          <a:prstGeom prst="rect">
            <a:avLst/>
          </a:prstGeom>
          <a:noFill/>
        </p:spPr>
        <p:txBody>
          <a:bodyPr wrap="square" anchor="t" lIns="45720" rIns="45720" tIns="18288" bIns="18288"/>
          <a:lstStyle/>
          <a:p>
            <a:pPr>
              <a:spcBef>
                <a:spcPts val="0"/>
              </a:spcBef>
              <a:spcAft>
                <a:spcPts val="0"/>
              </a:spcAft>
              <a:buNone/>
            </a:pPr>
            <a:r>
              <a:rPr sz="1900" b="1">
                <a:solidFill>
                  <a:srgbClr val="003366"/>
                </a:solidFill>
                <a:latin typeface="Roboto Black"/>
                <a:ea typeface="Roboto Black"/>
                <a:cs typeface="Roboto Black"/>
              </a:rPr>
              <a:t>Phantom Edge Materialization (PEM)</a:t>
            </a:r>
          </a:p>
          <a:p>
            <a:pPr>
              <a:spcBef>
                <a:spcPts val="300"/>
              </a:spcBef>
              <a:spcAft>
                <a:spcPts val="0"/>
              </a:spcAft>
              <a:buNone/>
            </a:pPr>
            <a:r>
              <a:rPr sz="1600" b="0">
                <a:solidFill>
                  <a:srgbClr val="222222"/>
                </a:solidFill>
                <a:latin typeface="Roboto Medium"/>
                <a:ea typeface="Roboto Medium"/>
                <a:cs typeface="Roboto Medium"/>
              </a:rPr>
              <a:t>Với mỗi cạnh ảo (a</a:t>
            </a:r>
            <a:r>
              <a:rPr sz="1600" b="0" baseline="-25000">
                <a:solidFill>
                  <a:srgbClr val="003366"/>
                </a:solidFill>
                <a:latin typeface="Roboto Medium"/>
                <a:ea typeface="Roboto Medium"/>
                <a:cs typeface="Roboto Medium"/>
              </a:rPr>
              <a:t>j</a:t>
            </a:r>
            <a:r>
              <a:rPr sz="1600" b="0">
                <a:solidFill>
                  <a:srgbClr val="222222"/>
                </a:solidFill>
                <a:latin typeface="Roboto Medium"/>
                <a:ea typeface="Roboto Medium"/>
                <a:cs typeface="Roboto Medium"/>
              </a:rPr>
              <a:t>, a</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 E</a:t>
            </a:r>
            <a:r>
              <a:rPr sz="1600" b="0" baseline="-25000">
                <a:solidFill>
                  <a:srgbClr val="003366"/>
                </a:solidFill>
                <a:latin typeface="Roboto Medium"/>
                <a:ea typeface="Roboto Medium"/>
                <a:cs typeface="Roboto Medium"/>
              </a:rPr>
              <a:t>p</a:t>
            </a:r>
            <a:r>
              <a:rPr sz="1600" b="0">
                <a:solidFill>
                  <a:srgbClr val="222222"/>
                </a:solidFill>
                <a:latin typeface="Roboto Medium"/>
                <a:ea typeface="Roboto Medium"/>
                <a:cs typeface="Roboto Medium"/>
              </a:rPr>
              <a:t>, LLM generator M</a:t>
            </a:r>
            <a:r>
              <a:rPr sz="1600" b="0" baseline="-25000">
                <a:solidFill>
                  <a:srgbClr val="003366"/>
                </a:solidFill>
                <a:latin typeface="Roboto Medium"/>
                <a:ea typeface="Roboto Medium"/>
                <a:cs typeface="Roboto Medium"/>
              </a:rPr>
              <a:t>φ</a:t>
            </a:r>
            <a:r>
              <a:rPr sz="1600" b="0">
                <a:solidFill>
                  <a:srgbClr val="222222"/>
                </a:solidFill>
                <a:latin typeface="Roboto Medium"/>
                <a:ea typeface="Roboto Medium"/>
                <a:cs typeface="Roboto Medium"/>
              </a:rPr>
              <a:t xml:space="preserve"> sinh bằng chứng phụ thuộc giả:</a:t>
            </a:r>
          </a:p>
          <a:p>
            <a:pPr algn="ctr">
              <a:spcBef>
                <a:spcPts val="400"/>
              </a:spcBef>
              <a:spcAft>
                <a:spcPts val="0"/>
              </a:spcAft>
              <a:buNone/>
            </a:pPr>
            <a:r>
              <a:rPr sz="2050" b="0" i="1">
                <a:solidFill>
                  <a:srgbClr val="003366"/>
                </a:solidFill>
                <a:latin typeface="Roboto Medium"/>
                <a:ea typeface="Roboto Medium"/>
                <a:cs typeface="Roboto Medium"/>
              </a:rPr>
              <a:t>s</a:t>
            </a:r>
            <a:r>
              <a:rPr sz="2050" b="0" baseline="30000">
                <a:solidFill>
                  <a:srgbClr val="003366"/>
                </a:solidFill>
                <a:latin typeface="Roboto Medium"/>
                <a:ea typeface="Roboto Medium"/>
                <a:cs typeface="Roboto Medium"/>
              </a:rPr>
              <a:t>ph</a:t>
            </a:r>
            <a:r>
              <a:rPr sz="2050" b="0" baseline="-25000">
                <a:solidFill>
                  <a:srgbClr val="003366"/>
                </a:solidFill>
                <a:latin typeface="Roboto Medium"/>
                <a:ea typeface="Roboto Medium"/>
                <a:cs typeface="Roboto Medium"/>
              </a:rPr>
              <a:t>j→i</a:t>
            </a:r>
            <a:r>
              <a:rPr sz="2050" b="0" i="1">
                <a:solidFill>
                  <a:srgbClr val="003366"/>
                </a:solidFill>
                <a:latin typeface="Roboto Medium"/>
                <a:ea typeface="Roboto Medium"/>
                <a:cs typeface="Roboto Medium"/>
              </a:rPr>
              <a:t xml:space="preserve"> = M</a:t>
            </a:r>
            <a:r>
              <a:rPr sz="2050" b="0" baseline="-25000">
                <a:solidFill>
                  <a:srgbClr val="003366"/>
                </a:solidFill>
                <a:latin typeface="Roboto Medium"/>
                <a:ea typeface="Roboto Medium"/>
                <a:cs typeface="Roboto Medium"/>
              </a:rPr>
              <a:t>φ</a:t>
            </a:r>
            <a:r>
              <a:rPr sz="2050" b="0" i="1">
                <a:solidFill>
                  <a:srgbClr val="003366"/>
                </a:solidFill>
                <a:latin typeface="Roboto Medium"/>
                <a:ea typeface="Roboto Medium"/>
                <a:cs typeface="Roboto Medium"/>
              </a:rPr>
              <a:t>(p</a:t>
            </a:r>
            <a:r>
              <a:rPr sz="2050" b="0" baseline="-25000">
                <a:solidFill>
                  <a:srgbClr val="003366"/>
                </a:solidFill>
                <a:latin typeface="Roboto Medium"/>
                <a:ea typeface="Roboto Medium"/>
                <a:cs typeface="Roboto Medium"/>
              </a:rPr>
              <a:t>j</a:t>
            </a:r>
            <a:r>
              <a:rPr sz="2050" b="0" i="1">
                <a:solidFill>
                  <a:srgbClr val="003366"/>
                </a:solidFill>
                <a:latin typeface="Roboto Medium"/>
                <a:ea typeface="Roboto Medium"/>
                <a:cs typeface="Roboto Medium"/>
              </a:rPr>
              <a:t>, r</a:t>
            </a:r>
            <a:r>
              <a:rPr sz="2050" b="0" baseline="-25000">
                <a:solidFill>
                  <a:srgbClr val="003366"/>
                </a:solidFill>
                <a:latin typeface="Roboto Medium"/>
                <a:ea typeface="Roboto Medium"/>
                <a:cs typeface="Roboto Medium"/>
              </a:rPr>
              <a:t>j</a:t>
            </a:r>
            <a:r>
              <a:rPr sz="2050" b="0" i="1">
                <a:solidFill>
                  <a:srgbClr val="003366"/>
                </a:solidFill>
                <a:latin typeface="Roboto Medium"/>
                <a:ea typeface="Roboto Medium"/>
                <a:cs typeface="Roboto Medium"/>
              </a:rPr>
              <a:t>, p</a:t>
            </a:r>
            <a:r>
              <a:rPr sz="2050" b="0" baseline="-25000">
                <a:solidFill>
                  <a:srgbClr val="003366"/>
                </a:solidFill>
                <a:latin typeface="Roboto Medium"/>
                <a:ea typeface="Roboto Medium"/>
                <a:cs typeface="Roboto Medium"/>
              </a:rPr>
              <a:t>i</a:t>
            </a:r>
            <a:r>
              <a:rPr sz="2050" b="0" i="1">
                <a:solidFill>
                  <a:srgbClr val="003366"/>
                </a:solidFill>
                <a:latin typeface="Roboto Medium"/>
                <a:ea typeface="Roboto Medium"/>
                <a:cs typeface="Roboto Medium"/>
              </a:rPr>
              <a:t>, q, c</a:t>
            </a:r>
            <a:r>
              <a:rPr sz="2050" b="0" baseline="-25000">
                <a:solidFill>
                  <a:srgbClr val="003366"/>
                </a:solidFill>
                <a:latin typeface="Roboto Medium"/>
                <a:ea typeface="Roboto Medium"/>
                <a:cs typeface="Roboto Medium"/>
              </a:rPr>
              <a:t>i</a:t>
            </a:r>
            <a:r>
              <a:rPr sz="2050" b="0" i="1">
                <a:solidFill>
                  <a:srgbClr val="003366"/>
                </a:solidFill>
                <a:latin typeface="Roboto Medium"/>
                <a:ea typeface="Roboto Medium"/>
                <a:cs typeface="Roboto Medium"/>
              </a:rPr>
              <a:t>)</a:t>
            </a:r>
          </a:p>
          <a:p>
            <a:pPr marL="122450" indent="-122450">
              <a:spcBef>
                <a:spcPts val="500"/>
              </a:spcBef>
              <a:spcAft>
                <a:spcPts val="0"/>
              </a:spcAft>
              <a:buClr>
                <a:srgbClr val="C00000"/>
              </a:buClr>
              <a:buFont typeface="Arial"/>
              <a:buChar char="•"/>
            </a:pPr>
            <a:r>
              <a:rPr sz="1550" b="1">
                <a:solidFill>
                  <a:srgbClr val="003366"/>
                </a:solidFill>
                <a:latin typeface="Roboto Black"/>
                <a:ea typeface="Roboto Black"/>
                <a:cs typeface="Roboto Black"/>
              </a:rPr>
              <a:t>Role consistency:</a:t>
            </a:r>
            <a:r>
              <a:rPr sz="1550" b="0">
                <a:solidFill>
                  <a:srgbClr val="222222"/>
                </a:solidFill>
                <a:latin typeface="Roboto Medium"/>
                <a:ea typeface="Roboto Medium"/>
                <a:cs typeface="Roboto Medium"/>
              </a:rPr>
              <a:t xml:space="preserve"> khớp năng lực của agent nguồn.</a:t>
            </a:r>
          </a:p>
          <a:p>
            <a:pPr marL="122450" indent="-122450">
              <a:spcBef>
                <a:spcPts val="200"/>
              </a:spcBef>
              <a:spcAft>
                <a:spcPts val="0"/>
              </a:spcAft>
              <a:buClr>
                <a:srgbClr val="C00000"/>
              </a:buClr>
              <a:buFont typeface="Arial"/>
              <a:buChar char="•"/>
            </a:pPr>
            <a:r>
              <a:rPr sz="1550" b="1">
                <a:solidFill>
                  <a:srgbClr val="003366"/>
                </a:solidFill>
                <a:latin typeface="Roboto Black"/>
                <a:ea typeface="Roboto Black"/>
                <a:cs typeface="Roboto Black"/>
              </a:rPr>
              <a:t>Task relevance:</a:t>
            </a:r>
            <a:r>
              <a:rPr sz="1550" b="0">
                <a:solidFill>
                  <a:srgbClr val="222222"/>
                </a:solidFill>
                <a:latin typeface="Roboto Medium"/>
                <a:ea typeface="Roboto Medium"/>
                <a:cs typeface="Roboto Medium"/>
              </a:rPr>
              <a:t xml:space="preserve"> có ích cho agent đích.</a:t>
            </a:r>
          </a:p>
          <a:p>
            <a:pPr marL="122450" indent="-122450">
              <a:spcBef>
                <a:spcPts val="200"/>
              </a:spcBef>
              <a:spcAft>
                <a:spcPts val="0"/>
              </a:spcAft>
              <a:buClr>
                <a:srgbClr val="C00000"/>
              </a:buClr>
              <a:buFont typeface="Arial"/>
              <a:buChar char="•"/>
            </a:pPr>
            <a:r>
              <a:rPr sz="1550" b="1">
                <a:solidFill>
                  <a:srgbClr val="003366"/>
                </a:solidFill>
                <a:latin typeface="Roboto Black"/>
                <a:ea typeface="Roboto Black"/>
                <a:cs typeface="Roboto Black"/>
              </a:rPr>
              <a:t>Dependency plausibility:</a:t>
            </a:r>
            <a:r>
              <a:rPr sz="1550" b="0">
                <a:solidFill>
                  <a:srgbClr val="222222"/>
                </a:solidFill>
                <a:latin typeface="Roboto Medium"/>
                <a:ea typeface="Roboto Medium"/>
                <a:cs typeface="Roboto Medium"/>
              </a:rPr>
              <a:t xml:space="preserve"> nhất quán với r</a:t>
            </a:r>
            <a:r>
              <a:rPr sz="1550" b="0" baseline="-25000">
                <a:solidFill>
                  <a:srgbClr val="003366"/>
                </a:solidFill>
                <a:latin typeface="Roboto Medium"/>
                <a:ea typeface="Roboto Medium"/>
                <a:cs typeface="Roboto Medium"/>
              </a:rPr>
              <a:t>j</a:t>
            </a:r>
            <a:r>
              <a:rPr sz="1550" b="0">
                <a:solidFill>
                  <a:srgbClr val="222222"/>
                </a:solidFill>
                <a:latin typeface="Roboto Medium"/>
                <a:ea typeface="Roboto Medium"/>
                <a:cs typeface="Roboto Medium"/>
              </a:rPr>
              <a:t>, không thêm thông tin hay dấu vết topology vô căn cứ.</a:t>
            </a:r>
          </a:p>
        </p:txBody>
      </p:sp>
      <p:sp>
        <p:nvSpPr>
          <p:cNvPr id="24" name="Card 24"/>
          <p:cNvSpPr/>
          <p:nvPr/>
        </p:nvSpPr>
        <p:spPr>
          <a:xfrm>
            <a:off x="6231636" y="914400"/>
            <a:ext cx="5545836" cy="324612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5" name="Card bar 25"/>
          <p:cNvSpPr/>
          <p:nvPr/>
        </p:nvSpPr>
        <p:spPr>
          <a:xfrm>
            <a:off x="6231636" y="914400"/>
            <a:ext cx="5545836" cy="54864"/>
          </a:xfrm>
          <a:prstGeom prst="rect">
            <a:avLst/>
          </a:prstGeom>
          <a:solidFill>
            <a:srgbClr val="003366"/>
          </a:solidFill>
          <a:ln>
            <a:noFill/>
          </a:ln>
          <a:effectLst/>
        </p:spPr>
        <p:txBody>
          <a:bodyPr wrap="square" rtlCol="0" anchor="ctr" lIns="73152" rIns="73152" tIns="36576" bIns="36576"/>
          <a:lstStyle/>
          <a:p/>
        </p:txBody>
      </p:sp>
      <p:sp>
        <p:nvSpPr>
          <p:cNvPr id="26" name="TextBox 26"/>
          <p:cNvSpPr txBox="1"/>
          <p:nvPr/>
        </p:nvSpPr>
        <p:spPr>
          <a:xfrm>
            <a:off x="6368796" y="1005840"/>
            <a:ext cx="5271516" cy="3108960"/>
          </a:xfrm>
          <a:prstGeom prst="rect">
            <a:avLst/>
          </a:prstGeom>
          <a:noFill/>
        </p:spPr>
        <p:txBody>
          <a:bodyPr wrap="square" anchor="t" lIns="45720" rIns="45720" tIns="18288" bIns="18288"/>
          <a:lstStyle/>
          <a:p>
            <a:pPr>
              <a:spcBef>
                <a:spcPts val="0"/>
              </a:spcBef>
              <a:spcAft>
                <a:spcPts val="0"/>
              </a:spcAft>
              <a:buNone/>
            </a:pPr>
            <a:r>
              <a:rPr sz="1900" b="1">
                <a:solidFill>
                  <a:srgbClr val="003366"/>
                </a:solidFill>
                <a:latin typeface="Roboto Black"/>
                <a:ea typeface="Roboto Black"/>
                <a:cs typeface="Roboto Black"/>
              </a:rPr>
              <a:t>Genuine Edge Obfuscation (GEO)</a:t>
            </a:r>
          </a:p>
          <a:p>
            <a:pPr>
              <a:spcBef>
                <a:spcPts val="300"/>
              </a:spcBef>
              <a:spcAft>
                <a:spcPts val="0"/>
              </a:spcAft>
              <a:buNone/>
            </a:pPr>
            <a:r>
              <a:rPr sz="1600" b="0">
                <a:solidFill>
                  <a:srgbClr val="222222"/>
                </a:solidFill>
                <a:latin typeface="Roboto Medium"/>
                <a:ea typeface="Roboto Medium"/>
                <a:cs typeface="Roboto Medium"/>
              </a:rPr>
              <a:t>Giấu phụ thuộc của a</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xml:space="preserve"> vào các tiền nhiệm ẩn P</a:t>
            </a:r>
            <a:r>
              <a:rPr sz="1600" b="0" baseline="-25000">
                <a:solidFill>
                  <a:srgbClr val="003366"/>
                </a:solidFill>
                <a:latin typeface="Roboto Medium"/>
                <a:ea typeface="Roboto Medium"/>
                <a:cs typeface="Roboto Medium"/>
              </a:rPr>
              <a:t>i</a:t>
            </a:r>
            <a:r>
              <a:rPr sz="1600" b="0" baseline="30000">
                <a:solidFill>
                  <a:srgbClr val="003366"/>
                </a:solidFill>
                <a:latin typeface="Roboto Medium"/>
                <a:ea typeface="Roboto Medium"/>
                <a:cs typeface="Roboto Medium"/>
              </a:rPr>
              <a:t>h</a:t>
            </a:r>
            <a:r>
              <a:rPr sz="1600" b="0">
                <a:solidFill>
                  <a:srgbClr val="222222"/>
                </a:solidFill>
                <a:latin typeface="Roboto Medium"/>
                <a:ea typeface="Roboto Medium"/>
                <a:cs typeface="Roboto Medium"/>
              </a:rPr>
              <a:t xml:space="preserve"> = {a</a:t>
            </a:r>
            <a:r>
              <a:rPr sz="1600" b="0" baseline="-25000">
                <a:solidFill>
                  <a:srgbClr val="003366"/>
                </a:solidFill>
                <a:latin typeface="Roboto Medium"/>
                <a:ea typeface="Roboto Medium"/>
                <a:cs typeface="Roboto Medium"/>
              </a:rPr>
              <a:t>j</a:t>
            </a:r>
            <a:r>
              <a:rPr sz="1600" b="0">
                <a:solidFill>
                  <a:srgbClr val="222222"/>
                </a:solidFill>
                <a:latin typeface="Roboto Medium"/>
                <a:ea typeface="Roboto Medium"/>
                <a:cs typeface="Roboto Medium"/>
              </a:rPr>
              <a:t xml:space="preserve"> | (a</a:t>
            </a:r>
            <a:r>
              <a:rPr sz="1600" b="0" baseline="-25000">
                <a:solidFill>
                  <a:srgbClr val="003366"/>
                </a:solidFill>
                <a:latin typeface="Roboto Medium"/>
                <a:ea typeface="Roboto Medium"/>
                <a:cs typeface="Roboto Medium"/>
              </a:rPr>
              <a:t>j</a:t>
            </a:r>
            <a:r>
              <a:rPr sz="1600" b="0">
                <a:solidFill>
                  <a:srgbClr val="222222"/>
                </a:solidFill>
                <a:latin typeface="Roboto Medium"/>
                <a:ea typeface="Roboto Medium"/>
                <a:cs typeface="Roboto Medium"/>
              </a:rPr>
              <a:t>, a</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 E</a:t>
            </a:r>
            <a:r>
              <a:rPr sz="1600" b="0" baseline="-25000">
                <a:solidFill>
                  <a:srgbClr val="003366"/>
                </a:solidFill>
                <a:latin typeface="Roboto Medium"/>
                <a:ea typeface="Roboto Medium"/>
                <a:cs typeface="Roboto Medium"/>
              </a:rPr>
              <a:t>h</a:t>
            </a:r>
            <a:r>
              <a:rPr sz="1600" b="0">
                <a:solidFill>
                  <a:srgbClr val="222222"/>
                </a:solidFill>
                <a:latin typeface="Roboto Medium"/>
                <a:ea typeface="Roboto Medium"/>
                <a:cs typeface="Roboto Medium"/>
              </a:rPr>
              <a:t>}: paraphrase có kiểm soát r</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xml:space="preserve"> thành M ứng viên R</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rồi chọn</a:t>
            </a:r>
          </a:p>
          <a:p>
            <a:pPr algn="ctr">
              <a:spcBef>
                <a:spcPts val="400"/>
              </a:spcBef>
              <a:spcAft>
                <a:spcPts val="0"/>
              </a:spcAft>
              <a:buNone/>
            </a:pPr>
            <a:r>
              <a:rPr sz="1900" b="0" i="1">
                <a:solidFill>
                  <a:srgbClr val="003366"/>
                </a:solidFill>
                <a:latin typeface="Roboto Medium"/>
                <a:ea typeface="Roboto Medium"/>
                <a:cs typeface="Roboto Medium"/>
              </a:rPr>
              <a:t>r̃</a:t>
            </a:r>
            <a:r>
              <a:rPr sz="1900" b="0" baseline="-25000">
                <a:solidFill>
                  <a:srgbClr val="003366"/>
                </a:solidFill>
                <a:latin typeface="Roboto Medium"/>
                <a:ea typeface="Roboto Medium"/>
                <a:cs typeface="Roboto Medium"/>
              </a:rPr>
              <a:t>i</a:t>
            </a:r>
            <a:r>
              <a:rPr sz="1900" b="0" i="1">
                <a:solidFill>
                  <a:srgbClr val="003366"/>
                </a:solidFill>
                <a:latin typeface="Roboto Medium"/>
                <a:ea typeface="Roboto Medium"/>
                <a:cs typeface="Roboto Medium"/>
              </a:rPr>
              <a:t xml:space="preserve"> = argmin</a:t>
            </a:r>
            <a:r>
              <a:rPr sz="1900" b="0" baseline="-25000">
                <a:solidFill>
                  <a:srgbClr val="003366"/>
                </a:solidFill>
                <a:latin typeface="Roboto Medium"/>
                <a:ea typeface="Roboto Medium"/>
                <a:cs typeface="Roboto Medium"/>
              </a:rPr>
              <a:t>r̂∈R_i</a:t>
            </a:r>
            <a:r>
              <a:rPr sz="1900" b="0" i="1">
                <a:solidFill>
                  <a:srgbClr val="003366"/>
                </a:solidFill>
                <a:latin typeface="Roboto Medium"/>
                <a:ea typeface="Roboto Medium"/>
                <a:cs typeface="Roboto Medium"/>
              </a:rPr>
              <a:t xml:space="preserve"> [ D</a:t>
            </a:r>
            <a:r>
              <a:rPr sz="1900" b="0" baseline="-25000">
                <a:solidFill>
                  <a:srgbClr val="003366"/>
                </a:solidFill>
                <a:latin typeface="Roboto Medium"/>
                <a:ea typeface="Roboto Medium"/>
                <a:cs typeface="Roboto Medium"/>
              </a:rPr>
              <a:t>sem</a:t>
            </a:r>
            <a:r>
              <a:rPr sz="1900" b="0" i="1">
                <a:solidFill>
                  <a:srgbClr val="003366"/>
                </a:solidFill>
                <a:latin typeface="Roboto Medium"/>
                <a:ea typeface="Roboto Medium"/>
                <a:cs typeface="Roboto Medium"/>
              </a:rPr>
              <a:t>(r̂, r</a:t>
            </a:r>
            <a:r>
              <a:rPr sz="1900" b="0" baseline="-25000">
                <a:solidFill>
                  <a:srgbClr val="003366"/>
                </a:solidFill>
                <a:latin typeface="Roboto Medium"/>
                <a:ea typeface="Roboto Medium"/>
                <a:cs typeface="Roboto Medium"/>
              </a:rPr>
              <a:t>i</a:t>
            </a:r>
            <a:r>
              <a:rPr sz="1900" b="0" i="1">
                <a:solidFill>
                  <a:srgbClr val="003366"/>
                </a:solidFill>
                <a:latin typeface="Roboto Medium"/>
                <a:ea typeface="Roboto Medium"/>
                <a:cs typeface="Roboto Medium"/>
              </a:rPr>
              <a:t>) + λ Σ S</a:t>
            </a:r>
            <a:r>
              <a:rPr sz="1900" b="0" baseline="-25000">
                <a:solidFill>
                  <a:srgbClr val="003366"/>
                </a:solidFill>
                <a:latin typeface="Roboto Medium"/>
                <a:ea typeface="Roboto Medium"/>
                <a:cs typeface="Roboto Medium"/>
              </a:rPr>
              <a:t>dep</a:t>
            </a:r>
            <a:r>
              <a:rPr sz="1900" b="0" i="1">
                <a:solidFill>
                  <a:srgbClr val="003366"/>
                </a:solidFill>
                <a:latin typeface="Roboto Medium"/>
                <a:ea typeface="Roboto Medium"/>
                <a:cs typeface="Roboto Medium"/>
              </a:rPr>
              <a:t>(r</a:t>
            </a:r>
            <a:r>
              <a:rPr sz="1900" b="0" baseline="-25000">
                <a:solidFill>
                  <a:srgbClr val="003366"/>
                </a:solidFill>
                <a:latin typeface="Roboto Medium"/>
                <a:ea typeface="Roboto Medium"/>
                <a:cs typeface="Roboto Medium"/>
              </a:rPr>
              <a:t>j</a:t>
            </a:r>
            <a:r>
              <a:rPr sz="1900" b="0" i="1">
                <a:solidFill>
                  <a:srgbClr val="003366"/>
                </a:solidFill>
                <a:latin typeface="Roboto Medium"/>
                <a:ea typeface="Roboto Medium"/>
                <a:cs typeface="Roboto Medium"/>
              </a:rPr>
              <a:t>, r̂) ]</a:t>
            </a:r>
          </a:p>
          <a:p>
            <a:pPr marL="122450" indent="-122450">
              <a:spcBef>
                <a:spcPts val="500"/>
              </a:spcBef>
              <a:spcAft>
                <a:spcPts val="0"/>
              </a:spcAft>
              <a:buClr>
                <a:srgbClr val="C00000"/>
              </a:buClr>
              <a:buFont typeface="Arial"/>
              <a:buChar char="•"/>
            </a:pPr>
            <a:r>
              <a:rPr sz="1550" b="0">
                <a:solidFill>
                  <a:srgbClr val="222222"/>
                </a:solidFill>
                <a:latin typeface="Roboto Medium"/>
                <a:ea typeface="Roboto Medium"/>
                <a:cs typeface="Roboto Medium"/>
              </a:rPr>
              <a:t>D</a:t>
            </a:r>
            <a:r>
              <a:rPr sz="1550" b="0" baseline="-25000">
                <a:solidFill>
                  <a:srgbClr val="003366"/>
                </a:solidFill>
                <a:latin typeface="Roboto Medium"/>
                <a:ea typeface="Roboto Medium"/>
                <a:cs typeface="Roboto Medium"/>
              </a:rPr>
              <a:t>sem</a:t>
            </a:r>
            <a:r>
              <a:rPr sz="1550" b="0">
                <a:solidFill>
                  <a:srgbClr val="222222"/>
                </a:solidFill>
                <a:latin typeface="Roboto Medium"/>
                <a:ea typeface="Roboto Medium"/>
                <a:cs typeface="Roboto Medium"/>
              </a:rPr>
              <a:t>: độ méo ngữ nghĩa so với output gốc.</a:t>
            </a:r>
          </a:p>
          <a:p>
            <a:pPr marL="122450" indent="-122450">
              <a:spcBef>
                <a:spcPts val="200"/>
              </a:spcBef>
              <a:spcAft>
                <a:spcPts val="0"/>
              </a:spcAft>
              <a:buClr>
                <a:srgbClr val="C00000"/>
              </a:buClr>
              <a:buFont typeface="Arial"/>
              <a:buChar char="•"/>
            </a:pPr>
            <a:r>
              <a:rPr sz="1550" b="0">
                <a:solidFill>
                  <a:srgbClr val="222222"/>
                </a:solidFill>
                <a:latin typeface="Roboto Medium"/>
                <a:ea typeface="Roboto Medium"/>
                <a:cs typeface="Roboto Medium"/>
              </a:rPr>
              <a:t>S</a:t>
            </a:r>
            <a:r>
              <a:rPr sz="1550" b="0" baseline="-25000">
                <a:solidFill>
                  <a:srgbClr val="003366"/>
                </a:solidFill>
                <a:latin typeface="Roboto Medium"/>
                <a:ea typeface="Roboto Medium"/>
                <a:cs typeface="Roboto Medium"/>
              </a:rPr>
              <a:t>dep</a:t>
            </a:r>
            <a:r>
              <a:rPr sz="1550" b="0">
                <a:solidFill>
                  <a:srgbClr val="222222"/>
                </a:solidFill>
                <a:latin typeface="Roboto Medium"/>
                <a:ea typeface="Roboto Medium"/>
                <a:cs typeface="Roboto Medium"/>
              </a:rPr>
              <a:t>: độ phụ thuộc vào tiền nhiệm ẩn; λ cân bằng giữ nghĩa và giấu phụ thuộc.</a:t>
            </a:r>
          </a:p>
        </p:txBody>
      </p:sp>
      <p:sp>
        <p:nvSpPr>
          <p:cNvPr id="27" name="Shape 27"/>
          <p:cNvSpPr/>
          <p:nvPr/>
        </p:nvSpPr>
        <p:spPr>
          <a:xfrm>
            <a:off x="411480" y="4389120"/>
            <a:ext cx="11365992" cy="457200"/>
          </a:xfrm>
          <a:prstGeom prst="rect">
            <a:avLst/>
          </a:prstGeom>
          <a:solidFill>
            <a:srgbClr val="003366"/>
          </a:solidFill>
          <a:ln>
            <a:noFill/>
          </a:ln>
          <a:effectLst/>
        </p:spPr>
        <p:txBody>
          <a:bodyPr wrap="square" rtlCol="0" anchor="ctr" lIns="137160" rIns="137160" tIns="68580" bIns="68580"/>
          <a:lstStyle/>
          <a:p>
            <a:pPr>
              <a:spcBef>
                <a:spcPts val="0"/>
              </a:spcBef>
              <a:spcAft>
                <a:spcPts val="0"/>
              </a:spcAft>
              <a:buNone/>
            </a:pPr>
            <a:r>
              <a:rPr sz="1800" b="1">
                <a:solidFill>
                  <a:srgbClr val="FFFFFF"/>
                </a:solidFill>
                <a:latin typeface="Roboto Black"/>
                <a:ea typeface="Roboto Black"/>
                <a:cs typeface="Roboto Black"/>
              </a:rPr>
              <a:t>Bước 3 – Dual-view execution</a:t>
            </a:r>
          </a:p>
        </p:txBody>
      </p:sp>
      <p:sp>
        <p:nvSpPr>
          <p:cNvPr id="28" name="TextBox 28"/>
          <p:cNvSpPr txBox="1"/>
          <p:nvPr/>
        </p:nvSpPr>
        <p:spPr>
          <a:xfrm>
            <a:off x="411480" y="4919472"/>
            <a:ext cx="5545836" cy="1005840"/>
          </a:xfrm>
          <a:prstGeom prst="rect">
            <a:avLst/>
          </a:prstGeom>
          <a:noFill/>
        </p:spPr>
        <p:txBody>
          <a:bodyPr wrap="square" anchor="t" lIns="45720" rIns="45720" tIns="18288" bIns="18288"/>
          <a:lstStyle/>
          <a:p>
            <a:pPr>
              <a:spcBef>
                <a:spcPts val="0"/>
              </a:spcBef>
              <a:spcAft>
                <a:spcPts val="0"/>
              </a:spcAft>
              <a:buNone/>
            </a:pPr>
            <a:r>
              <a:rPr sz="1600" b="1">
                <a:solidFill>
                  <a:srgbClr val="003366"/>
                </a:solidFill>
                <a:latin typeface="Roboto Black"/>
                <a:ea typeface="Roboto Black"/>
                <a:cs typeface="Roboto Black"/>
              </a:rPr>
              <a:t>Execution view:</a:t>
            </a:r>
            <a:r>
              <a:rPr sz="1600" b="0">
                <a:solidFill>
                  <a:srgbClr val="222222"/>
                </a:solidFill>
                <a:latin typeface="Roboto Medium"/>
                <a:ea typeface="Roboto Medium"/>
                <a:cs typeface="Roboto Medium"/>
              </a:rPr>
              <a:t xml:space="preserve"> O</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xml:space="preserve"> = {r</a:t>
            </a:r>
            <a:r>
              <a:rPr sz="1600" b="0" baseline="-25000">
                <a:solidFill>
                  <a:srgbClr val="003366"/>
                </a:solidFill>
                <a:latin typeface="Roboto Medium"/>
                <a:ea typeface="Roboto Medium"/>
                <a:cs typeface="Roboto Medium"/>
              </a:rPr>
              <a:t>j</a:t>
            </a:r>
            <a:r>
              <a:rPr sz="1600" b="0">
                <a:solidFill>
                  <a:srgbClr val="222222"/>
                </a:solidFill>
                <a:latin typeface="Roboto Medium"/>
                <a:ea typeface="Roboto Medium"/>
                <a:cs typeface="Roboto Medium"/>
              </a:rPr>
              <a:t xml:space="preserve"> | (a</a:t>
            </a:r>
            <a:r>
              <a:rPr sz="1600" b="0" baseline="-25000">
                <a:solidFill>
                  <a:srgbClr val="003366"/>
                </a:solidFill>
                <a:latin typeface="Roboto Medium"/>
                <a:ea typeface="Roboto Medium"/>
                <a:cs typeface="Roboto Medium"/>
              </a:rPr>
              <a:t>j</a:t>
            </a:r>
            <a:r>
              <a:rPr sz="1600" b="0">
                <a:solidFill>
                  <a:srgbClr val="222222"/>
                </a:solidFill>
                <a:latin typeface="Roboto Medium"/>
                <a:ea typeface="Roboto Medium"/>
                <a:cs typeface="Roboto Medium"/>
              </a:rPr>
              <a:t>, a</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 E}, r</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xml:space="preserve"> = LLM(p</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q, O</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Đồ thị ảo G′ không tham gia giao tiếp nội bộ.</a:t>
            </a:r>
          </a:p>
        </p:txBody>
      </p:sp>
      <p:sp>
        <p:nvSpPr>
          <p:cNvPr id="29" name="TextBox 29"/>
          <p:cNvSpPr txBox="1"/>
          <p:nvPr/>
        </p:nvSpPr>
        <p:spPr>
          <a:xfrm>
            <a:off x="6231636" y="4919472"/>
            <a:ext cx="5545836" cy="1005840"/>
          </a:xfrm>
          <a:prstGeom prst="rect">
            <a:avLst/>
          </a:prstGeom>
          <a:noFill/>
        </p:spPr>
        <p:txBody>
          <a:bodyPr wrap="square" anchor="t" lIns="45720" rIns="45720" tIns="18288" bIns="18288"/>
          <a:lstStyle/>
          <a:p>
            <a:pPr>
              <a:spcBef>
                <a:spcPts val="0"/>
              </a:spcBef>
              <a:spcAft>
                <a:spcPts val="0"/>
              </a:spcAft>
              <a:buNone/>
            </a:pPr>
            <a:r>
              <a:rPr sz="1600" b="1">
                <a:solidFill>
                  <a:srgbClr val="C00000"/>
                </a:solidFill>
                <a:latin typeface="Roboto Black"/>
                <a:ea typeface="Roboto Black"/>
                <a:cs typeface="Roboto Black"/>
              </a:rPr>
              <a:t>Exposure view:</a:t>
            </a:r>
            <a:r>
              <a:rPr sz="1600" b="0">
                <a:solidFill>
                  <a:srgbClr val="222222"/>
                </a:solidFill>
                <a:latin typeface="Roboto Medium"/>
                <a:ea typeface="Roboto Medium"/>
                <a:cs typeface="Roboto Medium"/>
              </a:rPr>
              <a:t xml:space="preserve"> ghép r̃</a:t>
            </a:r>
            <a:r>
              <a:rPr sz="1600" b="0" baseline="-25000">
                <a:solidFill>
                  <a:srgbClr val="003366"/>
                </a:solidFill>
                <a:latin typeface="Roboto Medium"/>
                <a:ea typeface="Roboto Medium"/>
                <a:cs typeface="Roboto Medium"/>
              </a:rPr>
              <a:t>i</a:t>
            </a:r>
            <a:r>
              <a:rPr sz="1600" b="0">
                <a:solidFill>
                  <a:srgbClr val="222222"/>
                </a:solidFill>
                <a:latin typeface="Roboto Medium"/>
                <a:ea typeface="Roboto Medium"/>
                <a:cs typeface="Roboto Medium"/>
              </a:rPr>
              <a:t xml:space="preserve"> với bằng chứng s</a:t>
            </a:r>
            <a:r>
              <a:rPr sz="1600" b="0" baseline="30000">
                <a:solidFill>
                  <a:srgbClr val="003366"/>
                </a:solidFill>
                <a:latin typeface="Roboto Medium"/>
                <a:ea typeface="Roboto Medium"/>
                <a:cs typeface="Roboto Medium"/>
              </a:rPr>
              <a:t>ph</a:t>
            </a:r>
            <a:r>
              <a:rPr sz="1600" b="0">
                <a:solidFill>
                  <a:srgbClr val="222222"/>
                </a:solidFill>
                <a:latin typeface="Roboto Medium"/>
                <a:ea typeface="Roboto Medium"/>
                <a:cs typeface="Roboto Medium"/>
              </a:rPr>
              <a:t xml:space="preserve"> thành r</a:t>
            </a:r>
            <a:r>
              <a:rPr sz="1600" b="0" baseline="-25000">
                <a:solidFill>
                  <a:srgbClr val="003366"/>
                </a:solidFill>
                <a:latin typeface="Roboto Medium"/>
                <a:ea typeface="Roboto Medium"/>
                <a:cs typeface="Roboto Medium"/>
              </a:rPr>
              <a:t>i</a:t>
            </a:r>
            <a:r>
              <a:rPr sz="1600" b="0" baseline="30000">
                <a:solidFill>
                  <a:srgbClr val="003366"/>
                </a:solidFill>
                <a:latin typeface="Roboto Medium"/>
                <a:ea typeface="Roboto Medium"/>
                <a:cs typeface="Roboto Medium"/>
              </a:rPr>
              <a:t>exp</a:t>
            </a:r>
            <a:r>
              <a:rPr sz="1600" b="0">
                <a:solidFill>
                  <a:srgbClr val="222222"/>
                </a:solidFill>
                <a:latin typeface="Roboto Medium"/>
                <a:ea typeface="Roboto Medium"/>
                <a:cs typeface="Roboto Medium"/>
              </a:rPr>
              <a:t xml:space="preserve"> → phụ thuộc quan sát được dịch từ G sang 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Thực nghiệm và kết quả</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15</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TextBox 21"/>
          <p:cNvSpPr txBox="1"/>
          <p:nvPr/>
        </p:nvSpPr>
        <p:spPr>
          <a:xfrm>
            <a:off x="411480" y="868680"/>
            <a:ext cx="11365992" cy="685800"/>
          </a:xfrm>
          <a:prstGeom prst="rect">
            <a:avLst/>
          </a:prstGeom>
          <a:noFill/>
        </p:spPr>
        <p:txBody>
          <a:bodyPr wrap="square" anchor="t" lIns="45720" rIns="45720" tIns="18288" bIns="18288"/>
          <a:lstStyle/>
          <a:p>
            <a:pPr>
              <a:spcBef>
                <a:spcPts val="0"/>
              </a:spcBef>
              <a:spcAft>
                <a:spcPts val="0"/>
              </a:spcAft>
              <a:buNone/>
            </a:pPr>
            <a:r>
              <a:rPr sz="1400" b="1">
                <a:solidFill>
                  <a:srgbClr val="003366"/>
                </a:solidFill>
                <a:latin typeface="Roboto Black"/>
                <a:ea typeface="Roboto Black"/>
                <a:cs typeface="Roboto Black"/>
              </a:rPr>
              <a:t>Thiết lập:</a:t>
            </a:r>
            <a:r>
              <a:rPr sz="1400" b="0">
                <a:solidFill>
                  <a:srgbClr val="222222"/>
                </a:solidFill>
                <a:latin typeface="Roboto Medium"/>
                <a:ea typeface="Roboto Medium"/>
                <a:cs typeface="Roboto Medium"/>
              </a:rPr>
              <a:t xml:space="preserve"> MMLU, GSM8K, SVAMP, HumanEval (100 task/bộ) · 3 framework tối ưu topology: G-Designer, AGP, ARG-Designer · tấn công CIA · độ đo AUC / ACC / F1 trên các cạnh (AUC → 0.5, ACC / F1 thấp là tốt).</a:t>
            </a:r>
          </a:p>
        </p:txBody>
      </p:sp>
      <p:sp>
        <p:nvSpPr>
          <p:cNvPr id="22" name="TextBox 22"/>
          <p:cNvSpPr txBox="1"/>
          <p:nvPr/>
        </p:nvSpPr>
        <p:spPr>
          <a:xfrm>
            <a:off x="411480" y="1645920"/>
            <a:ext cx="6949440" cy="365760"/>
          </a:xfrm>
          <a:prstGeom prst="rect">
            <a:avLst/>
          </a:prstGeom>
          <a:noFill/>
        </p:spPr>
        <p:txBody>
          <a:bodyPr wrap="square" anchor="t" lIns="45720" rIns="45720" tIns="18288" bIns="18288"/>
          <a:lstStyle/>
          <a:p>
            <a:pPr>
              <a:spcBef>
                <a:spcPts val="0"/>
              </a:spcBef>
              <a:spcAft>
                <a:spcPts val="0"/>
              </a:spcAft>
              <a:buNone/>
            </a:pPr>
            <a:r>
              <a:rPr sz="1350" b="0">
                <a:solidFill>
                  <a:srgbClr val="666666"/>
                </a:solidFill>
                <a:latin typeface="Roboto Medium"/>
                <a:ea typeface="Roboto Medium"/>
                <a:cs typeface="Roboto Medium"/>
              </a:rPr>
              <a:t>AUC / ACC / F1 của tấn công trên G-Designer (thấp hơn là tốt)</a:t>
            </a:r>
          </a:p>
        </p:txBody>
      </p:sp>
      <p:graphicFrame>
        <p:nvGraphicFramePr>
          <p:cNvPr id="23" name="Table 23"/>
          <p:cNvGraphicFramePr>
            <a:graphicFrameLocks noGrp="1"/>
          </p:cNvGraphicFramePr>
          <p:nvPr/>
        </p:nvGraphicFramePr>
        <p:xfrm>
          <a:off x="411480" y="2011680"/>
          <a:ext cx="6949440" cy="2103120"/>
        </p:xfrm>
        <a:graphic>
          <a:graphicData uri="http://schemas.openxmlformats.org/drawingml/2006/table">
            <a:tbl>
              <a:tblPr firstRow="0" bandRow="0"/>
              <a:tblGrid>
                <a:gridCol w="1463040"/>
                <a:gridCol w="1828800"/>
                <a:gridCol w="1828800"/>
                <a:gridCol w="1828800"/>
              </a:tblGrid>
              <a:tr h="420624">
                <a:tc>
                  <a:txBody>
                    <a:bodyPr wrap="square"/>
                    <a:lstStyle/>
                    <a:p>
                      <a:pPr>
                        <a:spcBef>
                          <a:spcPts val="0"/>
                        </a:spcBef>
                        <a:spcAft>
                          <a:spcPts val="0"/>
                        </a:spcAft>
                        <a:buNone/>
                      </a:pPr>
                      <a:r>
                        <a:rPr sz="1350" b="1">
                          <a:solidFill>
                            <a:srgbClr val="FFFFFF"/>
                          </a:solidFill>
                          <a:latin typeface="Roboto Black"/>
                          <a:ea typeface="Roboto Black"/>
                          <a:cs typeface="Roboto Black"/>
                        </a:rPr>
                        <a:t>Dataset</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lgn="ctr">
                        <a:spcBef>
                          <a:spcPts val="0"/>
                        </a:spcBef>
                        <a:spcAft>
                          <a:spcPts val="0"/>
                        </a:spcAft>
                        <a:buNone/>
                      </a:pPr>
                      <a:r>
                        <a:rPr sz="1350" b="1">
                          <a:solidFill>
                            <a:srgbClr val="FFFFFF"/>
                          </a:solidFill>
                          <a:latin typeface="Roboto Black"/>
                          <a:ea typeface="Roboto Black"/>
                          <a:cs typeface="Roboto Black"/>
                        </a:rPr>
                        <a:t>Instruction</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lgn="ctr">
                        <a:spcBef>
                          <a:spcPts val="0"/>
                        </a:spcBef>
                        <a:spcAft>
                          <a:spcPts val="0"/>
                        </a:spcAft>
                        <a:buNone/>
                      </a:pPr>
                      <a:r>
                        <a:rPr sz="1350" b="1">
                          <a:solidFill>
                            <a:srgbClr val="FFFFFF"/>
                          </a:solidFill>
                          <a:latin typeface="Roboto Black"/>
                          <a:ea typeface="Roboto Black"/>
                          <a:cs typeface="Roboto Black"/>
                        </a:rPr>
                        <a:t>Delimiters</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lgn="ctr">
                        <a:spcBef>
                          <a:spcPts val="0"/>
                        </a:spcBef>
                        <a:spcAft>
                          <a:spcPts val="0"/>
                        </a:spcAft>
                        <a:buNone/>
                      </a:pPr>
                      <a:r>
                        <a:rPr sz="1350" b="1">
                          <a:solidFill>
                            <a:srgbClr val="FFFFFF"/>
                          </a:solidFill>
                          <a:latin typeface="Roboto Black"/>
                          <a:ea typeface="Roboto Black"/>
                          <a:cs typeface="Roboto Black"/>
                        </a:rPr>
                        <a:t>MIRAGE</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r>
              <a:tr h="420624">
                <a:tc>
                  <a:txBody>
                    <a:bodyPr wrap="square"/>
                    <a:lstStyle/>
                    <a:p>
                      <a:pPr>
                        <a:spcBef>
                          <a:spcPts val="0"/>
                        </a:spcBef>
                        <a:spcAft>
                          <a:spcPts val="0"/>
                        </a:spcAft>
                        <a:buNone/>
                      </a:pPr>
                      <a:r>
                        <a:rPr sz="1350" b="1">
                          <a:solidFill>
                            <a:srgbClr val="003366"/>
                          </a:solidFill>
                          <a:latin typeface="Roboto Black"/>
                          <a:ea typeface="Roboto Black"/>
                          <a:cs typeface="Roboto Black"/>
                        </a:rPr>
                        <a:t>MMLU</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0.79 / 0.59 / 0.62</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0.76 / 0.61 / 0.64</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1">
                          <a:solidFill>
                            <a:srgbClr val="003366"/>
                          </a:solidFill>
                          <a:latin typeface="Roboto Black"/>
                          <a:ea typeface="Roboto Black"/>
                          <a:cs typeface="Roboto Black"/>
                        </a:rPr>
                        <a:t>0.67 / 0.50 / 0.49</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EEF3FA"/>
                    </a:solidFill>
                  </a:tcPr>
                </a:tc>
              </a:tr>
              <a:tr h="420624">
                <a:tc>
                  <a:txBody>
                    <a:bodyPr wrap="square"/>
                    <a:lstStyle/>
                    <a:p>
                      <a:pPr>
                        <a:spcBef>
                          <a:spcPts val="0"/>
                        </a:spcBef>
                        <a:spcAft>
                          <a:spcPts val="0"/>
                        </a:spcAft>
                        <a:buNone/>
                      </a:pPr>
                      <a:r>
                        <a:rPr sz="1350" b="1">
                          <a:solidFill>
                            <a:srgbClr val="003366"/>
                          </a:solidFill>
                          <a:latin typeface="Roboto Black"/>
                          <a:ea typeface="Roboto Black"/>
                          <a:cs typeface="Roboto Black"/>
                        </a:rPr>
                        <a:t>GSM8K</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0.81 / 0.73 / 0.64</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0.80 / 0.76 / 0.67</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1">
                          <a:solidFill>
                            <a:srgbClr val="003366"/>
                          </a:solidFill>
                          <a:latin typeface="Roboto Black"/>
                          <a:ea typeface="Roboto Black"/>
                          <a:cs typeface="Roboto Black"/>
                        </a:rPr>
                        <a:t>0.64 / 0.51 / 0.42</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EEF3FA"/>
                    </a:solidFill>
                  </a:tcPr>
                </a:tc>
              </a:tr>
              <a:tr h="420624">
                <a:tc>
                  <a:txBody>
                    <a:bodyPr wrap="square"/>
                    <a:lstStyle/>
                    <a:p>
                      <a:pPr>
                        <a:spcBef>
                          <a:spcPts val="0"/>
                        </a:spcBef>
                        <a:spcAft>
                          <a:spcPts val="0"/>
                        </a:spcAft>
                        <a:buNone/>
                      </a:pPr>
                      <a:r>
                        <a:rPr sz="1350" b="1">
                          <a:solidFill>
                            <a:srgbClr val="003366"/>
                          </a:solidFill>
                          <a:latin typeface="Roboto Black"/>
                          <a:ea typeface="Roboto Black"/>
                          <a:cs typeface="Roboto Black"/>
                        </a:rPr>
                        <a:t>SVAMP</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0.72 / 0.74 / 0.69</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0.70 / 0.68 / 0.71</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1">
                          <a:solidFill>
                            <a:srgbClr val="003366"/>
                          </a:solidFill>
                          <a:latin typeface="Roboto Black"/>
                          <a:ea typeface="Roboto Black"/>
                          <a:cs typeface="Roboto Black"/>
                        </a:rPr>
                        <a:t>0.64 / 0.48 / 0.39</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EEF3FA"/>
                    </a:solidFill>
                  </a:tcPr>
                </a:tc>
              </a:tr>
              <a:tr h="420624">
                <a:tc>
                  <a:txBody>
                    <a:bodyPr wrap="square"/>
                    <a:lstStyle/>
                    <a:p>
                      <a:pPr>
                        <a:spcBef>
                          <a:spcPts val="0"/>
                        </a:spcBef>
                        <a:spcAft>
                          <a:spcPts val="0"/>
                        </a:spcAft>
                        <a:buNone/>
                      </a:pPr>
                      <a:r>
                        <a:rPr sz="1350" b="1">
                          <a:solidFill>
                            <a:srgbClr val="003366"/>
                          </a:solidFill>
                          <a:latin typeface="Roboto Black"/>
                          <a:ea typeface="Roboto Black"/>
                          <a:cs typeface="Roboto Black"/>
                        </a:rPr>
                        <a:t>HumanEval</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0.78 / 0.62 / 0.59</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0">
                          <a:solidFill>
                            <a:srgbClr val="222222"/>
                          </a:solidFill>
                          <a:latin typeface="Roboto Medium"/>
                          <a:ea typeface="Roboto Medium"/>
                          <a:cs typeface="Roboto Medium"/>
                        </a:rPr>
                        <a:t>0.76 / 0.65 / 0.56</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350" b="1">
                          <a:solidFill>
                            <a:srgbClr val="003366"/>
                          </a:solidFill>
                          <a:latin typeface="Roboto Black"/>
                          <a:ea typeface="Roboto Black"/>
                          <a:cs typeface="Roboto Black"/>
                        </a:rPr>
                        <a:t>0.68 / 0.44 / 0.52</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EEF3FA"/>
                    </a:solidFill>
                  </a:tcPr>
                </a:tc>
              </a:tr>
            </a:tbl>
          </a:graphicData>
        </a:graphic>
      </p:graphicFrame>
      <p:sp>
        <p:nvSpPr>
          <p:cNvPr id="24" name="TextBox 24"/>
          <p:cNvSpPr txBox="1"/>
          <p:nvPr/>
        </p:nvSpPr>
        <p:spPr>
          <a:xfrm>
            <a:off x="411480" y="4251960"/>
            <a:ext cx="6949440" cy="1645920"/>
          </a:xfrm>
          <a:prstGeom prst="rect">
            <a:avLst/>
          </a:prstGeom>
          <a:noFill/>
        </p:spPr>
        <p:txBody>
          <a:bodyPr wrap="square" anchor="t" lIns="45720" rIns="45720" tIns="18288" bIns="18288"/>
          <a:lstStyle/>
          <a:p>
            <a:pPr marL="110600" indent="-110600">
              <a:spcBef>
                <a:spcPts val="0"/>
              </a:spcBef>
              <a:spcAft>
                <a:spcPts val="0"/>
              </a:spcAft>
              <a:buClr>
                <a:srgbClr val="C00000"/>
              </a:buClr>
              <a:buFont typeface="Arial"/>
              <a:buChar char="•"/>
            </a:pPr>
            <a:r>
              <a:rPr sz="1400" b="0">
                <a:solidFill>
                  <a:srgbClr val="222222"/>
                </a:solidFill>
                <a:latin typeface="Roboto Medium"/>
                <a:ea typeface="Roboto Medium"/>
                <a:cs typeface="Roboto Medium"/>
              </a:rPr>
              <a:t>Instruction, Delimiters (phòng thủ prompt injection phổ biến): AUC tấn công vẫn 0.70–0.81.</a:t>
            </a:r>
          </a:p>
          <a:p>
            <a:pPr marL="110600" indent="-110600">
              <a:spcBef>
                <a:spcPts val="400"/>
              </a:spcBef>
              <a:spcAft>
                <a:spcPts val="0"/>
              </a:spcAft>
              <a:buClr>
                <a:srgbClr val="C00000"/>
              </a:buClr>
              <a:buFont typeface="Arial"/>
              <a:buChar char="•"/>
            </a:pPr>
            <a:r>
              <a:rPr sz="1400" b="0">
                <a:solidFill>
                  <a:srgbClr val="222222"/>
                </a:solidFill>
                <a:latin typeface="Roboto Medium"/>
                <a:ea typeface="Roboto Medium"/>
                <a:cs typeface="Roboto Medium"/>
              </a:rPr>
              <a:t xml:space="preserve">MIRAGE giảm AUC / ACC / F1 trên </a:t>
            </a:r>
            <a:r>
              <a:rPr sz="1400" b="1">
                <a:solidFill>
                  <a:srgbClr val="003366"/>
                </a:solidFill>
                <a:latin typeface="Roboto Black"/>
                <a:ea typeface="Roboto Black"/>
                <a:cs typeface="Roboto Black"/>
              </a:rPr>
              <a:t>cả 3 framework × 4 dataset</a:t>
            </a:r>
            <a:r>
              <a:rPr sz="1400" b="0">
                <a:solidFill>
                  <a:srgbClr val="222222"/>
                </a:solidFill>
                <a:latin typeface="Roboto Medium"/>
                <a:ea typeface="Roboto Medium"/>
                <a:cs typeface="Roboto Medium"/>
              </a:rPr>
              <a:t>, dù số agent và cạnh khác nhau (3–7 agent, 3–12 cạnh trung bình).</a:t>
            </a:r>
          </a:p>
        </p:txBody>
      </p:sp>
      <p:sp>
        <p:nvSpPr>
          <p:cNvPr id="25" name="Card 25"/>
          <p:cNvSpPr/>
          <p:nvPr/>
        </p:nvSpPr>
        <p:spPr>
          <a:xfrm>
            <a:off x="7680960" y="1691640"/>
            <a:ext cx="4096512" cy="132588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6" name="Card bar 26"/>
          <p:cNvSpPr/>
          <p:nvPr/>
        </p:nvSpPr>
        <p:spPr>
          <a:xfrm>
            <a:off x="7680960" y="1691640"/>
            <a:ext cx="4096512" cy="54864"/>
          </a:xfrm>
          <a:prstGeom prst="rect">
            <a:avLst/>
          </a:prstGeom>
          <a:solidFill>
            <a:srgbClr val="003366"/>
          </a:solidFill>
          <a:ln>
            <a:noFill/>
          </a:ln>
          <a:effectLst/>
        </p:spPr>
        <p:txBody>
          <a:bodyPr wrap="square" rtlCol="0" anchor="ctr" lIns="73152" rIns="73152" tIns="36576" bIns="36576"/>
          <a:lstStyle/>
          <a:p/>
        </p:txBody>
      </p:sp>
      <p:sp>
        <p:nvSpPr>
          <p:cNvPr id="27" name="TextBox 27"/>
          <p:cNvSpPr txBox="1"/>
          <p:nvPr/>
        </p:nvSpPr>
        <p:spPr>
          <a:xfrm>
            <a:off x="7772400" y="1783080"/>
            <a:ext cx="1920240" cy="1143000"/>
          </a:xfrm>
          <a:prstGeom prst="rect">
            <a:avLst/>
          </a:prstGeom>
          <a:noFill/>
        </p:spPr>
        <p:txBody>
          <a:bodyPr wrap="square" anchor="ctr" lIns="45720" rIns="45720" tIns="18288" bIns="18288"/>
          <a:lstStyle/>
          <a:p>
            <a:pPr>
              <a:spcBef>
                <a:spcPts val="0"/>
              </a:spcBef>
              <a:spcAft>
                <a:spcPts val="0"/>
              </a:spcAft>
              <a:buNone/>
            </a:pPr>
            <a:r>
              <a:rPr sz="2300" b="1">
                <a:solidFill>
                  <a:srgbClr val="003366"/>
                </a:solidFill>
                <a:latin typeface="Roboto Black"/>
                <a:ea typeface="Roboto Black"/>
                <a:cs typeface="Roboto Black"/>
              </a:rPr>
              <a:t>0.64–0.68</a:t>
            </a:r>
          </a:p>
        </p:txBody>
      </p:sp>
      <p:sp>
        <p:nvSpPr>
          <p:cNvPr id="28" name="TextBox 28"/>
          <p:cNvSpPr txBox="1"/>
          <p:nvPr/>
        </p:nvSpPr>
        <p:spPr>
          <a:xfrm>
            <a:off x="9601200" y="1783080"/>
            <a:ext cx="2084832" cy="1143000"/>
          </a:xfrm>
          <a:prstGeom prst="rect">
            <a:avLst/>
          </a:prstGeom>
          <a:noFill/>
        </p:spPr>
        <p:txBody>
          <a:bodyPr wrap="square" anchor="ctr" lIns="45720" rIns="45720" tIns="18288" bIns="18288"/>
          <a:lstStyle/>
          <a:p>
            <a:pPr>
              <a:spcBef>
                <a:spcPts val="0"/>
              </a:spcBef>
              <a:spcAft>
                <a:spcPts val="0"/>
              </a:spcAft>
              <a:buNone/>
            </a:pPr>
            <a:r>
              <a:rPr sz="1300" b="0">
                <a:solidFill>
                  <a:srgbClr val="666666"/>
                </a:solidFill>
                <a:latin typeface="Roboto Medium"/>
                <a:ea typeface="Roboto Medium"/>
                <a:cs typeface="Roboto Medium"/>
              </a:rPr>
              <a:t>AUC tấn công sau MIRAGE, thấp nhất trong các phòng thủ được so sánh</a:t>
            </a:r>
          </a:p>
        </p:txBody>
      </p:sp>
      <p:sp>
        <p:nvSpPr>
          <p:cNvPr id="29" name="Card 29"/>
          <p:cNvSpPr/>
          <p:nvPr/>
        </p:nvSpPr>
        <p:spPr>
          <a:xfrm>
            <a:off x="7680960" y="3154680"/>
            <a:ext cx="4096512" cy="132588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30" name="Card bar 30"/>
          <p:cNvSpPr/>
          <p:nvPr/>
        </p:nvSpPr>
        <p:spPr>
          <a:xfrm>
            <a:off x="7680960" y="3154680"/>
            <a:ext cx="4096512" cy="54864"/>
          </a:xfrm>
          <a:prstGeom prst="rect">
            <a:avLst/>
          </a:prstGeom>
          <a:solidFill>
            <a:srgbClr val="C00000"/>
          </a:solidFill>
          <a:ln>
            <a:noFill/>
          </a:ln>
          <a:effectLst/>
        </p:spPr>
        <p:txBody>
          <a:bodyPr wrap="square" rtlCol="0" anchor="ctr" lIns="73152" rIns="73152" tIns="36576" bIns="36576"/>
          <a:lstStyle/>
          <a:p/>
        </p:txBody>
      </p:sp>
      <p:sp>
        <p:nvSpPr>
          <p:cNvPr id="31" name="TextBox 31"/>
          <p:cNvSpPr txBox="1"/>
          <p:nvPr/>
        </p:nvSpPr>
        <p:spPr>
          <a:xfrm>
            <a:off x="7772400" y="3246120"/>
            <a:ext cx="1920240" cy="1143000"/>
          </a:xfrm>
          <a:prstGeom prst="rect">
            <a:avLst/>
          </a:prstGeom>
          <a:noFill/>
        </p:spPr>
        <p:txBody>
          <a:bodyPr wrap="square" anchor="ctr" lIns="45720" rIns="45720" tIns="18288" bIns="18288"/>
          <a:lstStyle/>
          <a:p>
            <a:pPr>
              <a:spcBef>
                <a:spcPts val="0"/>
              </a:spcBef>
              <a:spcAft>
                <a:spcPts val="0"/>
              </a:spcAft>
              <a:buNone/>
            </a:pPr>
            <a:r>
              <a:rPr sz="2300" b="1">
                <a:solidFill>
                  <a:srgbClr val="C00000"/>
                </a:solidFill>
                <a:latin typeface="Roboto Black"/>
                <a:ea typeface="Roboto Black"/>
                <a:cs typeface="Roboto Black"/>
              </a:rPr>
              <a:t>0.51–0.60</a:t>
            </a:r>
          </a:p>
        </p:txBody>
      </p:sp>
      <p:sp>
        <p:nvSpPr>
          <p:cNvPr id="32" name="TextBox 32"/>
          <p:cNvSpPr txBox="1"/>
          <p:nvPr/>
        </p:nvSpPr>
        <p:spPr>
          <a:xfrm>
            <a:off x="9601200" y="3246120"/>
            <a:ext cx="2084832" cy="1143000"/>
          </a:xfrm>
          <a:prstGeom prst="rect">
            <a:avLst/>
          </a:prstGeom>
          <a:noFill/>
        </p:spPr>
        <p:txBody>
          <a:bodyPr wrap="square" anchor="ctr" lIns="45720" rIns="45720" tIns="18288" bIns="18288"/>
          <a:lstStyle/>
          <a:p>
            <a:pPr>
              <a:spcBef>
                <a:spcPts val="0"/>
              </a:spcBef>
              <a:spcAft>
                <a:spcPts val="0"/>
              </a:spcAft>
              <a:buNone/>
            </a:pPr>
            <a:r>
              <a:rPr sz="1300" b="0">
                <a:solidFill>
                  <a:srgbClr val="666666"/>
                </a:solidFill>
                <a:latin typeface="Roboto Medium"/>
                <a:ea typeface="Roboto Medium"/>
                <a:cs typeface="Roboto Medium"/>
              </a:rPr>
              <a:t>AUC của PPL detection khi phân biệt query tấn công: gần như đoán ngẫu nhiên</a:t>
            </a:r>
          </a:p>
        </p:txBody>
      </p:sp>
      <p:sp>
        <p:nvSpPr>
          <p:cNvPr id="33" name="Card 33"/>
          <p:cNvSpPr/>
          <p:nvPr/>
        </p:nvSpPr>
        <p:spPr>
          <a:xfrm>
            <a:off x="7680960" y="4617720"/>
            <a:ext cx="4096512" cy="128016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4" name="Card bar 34"/>
          <p:cNvSpPr/>
          <p:nvPr/>
        </p:nvSpPr>
        <p:spPr>
          <a:xfrm>
            <a:off x="7680960" y="4617720"/>
            <a:ext cx="4096512" cy="54864"/>
          </a:xfrm>
          <a:prstGeom prst="rect">
            <a:avLst/>
          </a:prstGeom>
          <a:solidFill>
            <a:srgbClr val="003366"/>
          </a:solidFill>
          <a:ln>
            <a:noFill/>
          </a:ln>
          <a:effectLst/>
        </p:spPr>
        <p:txBody>
          <a:bodyPr wrap="square" rtlCol="0" anchor="ctr" lIns="73152" rIns="73152" tIns="36576" bIns="36576"/>
          <a:lstStyle/>
          <a:p/>
        </p:txBody>
      </p:sp>
      <p:sp>
        <p:nvSpPr>
          <p:cNvPr id="35" name="TextBox 35"/>
          <p:cNvSpPr txBox="1"/>
          <p:nvPr/>
        </p:nvSpPr>
        <p:spPr>
          <a:xfrm>
            <a:off x="7818120" y="4709160"/>
            <a:ext cx="3822192" cy="1097280"/>
          </a:xfrm>
          <a:prstGeom prst="rect">
            <a:avLst/>
          </a:prstGeom>
          <a:noFill/>
        </p:spPr>
        <p:txBody>
          <a:bodyPr wrap="square" anchor="ctr" lIns="45720" rIns="45720" tIns="18288" bIns="18288"/>
          <a:lstStyle/>
          <a:p>
            <a:pPr>
              <a:spcBef>
                <a:spcPts val="0"/>
              </a:spcBef>
              <a:spcAft>
                <a:spcPts val="0"/>
              </a:spcAft>
              <a:buNone/>
            </a:pPr>
            <a:r>
              <a:rPr sz="1350" b="1">
                <a:solidFill>
                  <a:srgbClr val="003366"/>
                </a:solidFill>
                <a:latin typeface="Roboto Black"/>
                <a:ea typeface="Roboto Black"/>
                <a:cs typeface="Roboto Black"/>
              </a:rPr>
              <a:t>Utility:</a:t>
            </a:r>
            <a:r>
              <a:rPr sz="1350" b="0">
                <a:solidFill>
                  <a:srgbClr val="222222"/>
                </a:solidFill>
                <a:latin typeface="Roboto Medium"/>
                <a:ea typeface="Roboto Medium"/>
                <a:cs typeface="Roboto Medium"/>
              </a:rPr>
              <a:t xml:space="preserve"> accuracy tác vụ trước và sau MIRAGE chỉ thay đổi nhỏ trên cả 3 framework.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MIRAGE: Ablation, tham số và nhận xét</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16</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TextBox 21"/>
          <p:cNvSpPr txBox="1"/>
          <p:nvPr/>
        </p:nvSpPr>
        <p:spPr>
          <a:xfrm>
            <a:off x="411480" y="914400"/>
            <a:ext cx="6035040" cy="4983480"/>
          </a:xfrm>
          <a:prstGeom prst="rect">
            <a:avLst/>
          </a:prstGeom>
          <a:noFill/>
        </p:spPr>
        <p:txBody>
          <a:bodyPr wrap="square" anchor="t" lIns="45720" rIns="45720" tIns="18288" bIns="18288"/>
          <a:lstStyle/>
          <a:p>
            <a:pPr>
              <a:spcBef>
                <a:spcPts val="0"/>
              </a:spcBef>
              <a:spcAft>
                <a:spcPts val="0"/>
              </a:spcAft>
              <a:buNone/>
            </a:pPr>
            <a:r>
              <a:rPr sz="2000" b="1">
                <a:solidFill>
                  <a:srgbClr val="003366"/>
                </a:solidFill>
                <a:latin typeface="Roboto Black"/>
                <a:ea typeface="Roboto Black"/>
                <a:cs typeface="Roboto Black"/>
              </a:rPr>
              <a:t>Ablation (G-Designer, MMLU)</a:t>
            </a:r>
          </a:p>
          <a:p>
            <a:pPr marL="126400" indent="-126400">
              <a:spcBef>
                <a:spcPts val="500"/>
              </a:spcBef>
              <a:spcAft>
                <a:spcPts val="0"/>
              </a:spcAft>
              <a:buClr>
                <a:srgbClr val="C00000"/>
              </a:buClr>
              <a:buFont typeface="Arial"/>
              <a:buChar char="•"/>
            </a:pPr>
            <a:r>
              <a:rPr sz="1600" b="0">
                <a:solidFill>
                  <a:srgbClr val="222222"/>
                </a:solidFill>
                <a:latin typeface="Roboto Medium"/>
                <a:ea typeface="Roboto Medium"/>
                <a:cs typeface="Roboto Medium"/>
              </a:rPr>
              <a:t xml:space="preserve">Bỏ </a:t>
            </a:r>
            <a:r>
              <a:rPr sz="1600" b="1">
                <a:solidFill>
                  <a:srgbClr val="003366"/>
                </a:solidFill>
                <a:latin typeface="Roboto Black"/>
                <a:ea typeface="Roboto Black"/>
                <a:cs typeface="Roboto Black"/>
              </a:rPr>
              <a:t>PEM</a:t>
            </a:r>
            <a:r>
              <a:rPr sz="1600" b="0">
                <a:solidFill>
                  <a:srgbClr val="222222"/>
                </a:solidFill>
                <a:latin typeface="Roboto Medium"/>
                <a:ea typeface="Roboto Medium"/>
                <a:cs typeface="Roboto Medium"/>
              </a:rPr>
              <a:t xml:space="preserve"> hoặc bỏ </a:t>
            </a:r>
            <a:r>
              <a:rPr sz="1600" b="1">
                <a:solidFill>
                  <a:srgbClr val="003366"/>
                </a:solidFill>
                <a:latin typeface="Roboto Black"/>
                <a:ea typeface="Roboto Black"/>
                <a:cs typeface="Roboto Black"/>
              </a:rPr>
              <a:t>GEO</a:t>
            </a:r>
            <a:r>
              <a:rPr sz="1600" b="0">
                <a:solidFill>
                  <a:srgbClr val="222222"/>
                </a:solidFill>
                <a:latin typeface="Roboto Medium"/>
                <a:ea typeface="Roboto Medium"/>
                <a:cs typeface="Roboto Medium"/>
              </a:rPr>
              <a:t xml:space="preserve"> → AUC, ACC, F1 đều tăng: cần cả làm lộ cạnh ảo lẫn che cạnh thật.</a:t>
            </a:r>
          </a:p>
          <a:p>
            <a:pPr>
              <a:spcBef>
                <a:spcPts val="1200"/>
              </a:spcBef>
              <a:spcAft>
                <a:spcPts val="0"/>
              </a:spcAft>
              <a:buNone/>
            </a:pPr>
            <a:r>
              <a:rPr sz="2000" b="1">
                <a:solidFill>
                  <a:srgbClr val="003366"/>
                </a:solidFill>
                <a:latin typeface="Roboto Black"/>
                <a:ea typeface="Roboto Black"/>
                <a:cs typeface="Roboto Black"/>
              </a:rPr>
              <a:t>Độ nhạy tham số</a:t>
            </a:r>
          </a:p>
          <a:p>
            <a:pPr marL="126400" indent="-126400">
              <a:spcBef>
                <a:spcPts val="500"/>
              </a:spcBef>
              <a:spcAft>
                <a:spcPts val="0"/>
              </a:spcAft>
              <a:buClr>
                <a:srgbClr val="C00000"/>
              </a:buClr>
              <a:buFont typeface="Arial"/>
              <a:buChar char="•"/>
            </a:pPr>
            <a:r>
              <a:rPr sz="1600" b="1">
                <a:solidFill>
                  <a:srgbClr val="003366"/>
                </a:solidFill>
                <a:latin typeface="Roboto Black"/>
                <a:ea typeface="Roboto Black"/>
                <a:cs typeface="Roboto Black"/>
              </a:rPr>
              <a:t>ρ</a:t>
            </a:r>
            <a:r>
              <a:rPr sz="1600" b="0" baseline="-25000">
                <a:solidFill>
                  <a:srgbClr val="003366"/>
                </a:solidFill>
                <a:latin typeface="Roboto Medium"/>
                <a:ea typeface="Roboto Medium"/>
                <a:cs typeface="Roboto Medium"/>
              </a:rPr>
              <a:t>0</a:t>
            </a:r>
            <a:r>
              <a:rPr sz="1600" b="1">
                <a:solidFill>
                  <a:srgbClr val="003366"/>
                </a:solidFill>
                <a:latin typeface="Roboto Black"/>
                <a:ea typeface="Roboto Black"/>
                <a:cs typeface="Roboto Black"/>
              </a:rPr>
              <a:t xml:space="preserve"> ∈ [0.2, 1.0]:</a:t>
            </a:r>
            <a:r>
              <a:rPr sz="1600" b="0">
                <a:solidFill>
                  <a:srgbClr val="222222"/>
                </a:solidFill>
                <a:latin typeface="Roboto Medium"/>
                <a:ea typeface="Roboto Medium"/>
                <a:cs typeface="Roboto Medium"/>
              </a:rPr>
              <a:t xml:space="preserve"> đánh đổi rõ: ρ</a:t>
            </a:r>
            <a:r>
              <a:rPr sz="1600" b="0" baseline="-25000">
                <a:solidFill>
                  <a:srgbClr val="003366"/>
                </a:solidFill>
                <a:latin typeface="Roboto Medium"/>
                <a:ea typeface="Roboto Medium"/>
                <a:cs typeface="Roboto Medium"/>
              </a:rPr>
              <a:t>0</a:t>
            </a:r>
            <a:r>
              <a:rPr sz="1600" b="0">
                <a:solidFill>
                  <a:srgbClr val="222222"/>
                </a:solidFill>
                <a:latin typeface="Roboto Medium"/>
                <a:ea typeface="Roboto Medium"/>
                <a:cs typeface="Roboto Medium"/>
              </a:rPr>
              <a:t xml:space="preserve"> càng lớn che càng tốt nhưng utility giảm.</a:t>
            </a:r>
          </a:p>
          <a:p>
            <a:pPr marL="126400" indent="-126400">
              <a:spcBef>
                <a:spcPts val="500"/>
              </a:spcBef>
              <a:spcAft>
                <a:spcPts val="0"/>
              </a:spcAft>
              <a:buClr>
                <a:srgbClr val="C00000"/>
              </a:buClr>
              <a:buFont typeface="Arial"/>
              <a:buChar char="•"/>
            </a:pPr>
            <a:r>
              <a:rPr sz="1600" b="1">
                <a:solidFill>
                  <a:srgbClr val="003366"/>
                </a:solidFill>
                <a:latin typeface="Roboto Black"/>
                <a:ea typeface="Roboto Black"/>
                <a:cs typeface="Roboto Black"/>
              </a:rPr>
              <a:t>M ∈ {1, …, 9}:</a:t>
            </a:r>
            <a:r>
              <a:rPr sz="1600" b="0">
                <a:solidFill>
                  <a:srgbClr val="222222"/>
                </a:solidFill>
                <a:latin typeface="Roboto Medium"/>
                <a:ea typeface="Roboto Medium"/>
                <a:cs typeface="Roboto Medium"/>
              </a:rPr>
              <a:t xml:space="preserve"> thêm ứng viên paraphrase có lợi, bão hòa sau M = 5.</a:t>
            </a:r>
          </a:p>
          <a:p>
            <a:pPr marL="126400" indent="-126400">
              <a:spcBef>
                <a:spcPts val="500"/>
              </a:spcBef>
              <a:spcAft>
                <a:spcPts val="0"/>
              </a:spcAft>
              <a:buClr>
                <a:srgbClr val="C00000"/>
              </a:buClr>
              <a:buFont typeface="Arial"/>
              <a:buChar char="•"/>
            </a:pPr>
            <a:r>
              <a:rPr sz="1600" b="1">
                <a:solidFill>
                  <a:srgbClr val="003366"/>
                </a:solidFill>
                <a:latin typeface="Roboto Black"/>
                <a:ea typeface="Roboto Black"/>
                <a:cs typeface="Roboto Black"/>
              </a:rPr>
              <a:t>λ ∈ [0.1, 0.9]:</a:t>
            </a:r>
            <a:r>
              <a:rPr sz="1600" b="0">
                <a:solidFill>
                  <a:srgbClr val="222222"/>
                </a:solidFill>
                <a:latin typeface="Roboto Medium"/>
                <a:ea typeface="Roboto Medium"/>
                <a:cs typeface="Roboto Medium"/>
              </a:rPr>
              <a:t xml:space="preserve"> giá trị vừa phải cân bằng tốt nhất giữa giấu phụ thuộc và giữ nghĩa.</a:t>
            </a:r>
          </a:p>
          <a:p>
            <a:pPr>
              <a:spcBef>
                <a:spcPts val="1200"/>
              </a:spcBef>
              <a:spcAft>
                <a:spcPts val="0"/>
              </a:spcAft>
              <a:buNone/>
            </a:pPr>
            <a:r>
              <a:rPr sz="2000" b="1">
                <a:solidFill>
                  <a:srgbClr val="003366"/>
                </a:solidFill>
                <a:latin typeface="Roboto Black"/>
                <a:ea typeface="Roboto Black"/>
                <a:cs typeface="Roboto Black"/>
              </a:rPr>
              <a:t>Case study</a:t>
            </a:r>
          </a:p>
          <a:p>
            <a:pPr marL="126400" indent="-126400">
              <a:spcBef>
                <a:spcPts val="500"/>
              </a:spcBef>
              <a:spcAft>
                <a:spcPts val="0"/>
              </a:spcAft>
              <a:buClr>
                <a:srgbClr val="C00000"/>
              </a:buClr>
              <a:buFont typeface="Arial"/>
              <a:buChar char="•"/>
            </a:pPr>
            <a:r>
              <a:rPr sz="1600" b="0">
                <a:solidFill>
                  <a:srgbClr val="222222"/>
                </a:solidFill>
                <a:latin typeface="Roboto Medium"/>
                <a:ea typeface="Roboto Medium"/>
                <a:cs typeface="Roboto Medium"/>
              </a:rPr>
              <a:t>Không phòng thủ: CIA khôi phục gần hết cạnh. Có MIRAGE: nhiều cạnh thật bị giấu hoặc thay bằng cạnh ảo.</a:t>
            </a:r>
          </a:p>
        </p:txBody>
      </p:sp>
      <p:sp>
        <p:nvSpPr>
          <p:cNvPr id="22" name="Card 22"/>
          <p:cNvSpPr/>
          <p:nvPr/>
        </p:nvSpPr>
        <p:spPr>
          <a:xfrm>
            <a:off x="6675120" y="960120"/>
            <a:ext cx="5102352" cy="187452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3" name="Card bar 23"/>
          <p:cNvSpPr/>
          <p:nvPr/>
        </p:nvSpPr>
        <p:spPr>
          <a:xfrm>
            <a:off x="6675120" y="960120"/>
            <a:ext cx="5102352" cy="54864"/>
          </a:xfrm>
          <a:prstGeom prst="rect">
            <a:avLst/>
          </a:prstGeom>
          <a:solidFill>
            <a:srgbClr val="003366"/>
          </a:solidFill>
          <a:ln>
            <a:noFill/>
          </a:ln>
          <a:effectLst/>
        </p:spPr>
        <p:txBody>
          <a:bodyPr wrap="square" rtlCol="0" anchor="ctr" lIns="73152" rIns="73152" tIns="36576" bIns="36576"/>
          <a:lstStyle/>
          <a:p/>
        </p:txBody>
      </p:sp>
      <p:sp>
        <p:nvSpPr>
          <p:cNvPr id="24" name="TextBox 24"/>
          <p:cNvSpPr txBox="1"/>
          <p:nvPr/>
        </p:nvSpPr>
        <p:spPr>
          <a:xfrm>
            <a:off x="6812280" y="1051560"/>
            <a:ext cx="4828032" cy="1737360"/>
          </a:xfrm>
          <a:prstGeom prst="rect">
            <a:avLst/>
          </a:prstGeom>
          <a:noFill/>
        </p:spPr>
        <p:txBody>
          <a:bodyPr wrap="square" anchor="t" lIns="45720" rIns="45720" tIns="18288" bIns="18288"/>
          <a:lstStyle/>
          <a:p>
            <a:pPr>
              <a:spcBef>
                <a:spcPts val="0"/>
              </a:spcBef>
              <a:spcAft>
                <a:spcPts val="0"/>
              </a:spcAft>
              <a:buNone/>
            </a:pPr>
            <a:r>
              <a:rPr sz="1750" b="1">
                <a:solidFill>
                  <a:srgbClr val="003366"/>
                </a:solidFill>
                <a:latin typeface="Roboto Black"/>
                <a:ea typeface="Roboto Black"/>
                <a:cs typeface="Roboto Black"/>
              </a:rPr>
              <a:t>Điểm mạnh</a:t>
            </a:r>
          </a:p>
          <a:p>
            <a:pPr marL="114550" indent="-114550">
              <a:spcBef>
                <a:spcPts val="300"/>
              </a:spcBef>
              <a:spcAft>
                <a:spcPts val="0"/>
              </a:spcAft>
              <a:buClr>
                <a:srgbClr val="C00000"/>
              </a:buClr>
              <a:buFont typeface="Arial"/>
              <a:buChar char="•"/>
            </a:pPr>
            <a:r>
              <a:rPr sz="1450" b="0">
                <a:solidFill>
                  <a:srgbClr val="222222"/>
                </a:solidFill>
                <a:latin typeface="Roboto Medium"/>
                <a:ea typeface="Roboto Medium"/>
                <a:cs typeface="Roboto Medium"/>
              </a:rPr>
              <a:t xml:space="preserve">Mở ra chiều an toàn mới: </a:t>
            </a:r>
            <a:r>
              <a:rPr sz="1450" b="1">
                <a:solidFill>
                  <a:srgbClr val="003366"/>
                </a:solidFill>
                <a:latin typeface="Roboto Black"/>
                <a:ea typeface="Roboto Black"/>
                <a:cs typeface="Roboto Black"/>
              </a:rPr>
              <a:t>bí mật cấu trúc</a:t>
            </a:r>
            <a:r>
              <a:rPr sz="1450" b="0">
                <a:solidFill>
                  <a:srgbClr val="222222"/>
                </a:solidFill>
                <a:latin typeface="Roboto Medium"/>
                <a:ea typeface="Roboto Medium"/>
                <a:cs typeface="Roboto Medium"/>
              </a:rPr>
              <a:t xml:space="preserve"> của MAS.</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Tách thực thi / phơi bày gọn, không cần sửa agent.</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Hình thức hóa theo k-anonymity, điều chỉnh bằng ρ</a:t>
            </a:r>
            <a:r>
              <a:rPr sz="1450" b="0" baseline="-25000">
                <a:solidFill>
                  <a:srgbClr val="003366"/>
                </a:solidFill>
                <a:latin typeface="Roboto Medium"/>
                <a:ea typeface="Roboto Medium"/>
                <a:cs typeface="Roboto Medium"/>
              </a:rPr>
              <a:t>0</a:t>
            </a:r>
            <a:r>
              <a:rPr sz="1450" b="0">
                <a:solidFill>
                  <a:srgbClr val="222222"/>
                </a:solidFill>
                <a:latin typeface="Roboto Medium"/>
                <a:ea typeface="Roboto Medium"/>
                <a:cs typeface="Roboto Medium"/>
              </a:rPr>
              <a:t>.</a:t>
            </a:r>
          </a:p>
        </p:txBody>
      </p:sp>
      <p:sp>
        <p:nvSpPr>
          <p:cNvPr id="25" name="Card 25"/>
          <p:cNvSpPr/>
          <p:nvPr/>
        </p:nvSpPr>
        <p:spPr>
          <a:xfrm>
            <a:off x="6675120" y="3017520"/>
            <a:ext cx="5102352" cy="288036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26" name="Card bar 26"/>
          <p:cNvSpPr/>
          <p:nvPr/>
        </p:nvSpPr>
        <p:spPr>
          <a:xfrm>
            <a:off x="6675120" y="3017520"/>
            <a:ext cx="5102352" cy="54864"/>
          </a:xfrm>
          <a:prstGeom prst="rect">
            <a:avLst/>
          </a:prstGeom>
          <a:solidFill>
            <a:srgbClr val="C00000"/>
          </a:solidFill>
          <a:ln>
            <a:noFill/>
          </a:ln>
          <a:effectLst/>
        </p:spPr>
        <p:txBody>
          <a:bodyPr wrap="square" rtlCol="0" anchor="ctr" lIns="73152" rIns="73152" tIns="36576" bIns="36576"/>
          <a:lstStyle/>
          <a:p/>
        </p:txBody>
      </p:sp>
      <p:sp>
        <p:nvSpPr>
          <p:cNvPr id="27" name="TextBox 27"/>
          <p:cNvSpPr txBox="1"/>
          <p:nvPr/>
        </p:nvSpPr>
        <p:spPr>
          <a:xfrm>
            <a:off x="6812280" y="3108960"/>
            <a:ext cx="4828032" cy="2743200"/>
          </a:xfrm>
          <a:prstGeom prst="rect">
            <a:avLst/>
          </a:prstGeom>
          <a:noFill/>
        </p:spPr>
        <p:txBody>
          <a:bodyPr wrap="square" anchor="t" lIns="45720" rIns="45720" tIns="18288" bIns="18288"/>
          <a:lstStyle/>
          <a:p>
            <a:pPr>
              <a:spcBef>
                <a:spcPts val="0"/>
              </a:spcBef>
              <a:spcAft>
                <a:spcPts val="0"/>
              </a:spcAft>
              <a:buNone/>
            </a:pPr>
            <a:r>
              <a:rPr sz="1750" b="1">
                <a:solidFill>
                  <a:srgbClr val="C00000"/>
                </a:solidFill>
                <a:latin typeface="Roboto Black"/>
                <a:ea typeface="Roboto Black"/>
                <a:cs typeface="Roboto Black"/>
              </a:rPr>
              <a:t>Hạn chế</a:t>
            </a:r>
          </a:p>
          <a:p>
            <a:pPr marL="114550" indent="-114550">
              <a:spcBef>
                <a:spcPts val="300"/>
              </a:spcBef>
              <a:spcAft>
                <a:spcPts val="0"/>
              </a:spcAft>
              <a:buClr>
                <a:srgbClr val="C00000"/>
              </a:buClr>
              <a:buFont typeface="Arial"/>
              <a:buChar char="•"/>
            </a:pPr>
            <a:r>
              <a:rPr sz="1450" b="0">
                <a:solidFill>
                  <a:srgbClr val="222222"/>
                </a:solidFill>
                <a:latin typeface="Roboto Medium"/>
                <a:ea typeface="Roboto Medium"/>
                <a:cs typeface="Roboto Medium"/>
              </a:rPr>
              <a:t xml:space="preserve">Chỉ 1 tấn công (CIA), không có </a:t>
            </a:r>
            <a:r>
              <a:rPr sz="1450" b="1">
                <a:solidFill>
                  <a:srgbClr val="003366"/>
                </a:solidFill>
                <a:latin typeface="Roboto Black"/>
                <a:ea typeface="Roboto Black"/>
                <a:cs typeface="Roboto Black"/>
              </a:rPr>
              <a:t>adaptive attacker</a:t>
            </a:r>
            <a:r>
              <a:rPr sz="1450" b="0">
                <a:solidFill>
                  <a:srgbClr val="222222"/>
                </a:solidFill>
                <a:latin typeface="Roboto Medium"/>
                <a:ea typeface="Roboto Medium"/>
                <a:cs typeface="Roboto Medium"/>
              </a:rPr>
              <a:t xml:space="preserve"> biết MIRAGE (vd. phát hiện văn bản LLM sinh).</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AUC vẫn 0.64–0.68, xa mức lý tưởng 0.5: mới che được một phần.</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Quy mô nhỏ (100 task/bộ); không báo cáo chi phí gọi LLM thêm.</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Chưa so với phương án đơn giản: không phơi bày vết trung gian.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TIDE: Đặt vấn đề</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17</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TextBox 21"/>
          <p:cNvSpPr txBox="1"/>
          <p:nvPr/>
        </p:nvSpPr>
        <p:spPr>
          <a:xfrm>
            <a:off x="411480" y="914400"/>
            <a:ext cx="6903720" cy="3429000"/>
          </a:xfrm>
          <a:prstGeom prst="rect">
            <a:avLst/>
          </a:prstGeom>
          <a:noFill/>
        </p:spPr>
        <p:txBody>
          <a:bodyPr wrap="square" anchor="t" lIns="45720" rIns="45720" tIns="18288" bIns="18288"/>
          <a:lstStyle/>
          <a:p>
            <a:pPr>
              <a:spcBef>
                <a:spcPts val="0"/>
              </a:spcBef>
              <a:spcAft>
                <a:spcPts val="0"/>
              </a:spcAft>
              <a:buNone/>
            </a:pPr>
            <a:r>
              <a:rPr sz="2200" b="1">
                <a:solidFill>
                  <a:srgbClr val="003366"/>
                </a:solidFill>
                <a:latin typeface="Roboto Black"/>
                <a:ea typeface="Roboto Black"/>
                <a:cs typeface="Roboto Black"/>
              </a:rPr>
              <a:t>Bối cảnh</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 xml:space="preserve">MAS thường được đánh giá bằng </a:t>
            </a:r>
            <a:r>
              <a:rPr sz="1750" b="1">
                <a:solidFill>
                  <a:srgbClr val="003366"/>
                </a:solidFill>
                <a:latin typeface="Roboto Black"/>
                <a:ea typeface="Roboto Black"/>
                <a:cs typeface="Roboto Black"/>
              </a:rPr>
              <a:t>độ chính xác cuối</a:t>
            </a:r>
            <a:r>
              <a:rPr sz="1750" b="0">
                <a:solidFill>
                  <a:srgbClr val="222222"/>
                </a:solidFill>
                <a:latin typeface="Roboto Medium"/>
                <a:ea typeface="Roboto Medium"/>
                <a:cs typeface="Roboto Medium"/>
              </a:rPr>
              <a:t xml:space="preserve"> → không biết bằng chứng </a:t>
            </a:r>
            <a:r>
              <a:rPr sz="1750" b="0" i="1">
                <a:solidFill>
                  <a:srgbClr val="222222"/>
                </a:solidFill>
                <a:latin typeface="Roboto Medium"/>
                <a:ea typeface="Roboto Medium"/>
                <a:cs typeface="Roboto Medium"/>
              </a:rPr>
              <a:t>riêng</a:t>
            </a:r>
            <a:r>
              <a:rPr sz="1750" b="0">
                <a:solidFill>
                  <a:srgbClr val="222222"/>
                </a:solidFill>
                <a:latin typeface="Roboto Medium"/>
                <a:ea typeface="Roboto Medium"/>
                <a:cs typeface="Roboto Medium"/>
              </a:rPr>
              <a:t xml:space="preserve"> của từng agent có thực sự được đưa vào và tích hợp đúng không.</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 xml:space="preserve">Nghiên cứu gộp tri thức phân tán (HiddenBench, Wang et al.) chỉ xét </a:t>
            </a:r>
            <a:r>
              <a:rPr sz="1750" b="1">
                <a:solidFill>
                  <a:srgbClr val="003366"/>
                </a:solidFill>
                <a:latin typeface="Roboto Black"/>
                <a:ea typeface="Roboto Black"/>
                <a:cs typeface="Roboto Black"/>
              </a:rPr>
              <a:t>thông tin đúng</a:t>
            </a:r>
            <a:r>
              <a:rPr sz="1750" b="0">
                <a:solidFill>
                  <a:srgbClr val="222222"/>
                </a:solidFill>
                <a:latin typeface="Roboto Medium"/>
                <a:ea typeface="Roboto Medium"/>
                <a:cs typeface="Roboto Medium"/>
              </a:rPr>
              <a:t>, không có đối kháng.</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 xml:space="preserve">Nghiên cứu khuếch đại lỗi (debate attack, sycophancy) chỉ nhìn output, không truy vết thông tin sai được </a:t>
            </a:r>
            <a:r>
              <a:rPr sz="1750" b="1">
                <a:solidFill>
                  <a:srgbClr val="003366"/>
                </a:solidFill>
                <a:latin typeface="Roboto Black"/>
                <a:ea typeface="Roboto Black"/>
                <a:cs typeface="Roboto Black"/>
              </a:rPr>
              <a:t>chuyển tiếp</a:t>
            </a:r>
            <a:r>
              <a:rPr sz="1750" b="0">
                <a:solidFill>
                  <a:srgbClr val="222222"/>
                </a:solidFill>
                <a:latin typeface="Roboto Medium"/>
                <a:ea typeface="Roboto Medium"/>
                <a:cs typeface="Roboto Medium"/>
              </a:rPr>
              <a:t xml:space="preserve"> ra sao.</a:t>
            </a:r>
          </a:p>
          <a:p>
            <a:pPr marL="138250" indent="-138250">
              <a:spcBef>
                <a:spcPts val="500"/>
              </a:spcBef>
              <a:spcAft>
                <a:spcPts val="0"/>
              </a:spcAft>
              <a:buClr>
                <a:srgbClr val="C00000"/>
              </a:buClr>
              <a:buFont typeface="Arial"/>
              <a:buChar char="•"/>
            </a:pPr>
            <a:r>
              <a:rPr sz="1750" b="0">
                <a:solidFill>
                  <a:srgbClr val="222222"/>
                </a:solidFill>
                <a:latin typeface="Roboto Medium"/>
                <a:ea typeface="Roboto Medium"/>
                <a:cs typeface="Roboto Medium"/>
              </a:rPr>
              <a:t>Cảm hứng: thí nghiệm “hidden profile” với nhóm người (Stasser, 1985).</a:t>
            </a:r>
          </a:p>
        </p:txBody>
      </p:sp>
      <p:sp>
        <p:nvSpPr>
          <p:cNvPr id="22" name="Card 22"/>
          <p:cNvSpPr/>
          <p:nvPr/>
        </p:nvSpPr>
        <p:spPr>
          <a:xfrm>
            <a:off x="7589520" y="960120"/>
            <a:ext cx="4187952" cy="338328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3" name="Card bar 23"/>
          <p:cNvSpPr/>
          <p:nvPr/>
        </p:nvSpPr>
        <p:spPr>
          <a:xfrm>
            <a:off x="7589520" y="960120"/>
            <a:ext cx="4187952" cy="54864"/>
          </a:xfrm>
          <a:prstGeom prst="rect">
            <a:avLst/>
          </a:prstGeom>
          <a:solidFill>
            <a:srgbClr val="003366"/>
          </a:solidFill>
          <a:ln>
            <a:noFill/>
          </a:ln>
          <a:effectLst/>
        </p:spPr>
        <p:txBody>
          <a:bodyPr wrap="square" rtlCol="0" anchor="ctr" lIns="73152" rIns="73152" tIns="36576" bIns="36576"/>
          <a:lstStyle/>
          <a:p/>
        </p:txBody>
      </p:sp>
      <p:sp>
        <p:nvSpPr>
          <p:cNvPr id="24" name="TextBox 24"/>
          <p:cNvSpPr txBox="1"/>
          <p:nvPr/>
        </p:nvSpPr>
        <p:spPr>
          <a:xfrm>
            <a:off x="7726680" y="1078992"/>
            <a:ext cx="3931920" cy="3200400"/>
          </a:xfrm>
          <a:prstGeom prst="rect">
            <a:avLst/>
          </a:prstGeom>
          <a:noFill/>
        </p:spPr>
        <p:txBody>
          <a:bodyPr wrap="square" anchor="t" lIns="45720" rIns="45720" tIns="18288" bIns="18288"/>
          <a:lstStyle/>
          <a:p>
            <a:pPr>
              <a:spcBef>
                <a:spcPts val="0"/>
              </a:spcBef>
              <a:spcAft>
                <a:spcPts val="0"/>
              </a:spcAft>
              <a:buNone/>
            </a:pPr>
            <a:r>
              <a:rPr sz="1750" b="1">
                <a:solidFill>
                  <a:srgbClr val="003366"/>
                </a:solidFill>
                <a:latin typeface="Roboto Black"/>
                <a:ea typeface="Roboto Black"/>
                <a:cs typeface="Roboto Black"/>
              </a:rPr>
              <a:t>Loại đóng góp</a:t>
            </a:r>
          </a:p>
          <a:p>
            <a:pPr>
              <a:spcBef>
                <a:spcPts val="400"/>
              </a:spcBef>
              <a:spcAft>
                <a:spcPts val="0"/>
              </a:spcAft>
              <a:buNone/>
            </a:pPr>
            <a:r>
              <a:rPr sz="1550" b="1">
                <a:solidFill>
                  <a:srgbClr val="003366"/>
                </a:solidFill>
                <a:latin typeface="Roboto Black"/>
                <a:ea typeface="Roboto Black"/>
                <a:cs typeface="Roboto Black"/>
              </a:rPr>
              <a:t>ForesightSafety-TIDE</a:t>
            </a:r>
          </a:p>
          <a:p>
            <a:pPr>
              <a:spcBef>
                <a:spcPts val="100"/>
              </a:spcBef>
              <a:spcAft>
                <a:spcPts val="0"/>
              </a:spcAft>
              <a:buNone/>
            </a:pPr>
            <a:r>
              <a:rPr sz="1400" b="0">
                <a:solidFill>
                  <a:srgbClr val="666666"/>
                </a:solidFill>
                <a:latin typeface="Roboto Medium"/>
                <a:ea typeface="Roboto Medium"/>
                <a:cs typeface="Roboto Medium"/>
              </a:rPr>
              <a:t>(Truth Integration under Deceptive Evidence)</a:t>
            </a:r>
          </a:p>
          <a:p>
            <a:pPr>
              <a:spcBef>
                <a:spcPts val="500"/>
              </a:spcBef>
              <a:spcAft>
                <a:spcPts val="0"/>
              </a:spcAft>
              <a:buNone/>
            </a:pPr>
            <a:r>
              <a:rPr sz="1500" b="0">
                <a:solidFill>
                  <a:srgbClr val="222222"/>
                </a:solidFill>
                <a:latin typeface="Roboto Medium"/>
                <a:ea typeface="Roboto Medium"/>
                <a:cs typeface="Roboto Medium"/>
              </a:rPr>
              <a:t xml:space="preserve">Một </a:t>
            </a:r>
            <a:r>
              <a:rPr sz="1500" b="0" i="1">
                <a:solidFill>
                  <a:srgbClr val="222222"/>
                </a:solidFill>
                <a:latin typeface="Roboto Medium"/>
                <a:ea typeface="Roboto Medium"/>
                <a:cs typeface="Roboto Medium"/>
              </a:rPr>
              <a:t>khung đánh giá có kiểm soát</a:t>
            </a:r>
            <a:r>
              <a:rPr sz="1500" b="0">
                <a:solidFill>
                  <a:srgbClr val="222222"/>
                </a:solidFill>
                <a:latin typeface="Roboto Medium"/>
                <a:ea typeface="Roboto Medium"/>
                <a:cs typeface="Roboto Medium"/>
              </a:rPr>
              <a:t>, không phải phương pháp MAS mới: kiểm soát phân bố thông tin, nguồn bằng chứng và điểm chèn thông tin sai.</a:t>
            </a:r>
          </a:p>
        </p:txBody>
      </p:sp>
      <p:sp>
        <p:nvSpPr>
          <p:cNvPr id="25" name="Card 25"/>
          <p:cNvSpPr/>
          <p:nvPr/>
        </p:nvSpPr>
        <p:spPr>
          <a:xfrm>
            <a:off x="411480" y="4572000"/>
            <a:ext cx="11365992" cy="132588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6" name="Card bar 26"/>
          <p:cNvSpPr/>
          <p:nvPr/>
        </p:nvSpPr>
        <p:spPr>
          <a:xfrm>
            <a:off x="411480" y="4572000"/>
            <a:ext cx="11365992" cy="54864"/>
          </a:xfrm>
          <a:prstGeom prst="rect">
            <a:avLst/>
          </a:prstGeom>
          <a:solidFill>
            <a:srgbClr val="003366"/>
          </a:solidFill>
          <a:ln>
            <a:noFill/>
          </a:ln>
          <a:effectLst/>
        </p:spPr>
        <p:txBody>
          <a:bodyPr wrap="square" rtlCol="0" anchor="ctr" lIns="73152" rIns="73152" tIns="36576" bIns="36576"/>
          <a:lstStyle/>
          <a:p/>
        </p:txBody>
      </p:sp>
      <p:sp>
        <p:nvSpPr>
          <p:cNvPr id="27" name="TextBox 27"/>
          <p:cNvSpPr txBox="1"/>
          <p:nvPr/>
        </p:nvSpPr>
        <p:spPr>
          <a:xfrm>
            <a:off x="548640" y="4663440"/>
            <a:ext cx="11091672" cy="1188720"/>
          </a:xfrm>
          <a:prstGeom prst="rect">
            <a:avLst/>
          </a:prstGeom>
          <a:noFill/>
        </p:spPr>
        <p:txBody>
          <a:bodyPr wrap="square" anchor="t" lIns="45720" rIns="45720" tIns="18288" bIns="18288"/>
          <a:lstStyle/>
          <a:p>
            <a:pPr>
              <a:spcBef>
                <a:spcPts val="0"/>
              </a:spcBef>
              <a:spcAft>
                <a:spcPts val="0"/>
              </a:spcAft>
              <a:buNone/>
            </a:pPr>
            <a:r>
              <a:rPr sz="1850" b="1">
                <a:solidFill>
                  <a:srgbClr val="003366"/>
                </a:solidFill>
                <a:latin typeface="Roboto Black"/>
                <a:ea typeface="Roboto Black"/>
                <a:cs typeface="Roboto Black"/>
              </a:rPr>
              <a:t>Câu hỏi của paper</a:t>
            </a:r>
          </a:p>
          <a:p>
            <a:pPr>
              <a:spcBef>
                <a:spcPts val="300"/>
              </a:spcBef>
              <a:spcAft>
                <a:spcPts val="0"/>
              </a:spcAft>
              <a:buNone/>
            </a:pPr>
            <a:r>
              <a:rPr sz="1650" b="0">
                <a:solidFill>
                  <a:srgbClr val="222222"/>
                </a:solidFill>
                <a:latin typeface="Roboto Medium"/>
                <a:ea typeface="Roboto Medium"/>
                <a:cs typeface="Roboto Medium"/>
              </a:rPr>
              <a:t xml:space="preserve">Khi sự thật </a:t>
            </a:r>
            <a:r>
              <a:rPr sz="1650" b="1">
                <a:solidFill>
                  <a:srgbClr val="003366"/>
                </a:solidFill>
                <a:latin typeface="Roboto Black"/>
                <a:ea typeface="Roboto Black"/>
                <a:cs typeface="Roboto Black"/>
              </a:rPr>
              <a:t>bị phân tán</a:t>
            </a:r>
            <a:r>
              <a:rPr sz="1650" b="0">
                <a:solidFill>
                  <a:srgbClr val="222222"/>
                </a:solidFill>
                <a:latin typeface="Roboto Medium"/>
                <a:ea typeface="Roboto Medium"/>
                <a:cs typeface="Roboto Medium"/>
              </a:rPr>
              <a:t xml:space="preserve"> giữa các agent và có </a:t>
            </a:r>
            <a:r>
              <a:rPr sz="1650" b="1">
                <a:solidFill>
                  <a:srgbClr val="003366"/>
                </a:solidFill>
                <a:latin typeface="Roboto Black"/>
                <a:ea typeface="Roboto Black"/>
                <a:cs typeface="Roboto Black"/>
              </a:rPr>
              <a:t>một agent nói dối</a:t>
            </a:r>
            <a:r>
              <a:rPr sz="1650" b="0">
                <a:solidFill>
                  <a:srgbClr val="222222"/>
                </a:solidFill>
                <a:latin typeface="Roboto Medium"/>
                <a:ea typeface="Roboto Medium"/>
                <a:cs typeface="Roboto Medium"/>
              </a:rPr>
              <a:t>, bằng chứng đúng và sai cạnh tranh, lan truyền ra sao, và thảo luận có sửa được sai không?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TIDE: Xây dựng môi trường đánh giá</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18</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TextBox 21"/>
          <p:cNvSpPr txBox="1"/>
          <p:nvPr/>
        </p:nvSpPr>
        <p:spPr>
          <a:xfrm>
            <a:off x="411480" y="868680"/>
            <a:ext cx="4572000" cy="365760"/>
          </a:xfrm>
          <a:prstGeom prst="rect">
            <a:avLst/>
          </a:prstGeom>
          <a:noFill/>
        </p:spPr>
        <p:txBody>
          <a:bodyPr wrap="square" anchor="t" lIns="45720" rIns="45720" tIns="18288" bIns="18288"/>
          <a:lstStyle/>
          <a:p>
            <a:pPr>
              <a:spcBef>
                <a:spcPts val="0"/>
              </a:spcBef>
              <a:spcAft>
                <a:spcPts val="0"/>
              </a:spcAft>
              <a:buNone/>
            </a:pPr>
            <a:r>
              <a:rPr sz="1450" b="0">
                <a:solidFill>
                  <a:srgbClr val="666666"/>
                </a:solidFill>
                <a:latin typeface="Roboto Medium"/>
                <a:ea typeface="Roboto Medium"/>
                <a:cs typeface="Roboto Medium"/>
              </a:rPr>
              <a:t>State chain của đồ vật (120 truyện Hi-ToM)</a:t>
            </a:r>
          </a:p>
        </p:txBody>
      </p:sp>
      <p:sp>
        <p:nvSpPr>
          <p:cNvPr id="22" name="Shape 22"/>
          <p:cNvSpPr/>
          <p:nvPr/>
        </p:nvSpPr>
        <p:spPr>
          <a:xfrm>
            <a:off x="411480" y="1280160"/>
            <a:ext cx="1417320" cy="685800"/>
          </a:xfrm>
          <a:prstGeom prst="roundRect">
            <a:avLst>
              <a:gd name="adj" fmla="val 8000"/>
            </a:avLst>
          </a:prstGeom>
          <a:solidFill>
            <a:srgbClr val="F3F6FB"/>
          </a:solidFill>
          <a:ln w="12700">
            <a:solidFill>
              <a:srgbClr val="003366"/>
            </a:solidFill>
          </a:ln>
          <a:effectLst/>
        </p:spPr>
        <p:txBody>
          <a:bodyPr wrap="square" rtlCol="0" anchor="ctr" lIns="73152" rIns="73152" tIns="36576" bIns="36576"/>
          <a:lstStyle/>
          <a:p>
            <a:pPr algn="ctr">
              <a:spcBef>
                <a:spcPts val="0"/>
              </a:spcBef>
              <a:spcAft>
                <a:spcPts val="0"/>
              </a:spcAft>
              <a:buNone/>
            </a:pPr>
            <a:r>
              <a:rPr sz="1650" b="1">
                <a:solidFill>
                  <a:srgbClr val="003366"/>
                </a:solidFill>
                <a:latin typeface="Roboto Black"/>
                <a:ea typeface="Roboto Black"/>
                <a:cs typeface="Roboto Black"/>
              </a:rPr>
              <a:t>l₀</a:t>
            </a:r>
          </a:p>
        </p:txBody>
      </p:sp>
      <p:cxnSp>
        <p:nvCxnSpPr>
          <p:cNvPr id="23" name="Connector 23"/>
          <p:cNvCxnSpPr/>
          <p:nvPr/>
        </p:nvCxnSpPr>
        <p:spPr>
          <a:xfrm>
            <a:off x="1865376" y="1623060"/>
            <a:ext cx="429768" cy="0"/>
          </a:xfrm>
          <a:prstGeom prst="straightConnector1">
            <a:avLst/>
          </a:prstGeom>
          <a:ln w="22225">
            <a:solidFill>
              <a:srgbClr val="003366"/>
            </a:solidFill>
            <a:tailEnd type="triangle" w="med" len="med"/>
          </a:ln>
        </p:spPr>
      </p:cxnSp>
      <p:sp>
        <p:nvSpPr>
          <p:cNvPr id="24" name="Shape 24"/>
          <p:cNvSpPr/>
          <p:nvPr/>
        </p:nvSpPr>
        <p:spPr>
          <a:xfrm>
            <a:off x="2331720" y="1280160"/>
            <a:ext cx="1417320" cy="685800"/>
          </a:xfrm>
          <a:prstGeom prst="roundRect">
            <a:avLst>
              <a:gd name="adj" fmla="val 8000"/>
            </a:avLst>
          </a:prstGeom>
          <a:solidFill>
            <a:srgbClr val="F3F6FB"/>
          </a:solidFill>
          <a:ln w="12700">
            <a:solidFill>
              <a:srgbClr val="003366"/>
            </a:solidFill>
          </a:ln>
          <a:effectLst/>
        </p:spPr>
        <p:txBody>
          <a:bodyPr wrap="square" rtlCol="0" anchor="ctr" lIns="73152" rIns="73152" tIns="36576" bIns="36576"/>
          <a:lstStyle/>
          <a:p>
            <a:pPr algn="ctr">
              <a:spcBef>
                <a:spcPts val="0"/>
              </a:spcBef>
              <a:spcAft>
                <a:spcPts val="0"/>
              </a:spcAft>
              <a:buNone/>
            </a:pPr>
            <a:r>
              <a:rPr sz="1650" b="1">
                <a:solidFill>
                  <a:srgbClr val="003366"/>
                </a:solidFill>
                <a:latin typeface="Roboto Black"/>
                <a:ea typeface="Roboto Black"/>
                <a:cs typeface="Roboto Black"/>
              </a:rPr>
              <a:t>l₁</a:t>
            </a:r>
          </a:p>
        </p:txBody>
      </p:sp>
      <p:cxnSp>
        <p:nvCxnSpPr>
          <p:cNvPr id="25" name="Connector 25"/>
          <p:cNvCxnSpPr/>
          <p:nvPr/>
        </p:nvCxnSpPr>
        <p:spPr>
          <a:xfrm>
            <a:off x="3785616" y="1623060"/>
            <a:ext cx="429768" cy="0"/>
          </a:xfrm>
          <a:prstGeom prst="straightConnector1">
            <a:avLst/>
          </a:prstGeom>
          <a:ln w="22225">
            <a:solidFill>
              <a:srgbClr val="003366"/>
            </a:solidFill>
            <a:tailEnd type="triangle" w="med" len="med"/>
          </a:ln>
        </p:spPr>
      </p:cxnSp>
      <p:sp>
        <p:nvSpPr>
          <p:cNvPr id="26" name="Shape 26"/>
          <p:cNvSpPr/>
          <p:nvPr/>
        </p:nvSpPr>
        <p:spPr>
          <a:xfrm>
            <a:off x="4251960" y="1280160"/>
            <a:ext cx="1417320" cy="685800"/>
          </a:xfrm>
          <a:prstGeom prst="roundRect">
            <a:avLst>
              <a:gd name="adj" fmla="val 8000"/>
            </a:avLst>
          </a:prstGeom>
          <a:solidFill>
            <a:srgbClr val="F3F6FB"/>
          </a:solidFill>
          <a:ln w="12700">
            <a:solidFill>
              <a:srgbClr val="003366"/>
            </a:solidFill>
          </a:ln>
          <a:effectLst/>
        </p:spPr>
        <p:txBody>
          <a:bodyPr wrap="square" rtlCol="0" anchor="ctr" lIns="73152" rIns="73152" tIns="36576" bIns="36576"/>
          <a:lstStyle/>
          <a:p>
            <a:pPr algn="ctr">
              <a:spcBef>
                <a:spcPts val="0"/>
              </a:spcBef>
              <a:spcAft>
                <a:spcPts val="0"/>
              </a:spcAft>
              <a:buNone/>
            </a:pPr>
            <a:r>
              <a:rPr sz="1650" b="1">
                <a:solidFill>
                  <a:srgbClr val="003366"/>
                </a:solidFill>
                <a:latin typeface="Roboto Black"/>
                <a:ea typeface="Roboto Black"/>
                <a:cs typeface="Roboto Black"/>
              </a:rPr>
              <a:t>…</a:t>
            </a:r>
          </a:p>
        </p:txBody>
      </p:sp>
      <p:cxnSp>
        <p:nvCxnSpPr>
          <p:cNvPr id="27" name="Connector 27"/>
          <p:cNvCxnSpPr/>
          <p:nvPr/>
        </p:nvCxnSpPr>
        <p:spPr>
          <a:xfrm>
            <a:off x="5705856" y="1623060"/>
            <a:ext cx="429768" cy="0"/>
          </a:xfrm>
          <a:prstGeom prst="straightConnector1">
            <a:avLst/>
          </a:prstGeom>
          <a:ln w="22225">
            <a:solidFill>
              <a:srgbClr val="003366"/>
            </a:solidFill>
            <a:tailEnd type="triangle" w="med" len="med"/>
          </a:ln>
        </p:spPr>
      </p:cxnSp>
      <p:sp>
        <p:nvSpPr>
          <p:cNvPr id="28" name="Shape 28"/>
          <p:cNvSpPr/>
          <p:nvPr/>
        </p:nvSpPr>
        <p:spPr>
          <a:xfrm>
            <a:off x="6172200" y="1280160"/>
            <a:ext cx="1417320" cy="685800"/>
          </a:xfrm>
          <a:prstGeom prst="roundRect">
            <a:avLst>
              <a:gd name="adj" fmla="val 8000"/>
            </a:avLst>
          </a:prstGeom>
          <a:solidFill>
            <a:srgbClr val="FCF4F4"/>
          </a:solidFill>
          <a:ln w="15875">
            <a:solidFill>
              <a:srgbClr val="C00000"/>
            </a:solidFill>
          </a:ln>
          <a:effectLst/>
        </p:spPr>
        <p:txBody>
          <a:bodyPr wrap="square" rtlCol="0" anchor="ctr" lIns="73152" rIns="73152" tIns="36576" bIns="36576"/>
          <a:lstStyle/>
          <a:p>
            <a:pPr algn="ctr">
              <a:spcBef>
                <a:spcPts val="0"/>
              </a:spcBef>
              <a:spcAft>
                <a:spcPts val="0"/>
              </a:spcAft>
              <a:buNone/>
            </a:pPr>
            <a:r>
              <a:rPr sz="1550" b="1">
                <a:solidFill>
                  <a:srgbClr val="C00000"/>
                </a:solidFill>
                <a:latin typeface="Roboto Black"/>
                <a:ea typeface="Roboto Black"/>
                <a:cs typeface="Roboto Black"/>
              </a:rPr>
              <a:t>lₘ₋₁  (decoy)</a:t>
            </a:r>
          </a:p>
        </p:txBody>
      </p:sp>
      <p:cxnSp>
        <p:nvCxnSpPr>
          <p:cNvPr id="29" name="Connector 29"/>
          <p:cNvCxnSpPr/>
          <p:nvPr/>
        </p:nvCxnSpPr>
        <p:spPr>
          <a:xfrm>
            <a:off x="7626096" y="1623060"/>
            <a:ext cx="429768" cy="0"/>
          </a:xfrm>
          <a:prstGeom prst="straightConnector1">
            <a:avLst/>
          </a:prstGeom>
          <a:ln w="22225">
            <a:solidFill>
              <a:srgbClr val="003366"/>
            </a:solidFill>
            <a:tailEnd type="triangle" w="med" len="med"/>
          </a:ln>
        </p:spPr>
      </p:cxnSp>
      <p:sp>
        <p:nvSpPr>
          <p:cNvPr id="30" name="Shape 30"/>
          <p:cNvSpPr/>
          <p:nvPr/>
        </p:nvSpPr>
        <p:spPr>
          <a:xfrm>
            <a:off x="8092440" y="1280160"/>
            <a:ext cx="1417320" cy="685800"/>
          </a:xfrm>
          <a:prstGeom prst="roundRect">
            <a:avLst>
              <a:gd name="adj" fmla="val 8000"/>
            </a:avLst>
          </a:prstGeom>
          <a:solidFill>
            <a:srgbClr val="003366"/>
          </a:solidFill>
          <a:ln>
            <a:noFill/>
          </a:ln>
          <a:effectLst/>
        </p:spPr>
        <p:txBody>
          <a:bodyPr wrap="square" rtlCol="0" anchor="ctr" lIns="73152" rIns="73152" tIns="36576" bIns="36576"/>
          <a:lstStyle/>
          <a:p>
            <a:pPr algn="ctr">
              <a:spcBef>
                <a:spcPts val="0"/>
              </a:spcBef>
              <a:spcAft>
                <a:spcPts val="0"/>
              </a:spcAft>
              <a:buNone/>
            </a:pPr>
            <a:r>
              <a:rPr sz="1550" b="1">
                <a:solidFill>
                  <a:srgbClr val="FFFFFF"/>
                </a:solidFill>
                <a:latin typeface="Roboto Black"/>
                <a:ea typeface="Roboto Black"/>
                <a:cs typeface="Roboto Black"/>
              </a:rPr>
              <a:t>lₘ  (đích)</a:t>
            </a:r>
          </a:p>
        </p:txBody>
      </p:sp>
      <p:sp>
        <p:nvSpPr>
          <p:cNvPr id="31" name="TextBox 31"/>
          <p:cNvSpPr txBox="1"/>
          <p:nvPr/>
        </p:nvSpPr>
        <p:spPr>
          <a:xfrm>
            <a:off x="9738360" y="1188720"/>
            <a:ext cx="2039112" cy="914400"/>
          </a:xfrm>
          <a:prstGeom prst="rect">
            <a:avLst/>
          </a:prstGeom>
          <a:noFill/>
        </p:spPr>
        <p:txBody>
          <a:bodyPr wrap="square" anchor="ctr" lIns="45720" rIns="45720" tIns="18288" bIns="18288"/>
          <a:lstStyle/>
          <a:p>
            <a:pPr>
              <a:spcBef>
                <a:spcPts val="0"/>
              </a:spcBef>
              <a:spcAft>
                <a:spcPts val="0"/>
              </a:spcAft>
              <a:buNone/>
            </a:pPr>
            <a:r>
              <a:rPr sz="1450" b="0">
                <a:solidFill>
                  <a:srgbClr val="222222"/>
                </a:solidFill>
                <a:latin typeface="Roboto Medium"/>
                <a:ea typeface="Roboto Medium"/>
                <a:cs typeface="Roboto Medium"/>
              </a:rPr>
              <a:t xml:space="preserve">5 agent, mỗi agent chỉ thấy một </a:t>
            </a:r>
            <a:r>
              <a:rPr sz="1450" b="1">
                <a:solidFill>
                  <a:srgbClr val="003366"/>
                </a:solidFill>
                <a:latin typeface="Roboto Black"/>
                <a:ea typeface="Roboto Black"/>
                <a:cs typeface="Roboto Black"/>
              </a:rPr>
              <a:t>cửa sổ quan sát</a:t>
            </a:r>
            <a:r>
              <a:rPr sz="1450" b="0">
                <a:solidFill>
                  <a:srgbClr val="222222"/>
                </a:solidFill>
                <a:latin typeface="Roboto Medium"/>
                <a:ea typeface="Roboto Medium"/>
                <a:cs typeface="Roboto Medium"/>
              </a:rPr>
              <a:t xml:space="preserve"> (đoạn con của chuỗi).</a:t>
            </a:r>
          </a:p>
        </p:txBody>
      </p:sp>
      <p:sp>
        <p:nvSpPr>
          <p:cNvPr id="32" name="Card 32"/>
          <p:cNvSpPr/>
          <p:nvPr/>
        </p:nvSpPr>
        <p:spPr>
          <a:xfrm>
            <a:off x="411480" y="2240280"/>
            <a:ext cx="3605784" cy="128016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3" name="Card bar 33"/>
          <p:cNvSpPr/>
          <p:nvPr/>
        </p:nvSpPr>
        <p:spPr>
          <a:xfrm>
            <a:off x="411480" y="2240280"/>
            <a:ext cx="3605784" cy="54864"/>
          </a:xfrm>
          <a:prstGeom prst="rect">
            <a:avLst/>
          </a:prstGeom>
          <a:solidFill>
            <a:srgbClr val="003366"/>
          </a:solidFill>
          <a:ln>
            <a:noFill/>
          </a:ln>
          <a:effectLst/>
        </p:spPr>
        <p:txBody>
          <a:bodyPr wrap="square" rtlCol="0" anchor="ctr" lIns="73152" rIns="73152" tIns="36576" bIns="36576"/>
          <a:lstStyle/>
          <a:p/>
        </p:txBody>
      </p:sp>
      <p:sp>
        <p:nvSpPr>
          <p:cNvPr id="34" name="TextBox 34"/>
          <p:cNvSpPr txBox="1"/>
          <p:nvPr/>
        </p:nvSpPr>
        <p:spPr>
          <a:xfrm>
            <a:off x="521208" y="2331720"/>
            <a:ext cx="3386328" cy="1143000"/>
          </a:xfrm>
          <a:prstGeom prst="rect">
            <a:avLst/>
          </a:prstGeom>
          <a:noFill/>
        </p:spPr>
        <p:txBody>
          <a:bodyPr wrap="square" anchor="t" lIns="45720" rIns="45720" tIns="18288" bIns="18288"/>
          <a:lstStyle/>
          <a:p>
            <a:pPr>
              <a:spcBef>
                <a:spcPts val="0"/>
              </a:spcBef>
              <a:spcAft>
                <a:spcPts val="0"/>
              </a:spcAft>
              <a:buNone/>
            </a:pPr>
            <a:r>
              <a:rPr sz="1600" b="1">
                <a:solidFill>
                  <a:srgbClr val="003366"/>
                </a:solidFill>
                <a:latin typeface="Roboto Black"/>
                <a:ea typeface="Roboto Black"/>
                <a:cs typeface="Roboto Black"/>
              </a:rPr>
              <a:t>Partial observability</a:t>
            </a:r>
          </a:p>
          <a:p>
            <a:pPr>
              <a:spcBef>
                <a:spcPts val="300"/>
              </a:spcBef>
              <a:spcAft>
                <a:spcPts val="0"/>
              </a:spcAft>
              <a:buNone/>
            </a:pPr>
            <a:r>
              <a:rPr sz="1400" b="0">
                <a:solidFill>
                  <a:srgbClr val="222222"/>
                </a:solidFill>
                <a:latin typeface="Roboto Medium"/>
                <a:ea typeface="Roboto Medium"/>
                <a:cs typeface="Roboto Medium"/>
              </a:rPr>
              <a:t>Không agent nào thấy toàn bộ chuỗi hay biết vị trí cuối.</a:t>
            </a:r>
          </a:p>
        </p:txBody>
      </p:sp>
      <p:sp>
        <p:nvSpPr>
          <p:cNvPr id="35" name="Card 35"/>
          <p:cNvSpPr/>
          <p:nvPr/>
        </p:nvSpPr>
        <p:spPr>
          <a:xfrm>
            <a:off x="4291584" y="2240280"/>
            <a:ext cx="3605784" cy="128016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6" name="Card bar 36"/>
          <p:cNvSpPr/>
          <p:nvPr/>
        </p:nvSpPr>
        <p:spPr>
          <a:xfrm>
            <a:off x="4291584" y="2240280"/>
            <a:ext cx="3605784" cy="54864"/>
          </a:xfrm>
          <a:prstGeom prst="rect">
            <a:avLst/>
          </a:prstGeom>
          <a:solidFill>
            <a:srgbClr val="003366"/>
          </a:solidFill>
          <a:ln>
            <a:noFill/>
          </a:ln>
          <a:effectLst/>
        </p:spPr>
        <p:txBody>
          <a:bodyPr wrap="square" rtlCol="0" anchor="ctr" lIns="73152" rIns="73152" tIns="36576" bIns="36576"/>
          <a:lstStyle/>
          <a:p/>
        </p:txBody>
      </p:sp>
      <p:sp>
        <p:nvSpPr>
          <p:cNvPr id="37" name="TextBox 37"/>
          <p:cNvSpPr txBox="1"/>
          <p:nvPr/>
        </p:nvSpPr>
        <p:spPr>
          <a:xfrm>
            <a:off x="4401312" y="2331720"/>
            <a:ext cx="3386328" cy="1143000"/>
          </a:xfrm>
          <a:prstGeom prst="rect">
            <a:avLst/>
          </a:prstGeom>
          <a:noFill/>
        </p:spPr>
        <p:txBody>
          <a:bodyPr wrap="square" anchor="t" lIns="45720" rIns="45720" tIns="18288" bIns="18288"/>
          <a:lstStyle/>
          <a:p>
            <a:pPr>
              <a:spcBef>
                <a:spcPts val="0"/>
              </a:spcBef>
              <a:spcAft>
                <a:spcPts val="0"/>
              </a:spcAft>
              <a:buNone/>
            </a:pPr>
            <a:r>
              <a:rPr sz="1600" b="1">
                <a:solidFill>
                  <a:srgbClr val="003366"/>
                </a:solidFill>
                <a:latin typeface="Roboto Black"/>
                <a:ea typeface="Roboto Black"/>
                <a:cs typeface="Roboto Black"/>
              </a:rPr>
              <a:t>Information sufficiency</a:t>
            </a:r>
          </a:p>
          <a:p>
            <a:pPr>
              <a:spcBef>
                <a:spcPts val="300"/>
              </a:spcBef>
              <a:spcAft>
                <a:spcPts val="0"/>
              </a:spcAft>
              <a:buNone/>
            </a:pPr>
            <a:r>
              <a:rPr sz="1400" b="0">
                <a:solidFill>
                  <a:srgbClr val="222222"/>
                </a:solidFill>
                <a:latin typeface="Roboto Medium"/>
                <a:ea typeface="Roboto Medium"/>
                <a:cs typeface="Roboto Medium"/>
              </a:rPr>
              <a:t>Gộp bằng chứng của nhóm xác định duy nhất lₘ → thất bại là do giao tiếp.</a:t>
            </a:r>
          </a:p>
        </p:txBody>
      </p:sp>
      <p:sp>
        <p:nvSpPr>
          <p:cNvPr id="38" name="Card 38"/>
          <p:cNvSpPr/>
          <p:nvPr/>
        </p:nvSpPr>
        <p:spPr>
          <a:xfrm>
            <a:off x="8171688" y="2240280"/>
            <a:ext cx="3605784" cy="128016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9" name="Card bar 39"/>
          <p:cNvSpPr/>
          <p:nvPr/>
        </p:nvSpPr>
        <p:spPr>
          <a:xfrm>
            <a:off x="8171688" y="2240280"/>
            <a:ext cx="3605784" cy="54864"/>
          </a:xfrm>
          <a:prstGeom prst="rect">
            <a:avLst/>
          </a:prstGeom>
          <a:solidFill>
            <a:srgbClr val="003366"/>
          </a:solidFill>
          <a:ln>
            <a:noFill/>
          </a:ln>
          <a:effectLst/>
        </p:spPr>
        <p:txBody>
          <a:bodyPr wrap="square" rtlCol="0" anchor="ctr" lIns="73152" rIns="73152" tIns="36576" bIns="36576"/>
          <a:lstStyle/>
          <a:p/>
        </p:txBody>
      </p:sp>
      <p:sp>
        <p:nvSpPr>
          <p:cNvPr id="40" name="TextBox 40"/>
          <p:cNvSpPr txBox="1"/>
          <p:nvPr/>
        </p:nvSpPr>
        <p:spPr>
          <a:xfrm>
            <a:off x="8281416" y="2331720"/>
            <a:ext cx="3386328" cy="1143000"/>
          </a:xfrm>
          <a:prstGeom prst="rect">
            <a:avLst/>
          </a:prstGeom>
          <a:noFill/>
        </p:spPr>
        <p:txBody>
          <a:bodyPr wrap="square" anchor="t" lIns="45720" rIns="45720" tIns="18288" bIns="18288"/>
          <a:lstStyle/>
          <a:p>
            <a:pPr>
              <a:spcBef>
                <a:spcPts val="0"/>
              </a:spcBef>
              <a:spcAft>
                <a:spcPts val="0"/>
              </a:spcAft>
              <a:buNone/>
            </a:pPr>
            <a:r>
              <a:rPr sz="1600" b="1">
                <a:solidFill>
                  <a:srgbClr val="003366"/>
                </a:solidFill>
                <a:latin typeface="Roboto Black"/>
                <a:ea typeface="Roboto Black"/>
                <a:cs typeface="Roboto Black"/>
              </a:rPr>
              <a:t>Information overlap</a:t>
            </a:r>
          </a:p>
          <a:p>
            <a:pPr>
              <a:spcBef>
                <a:spcPts val="300"/>
              </a:spcBef>
              <a:spcAft>
                <a:spcPts val="0"/>
              </a:spcAft>
              <a:buNone/>
            </a:pPr>
            <a:r>
              <a:rPr sz="1400" b="0">
                <a:solidFill>
                  <a:srgbClr val="222222"/>
                </a:solidFill>
                <a:latin typeface="Roboto Medium"/>
                <a:ea typeface="Roboto Medium"/>
                <a:cs typeface="Roboto Medium"/>
              </a:rPr>
              <a:t>Các cửa sổ chồng lấn một phần → phải đối chiếu, không chỉ ghép nối.</a:t>
            </a:r>
          </a:p>
        </p:txBody>
      </p:sp>
      <p:sp>
        <p:nvSpPr>
          <p:cNvPr id="41" name="Card 41"/>
          <p:cNvSpPr/>
          <p:nvPr/>
        </p:nvSpPr>
        <p:spPr>
          <a:xfrm>
            <a:off x="411480" y="3703320"/>
            <a:ext cx="3566160" cy="219456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42" name="Card bar 42"/>
          <p:cNvSpPr/>
          <p:nvPr/>
        </p:nvSpPr>
        <p:spPr>
          <a:xfrm>
            <a:off x="411480" y="3703320"/>
            <a:ext cx="3566160" cy="54864"/>
          </a:xfrm>
          <a:prstGeom prst="rect">
            <a:avLst/>
          </a:prstGeom>
          <a:solidFill>
            <a:srgbClr val="003366"/>
          </a:solidFill>
          <a:ln>
            <a:noFill/>
          </a:ln>
          <a:effectLst/>
        </p:spPr>
        <p:txBody>
          <a:bodyPr wrap="square" rtlCol="0" anchor="ctr" lIns="73152" rIns="73152" tIns="36576" bIns="36576"/>
          <a:lstStyle/>
          <a:p/>
        </p:txBody>
      </p:sp>
      <p:sp>
        <p:nvSpPr>
          <p:cNvPr id="43" name="TextBox 43"/>
          <p:cNvSpPr txBox="1"/>
          <p:nvPr/>
        </p:nvSpPr>
        <p:spPr>
          <a:xfrm>
            <a:off x="521208" y="3794760"/>
            <a:ext cx="3346704" cy="2057400"/>
          </a:xfrm>
          <a:prstGeom prst="rect">
            <a:avLst/>
          </a:prstGeom>
          <a:noFill/>
        </p:spPr>
        <p:txBody>
          <a:bodyPr wrap="square" anchor="t" lIns="45720" rIns="45720" tIns="18288" bIns="18288"/>
          <a:lstStyle/>
          <a:p>
            <a:pPr>
              <a:spcBef>
                <a:spcPts val="0"/>
              </a:spcBef>
              <a:spcAft>
                <a:spcPts val="0"/>
              </a:spcAft>
              <a:buNone/>
            </a:pPr>
            <a:r>
              <a:rPr sz="1600" b="1">
                <a:solidFill>
                  <a:srgbClr val="003366"/>
                </a:solidFill>
                <a:latin typeface="Roboto Black"/>
                <a:ea typeface="Roboto Black"/>
                <a:cs typeface="Roboto Black"/>
              </a:rPr>
              <a:t>Hai điều kiện ghép cặp</a:t>
            </a:r>
          </a:p>
          <a:p>
            <a:pPr marL="114550" indent="-114550">
              <a:spcBef>
                <a:spcPts val="400"/>
              </a:spcBef>
              <a:spcAft>
                <a:spcPts val="0"/>
              </a:spcAft>
              <a:buClr>
                <a:srgbClr val="C00000"/>
              </a:buClr>
              <a:buFont typeface="Arial"/>
              <a:buChar char="•"/>
            </a:pPr>
            <a:r>
              <a:rPr sz="1450" b="1">
                <a:solidFill>
                  <a:srgbClr val="003366"/>
                </a:solidFill>
                <a:latin typeface="Roboto Black"/>
                <a:ea typeface="Roboto Black"/>
                <a:cs typeface="Roboto Black"/>
              </a:rPr>
              <a:t>C0:</a:t>
            </a:r>
            <a:r>
              <a:rPr sz="1450" b="0">
                <a:solidFill>
                  <a:srgbClr val="222222"/>
                </a:solidFill>
                <a:latin typeface="Roboto Medium"/>
                <a:ea typeface="Roboto Medium"/>
                <a:cs typeface="Roboto Medium"/>
              </a:rPr>
              <a:t xml:space="preserve"> cả 5 agent trung thực.</a:t>
            </a:r>
          </a:p>
          <a:p>
            <a:pPr marL="114550" indent="-114550">
              <a:spcBef>
                <a:spcPts val="300"/>
              </a:spcBef>
              <a:spcAft>
                <a:spcPts val="0"/>
              </a:spcAft>
              <a:buClr>
                <a:srgbClr val="C00000"/>
              </a:buClr>
              <a:buFont typeface="Arial"/>
              <a:buChar char="•"/>
            </a:pPr>
            <a:r>
              <a:rPr sz="1450" b="1">
                <a:solidFill>
                  <a:srgbClr val="C00000"/>
                </a:solidFill>
                <a:latin typeface="Roboto Black"/>
                <a:ea typeface="Roboto Black"/>
                <a:cs typeface="Roboto Black"/>
              </a:rPr>
              <a:t>C1:</a:t>
            </a:r>
            <a:r>
              <a:rPr sz="1450" b="0">
                <a:solidFill>
                  <a:srgbClr val="222222"/>
                </a:solidFill>
                <a:latin typeface="Roboto Medium"/>
                <a:ea typeface="Roboto Medium"/>
                <a:cs typeface="Roboto Medium"/>
              </a:rPr>
              <a:t xml:space="preserve"> key agent (thấy bước cuối) nói dối, đẩy nhóm về decoy lₘ₋₁.</a:t>
            </a:r>
          </a:p>
          <a:p>
            <a:pPr>
              <a:spcBef>
                <a:spcPts val="400"/>
              </a:spcBef>
              <a:spcAft>
                <a:spcPts val="0"/>
              </a:spcAft>
              <a:buNone/>
            </a:pPr>
            <a:r>
              <a:rPr sz="1300" b="0">
                <a:solidFill>
                  <a:srgbClr val="666666"/>
                </a:solidFill>
                <a:latin typeface="Roboto Medium"/>
                <a:ea typeface="Roboto Medium"/>
                <a:cs typeface="Roboto Medium"/>
              </a:rPr>
              <a:t>Cùng chuỗi, cùng cửa sổ; chỉ khác thông tin của key agent.</a:t>
            </a:r>
          </a:p>
        </p:txBody>
      </p:sp>
      <p:graphicFrame>
        <p:nvGraphicFramePr>
          <p:cNvPr id="44" name="Table 44"/>
          <p:cNvGraphicFramePr>
            <a:graphicFrameLocks noGrp="1"/>
          </p:cNvGraphicFramePr>
          <p:nvPr/>
        </p:nvGraphicFramePr>
        <p:xfrm>
          <a:off x="4206240" y="3703320"/>
          <a:ext cx="7571232" cy="2194560"/>
        </p:xfrm>
        <a:graphic>
          <a:graphicData uri="http://schemas.openxmlformats.org/drawingml/2006/table">
            <a:tbl>
              <a:tblPr firstRow="0" bandRow="0"/>
              <a:tblGrid>
                <a:gridCol w="1188720"/>
                <a:gridCol w="4050792"/>
                <a:gridCol w="2331720"/>
              </a:tblGrid>
              <a:tr h="548640">
                <a:tc>
                  <a:txBody>
                    <a:bodyPr wrap="square"/>
                    <a:lstStyle/>
                    <a:p>
                      <a:pPr>
                        <a:spcBef>
                          <a:spcPts val="0"/>
                        </a:spcBef>
                        <a:spcAft>
                          <a:spcPts val="0"/>
                        </a:spcAft>
                        <a:buNone/>
                      </a:pPr>
                      <a:r>
                        <a:rPr sz="1400" b="1">
                          <a:solidFill>
                            <a:srgbClr val="FFFFFF"/>
                          </a:solidFill>
                          <a:latin typeface="Roboto Black"/>
                          <a:ea typeface="Roboto Black"/>
                          <a:cs typeface="Roboto Black"/>
                        </a:rPr>
                        <a:t>Cơ chế</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spcBef>
                          <a:spcPts val="0"/>
                        </a:spcBef>
                        <a:spcAft>
                          <a:spcPts val="0"/>
                        </a:spcAft>
                        <a:buNone/>
                      </a:pPr>
                      <a:r>
                        <a:rPr sz="1400" b="1">
                          <a:solidFill>
                            <a:srgbClr val="FFFFFF"/>
                          </a:solidFill>
                          <a:latin typeface="Roboto Black"/>
                          <a:ea typeface="Roboto Black"/>
                          <a:cs typeface="Roboto Black"/>
                        </a:rPr>
                        <a:t>Cách nói dối của key agent</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spcBef>
                          <a:spcPts val="0"/>
                        </a:spcBef>
                        <a:spcAft>
                          <a:spcPts val="0"/>
                        </a:spcAft>
                        <a:buNone/>
                      </a:pPr>
                      <a:r>
                        <a:rPr sz="1400" b="1">
                          <a:solidFill>
                            <a:srgbClr val="FFFFFF"/>
                          </a:solidFill>
                          <a:latin typeface="Roboto Black"/>
                          <a:ea typeface="Roboto Black"/>
                          <a:cs typeface="Roboto Black"/>
                        </a:rPr>
                        <a:t>Số truyện</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r>
              <a:tr h="548640">
                <a:tc>
                  <a:txBody>
                    <a:bodyPr wrap="square"/>
                    <a:lstStyle/>
                    <a:p>
                      <a:pPr>
                        <a:spcBef>
                          <a:spcPts val="0"/>
                        </a:spcBef>
                        <a:spcAft>
                          <a:spcPts val="0"/>
                        </a:spcAft>
                        <a:buNone/>
                      </a:pPr>
                      <a:r>
                        <a:rPr sz="1400" b="1">
                          <a:solidFill>
                            <a:srgbClr val="003366"/>
                          </a:solidFill>
                          <a:latin typeface="Roboto Black"/>
                          <a:ea typeface="Roboto Black"/>
                          <a:cs typeface="Roboto Black"/>
                        </a:rPr>
                        <a:t>Event</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00" b="0">
                          <a:solidFill>
                            <a:srgbClr val="222222"/>
                          </a:solidFill>
                          <a:latin typeface="Roboto Medium"/>
                          <a:ea typeface="Roboto Medium"/>
                          <a:cs typeface="Roboto Medium"/>
                        </a:rPr>
                        <a:t>Bịa thêm bước lₘ → lₘ₋₁ sau đích thật</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00" b="0">
                          <a:solidFill>
                            <a:srgbClr val="222222"/>
                          </a:solidFill>
                          <a:latin typeface="Roboto Medium"/>
                          <a:ea typeface="Roboto Medium"/>
                          <a:cs typeface="Roboto Medium"/>
                        </a:rPr>
                        <a:t>40 (20 riêng, 20 công khai)</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548640">
                <a:tc>
                  <a:txBody>
                    <a:bodyPr wrap="square"/>
                    <a:lstStyle/>
                    <a:p>
                      <a:pPr>
                        <a:spcBef>
                          <a:spcPts val="0"/>
                        </a:spcBef>
                        <a:spcAft>
                          <a:spcPts val="0"/>
                        </a:spcAft>
                        <a:buNone/>
                      </a:pPr>
                      <a:r>
                        <a:rPr sz="1400" b="1">
                          <a:solidFill>
                            <a:srgbClr val="003366"/>
                          </a:solidFill>
                          <a:latin typeface="Roboto Black"/>
                          <a:ea typeface="Roboto Black"/>
                          <a:cs typeface="Roboto Black"/>
                        </a:rPr>
                        <a:t>Coverage</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00" b="0">
                          <a:solidFill>
                            <a:srgbClr val="222222"/>
                          </a:solidFill>
                          <a:latin typeface="Roboto Medium"/>
                          <a:ea typeface="Roboto Medium"/>
                          <a:cs typeface="Roboto Medium"/>
                        </a:rPr>
                        <a:t>Kéo dài cửa sổ quan sát, trình bày lₘ₋₁ như mới hơn lₘ</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00" b="0">
                          <a:solidFill>
                            <a:srgbClr val="222222"/>
                          </a:solidFill>
                          <a:latin typeface="Roboto Medium"/>
                          <a:ea typeface="Roboto Medium"/>
                          <a:cs typeface="Roboto Medium"/>
                        </a:rPr>
                        <a:t>40 (20 riêng, 20 công khai)</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548640">
                <a:tc>
                  <a:txBody>
                    <a:bodyPr wrap="square"/>
                    <a:lstStyle/>
                    <a:p>
                      <a:pPr>
                        <a:spcBef>
                          <a:spcPts val="0"/>
                        </a:spcBef>
                        <a:spcAft>
                          <a:spcPts val="0"/>
                        </a:spcAft>
                        <a:buNone/>
                      </a:pPr>
                      <a:r>
                        <a:rPr sz="1400" b="1">
                          <a:solidFill>
                            <a:srgbClr val="003366"/>
                          </a:solidFill>
                          <a:latin typeface="Roboto Black"/>
                          <a:ea typeface="Roboto Black"/>
                          <a:cs typeface="Roboto Black"/>
                        </a:rPr>
                        <a:t>Source</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00" b="0">
                          <a:solidFill>
                            <a:srgbClr val="222222"/>
                          </a:solidFill>
                          <a:latin typeface="Roboto Medium"/>
                          <a:ea typeface="Roboto Medium"/>
                          <a:cs typeface="Roboto Medium"/>
                        </a:rPr>
                        <a:t>Nói một báo cáo cũ về lₘ₋₁ được nhận sau bước cuối</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00" b="0">
                          <a:solidFill>
                            <a:srgbClr val="222222"/>
                          </a:solidFill>
                          <a:latin typeface="Roboto Medium"/>
                          <a:ea typeface="Roboto Medium"/>
                          <a:cs typeface="Roboto Medium"/>
                        </a:rPr>
                        <a:t>40 (kênh riêng)</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TIDE: Giao thức thảo luận và độ đo</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19</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Shape 21"/>
          <p:cNvSpPr/>
          <p:nvPr/>
        </p:nvSpPr>
        <p:spPr>
          <a:xfrm>
            <a:off x="411480" y="960120"/>
            <a:ext cx="2057400" cy="1600200"/>
          </a:xfrm>
          <a:prstGeom prst="roundRect">
            <a:avLst>
              <a:gd name="adj" fmla="val 8000"/>
            </a:avLst>
          </a:prstGeom>
          <a:solidFill>
            <a:srgbClr val="003366"/>
          </a:solidFill>
          <a:ln>
            <a:noFill/>
          </a:ln>
          <a:effectLst/>
        </p:spPr>
        <p:txBody>
          <a:bodyPr wrap="square" rtlCol="0" anchor="ctr" lIns="73152" rIns="73152" tIns="36576" bIns="36576"/>
          <a:lstStyle/>
          <a:p>
            <a:pPr algn="ctr">
              <a:spcBef>
                <a:spcPts val="0"/>
              </a:spcBef>
              <a:spcAft>
                <a:spcPts val="0"/>
              </a:spcAft>
              <a:buNone/>
            </a:pPr>
            <a:r>
              <a:rPr sz="2200" b="1">
                <a:solidFill>
                  <a:srgbClr val="FFFFFF"/>
                </a:solidFill>
                <a:latin typeface="Roboto Black"/>
                <a:ea typeface="Roboto Black"/>
                <a:cs typeface="Roboto Black"/>
              </a:rPr>
              <a:t>T0</a:t>
            </a:r>
          </a:p>
          <a:p>
            <a:pPr algn="ctr">
              <a:spcBef>
                <a:spcPts val="100"/>
              </a:spcBef>
              <a:spcAft>
                <a:spcPts val="0"/>
              </a:spcAft>
              <a:buNone/>
            </a:pPr>
            <a:r>
              <a:rPr sz="1500" b="1">
                <a:solidFill>
                  <a:srgbClr val="FFFFFF"/>
                </a:solidFill>
                <a:latin typeface="Roboto Black"/>
                <a:ea typeface="Roboto Black"/>
                <a:cs typeface="Roboto Black"/>
              </a:rPr>
              <a:t>Phán đoán riêng</a:t>
            </a:r>
          </a:p>
          <a:p>
            <a:pPr algn="ctr">
              <a:spcBef>
                <a:spcPts val="200"/>
              </a:spcBef>
              <a:spcAft>
                <a:spcPts val="0"/>
              </a:spcAft>
              <a:buNone/>
            </a:pPr>
            <a:r>
              <a:rPr sz="1250" b="0">
                <a:solidFill>
                  <a:srgbClr val="FFFFFF"/>
                </a:solidFill>
                <a:latin typeface="Roboto Medium"/>
                <a:ea typeface="Roboto Medium"/>
                <a:cs typeface="Roboto Medium"/>
              </a:rPr>
              <a:t>chỉ dựa trên cửa sổ quan sát</a:t>
            </a:r>
          </a:p>
        </p:txBody>
      </p:sp>
      <p:cxnSp>
        <p:nvCxnSpPr>
          <p:cNvPr id="22" name="Connector 22"/>
          <p:cNvCxnSpPr/>
          <p:nvPr/>
        </p:nvCxnSpPr>
        <p:spPr>
          <a:xfrm>
            <a:off x="2496312" y="1760220"/>
            <a:ext cx="214884" cy="0"/>
          </a:xfrm>
          <a:prstGeom prst="straightConnector1">
            <a:avLst/>
          </a:prstGeom>
          <a:ln w="22225">
            <a:solidFill>
              <a:srgbClr val="003366"/>
            </a:solidFill>
            <a:tailEnd type="triangle" w="med" len="med"/>
          </a:ln>
        </p:spPr>
      </p:cxnSp>
      <p:sp>
        <p:nvSpPr>
          <p:cNvPr id="23" name="Shape 23"/>
          <p:cNvSpPr/>
          <p:nvPr/>
        </p:nvSpPr>
        <p:spPr>
          <a:xfrm>
            <a:off x="2738628" y="960120"/>
            <a:ext cx="2057400" cy="1600200"/>
          </a:xfrm>
          <a:prstGeom prst="roundRect">
            <a:avLst>
              <a:gd name="adj" fmla="val 8000"/>
            </a:avLst>
          </a:prstGeom>
          <a:solidFill>
            <a:srgbClr val="003366"/>
          </a:solidFill>
          <a:ln>
            <a:noFill/>
          </a:ln>
          <a:effectLst/>
        </p:spPr>
        <p:txBody>
          <a:bodyPr wrap="square" rtlCol="0" anchor="ctr" lIns="73152" rIns="73152" tIns="36576" bIns="36576"/>
          <a:lstStyle/>
          <a:p>
            <a:pPr algn="ctr">
              <a:spcBef>
                <a:spcPts val="0"/>
              </a:spcBef>
              <a:spcAft>
                <a:spcPts val="0"/>
              </a:spcAft>
              <a:buNone/>
            </a:pPr>
            <a:r>
              <a:rPr sz="2200" b="1">
                <a:solidFill>
                  <a:srgbClr val="FFFFFF"/>
                </a:solidFill>
                <a:latin typeface="Roboto Black"/>
                <a:ea typeface="Roboto Black"/>
                <a:cs typeface="Roboto Black"/>
              </a:rPr>
              <a:t>T1</a:t>
            </a:r>
          </a:p>
          <a:p>
            <a:pPr algn="ctr">
              <a:spcBef>
                <a:spcPts val="100"/>
              </a:spcBef>
              <a:spcAft>
                <a:spcPts val="0"/>
              </a:spcAft>
              <a:buNone/>
            </a:pPr>
            <a:r>
              <a:rPr sz="1500" b="1">
                <a:solidFill>
                  <a:srgbClr val="FFFFFF"/>
                </a:solidFill>
                <a:latin typeface="Roboto Black"/>
                <a:ea typeface="Roboto Black"/>
                <a:cs typeface="Roboto Black"/>
              </a:rPr>
              <a:t>Sau testimony</a:t>
            </a:r>
          </a:p>
          <a:p>
            <a:pPr algn="ctr">
              <a:spcBef>
                <a:spcPts val="200"/>
              </a:spcBef>
              <a:spcAft>
                <a:spcPts val="0"/>
              </a:spcAft>
              <a:buNone/>
            </a:pPr>
            <a:r>
              <a:rPr sz="1250" b="0">
                <a:solidFill>
                  <a:srgbClr val="FFFFFF"/>
                </a:solidFill>
                <a:latin typeface="Roboto Medium"/>
                <a:ea typeface="Roboto Medium"/>
                <a:cs typeface="Roboto Medium"/>
              </a:rPr>
              <a:t>đọc tin nhắn và testimony của agent khác</a:t>
            </a:r>
          </a:p>
        </p:txBody>
      </p:sp>
      <p:cxnSp>
        <p:nvCxnSpPr>
          <p:cNvPr id="24" name="Connector 24"/>
          <p:cNvCxnSpPr/>
          <p:nvPr/>
        </p:nvCxnSpPr>
        <p:spPr>
          <a:xfrm>
            <a:off x="4823460" y="1760220"/>
            <a:ext cx="214884" cy="0"/>
          </a:xfrm>
          <a:prstGeom prst="straightConnector1">
            <a:avLst/>
          </a:prstGeom>
          <a:ln w="22225">
            <a:solidFill>
              <a:srgbClr val="003366"/>
            </a:solidFill>
            <a:tailEnd type="triangle" w="med" len="med"/>
          </a:ln>
        </p:spPr>
      </p:cxnSp>
      <p:sp>
        <p:nvSpPr>
          <p:cNvPr id="25" name="Shape 25"/>
          <p:cNvSpPr/>
          <p:nvPr/>
        </p:nvSpPr>
        <p:spPr>
          <a:xfrm>
            <a:off x="5065776" y="960120"/>
            <a:ext cx="2057400" cy="1600200"/>
          </a:xfrm>
          <a:prstGeom prst="roundRect">
            <a:avLst>
              <a:gd name="adj" fmla="val 8000"/>
            </a:avLst>
          </a:prstGeom>
          <a:solidFill>
            <a:srgbClr val="F3F6FB"/>
          </a:solidFill>
          <a:ln w="12700">
            <a:solidFill>
              <a:srgbClr val="003366"/>
            </a:solidFill>
          </a:ln>
          <a:effectLst/>
        </p:spPr>
        <p:txBody>
          <a:bodyPr wrap="square" rtlCol="0" anchor="ctr" lIns="73152" rIns="73152" tIns="36576" bIns="36576"/>
          <a:lstStyle/>
          <a:p>
            <a:pPr algn="ctr">
              <a:spcBef>
                <a:spcPts val="0"/>
              </a:spcBef>
              <a:spcAft>
                <a:spcPts val="0"/>
              </a:spcAft>
              <a:buNone/>
            </a:pPr>
            <a:r>
              <a:rPr sz="2200" b="1">
                <a:solidFill>
                  <a:srgbClr val="003366"/>
                </a:solidFill>
                <a:latin typeface="Roboto Black"/>
                <a:ea typeface="Roboto Black"/>
                <a:cs typeface="Roboto Black"/>
              </a:rPr>
              <a:t>R1</a:t>
            </a:r>
          </a:p>
          <a:p>
            <a:pPr algn="ctr">
              <a:spcBef>
                <a:spcPts val="100"/>
              </a:spcBef>
              <a:spcAft>
                <a:spcPts val="0"/>
              </a:spcAft>
              <a:buNone/>
            </a:pPr>
            <a:r>
              <a:rPr sz="1500" b="1">
                <a:solidFill>
                  <a:srgbClr val="003366"/>
                </a:solidFill>
                <a:latin typeface="Roboto Black"/>
                <a:ea typeface="Roboto Black"/>
                <a:cs typeface="Roboto Black"/>
              </a:rPr>
              <a:t>Thảo luận 1</a:t>
            </a:r>
          </a:p>
          <a:p>
            <a:pPr algn="ctr">
              <a:spcBef>
                <a:spcPts val="200"/>
              </a:spcBef>
              <a:spcAft>
                <a:spcPts val="0"/>
              </a:spcAft>
              <a:buNone/>
            </a:pPr>
            <a:r>
              <a:rPr sz="1250" b="0">
                <a:solidFill>
                  <a:srgbClr val="222222"/>
                </a:solidFill>
                <a:latin typeface="Roboto Medium"/>
                <a:ea typeface="Roboto Medium"/>
                <a:cs typeface="Roboto Medium"/>
              </a:rPr>
              <a:t>dựng timeline ứng viên, tìm mâu thuẫn</a:t>
            </a:r>
          </a:p>
        </p:txBody>
      </p:sp>
      <p:cxnSp>
        <p:nvCxnSpPr>
          <p:cNvPr id="26" name="Connector 26"/>
          <p:cNvCxnSpPr/>
          <p:nvPr/>
        </p:nvCxnSpPr>
        <p:spPr>
          <a:xfrm>
            <a:off x="7150608" y="1760220"/>
            <a:ext cx="214884" cy="0"/>
          </a:xfrm>
          <a:prstGeom prst="straightConnector1">
            <a:avLst/>
          </a:prstGeom>
          <a:ln w="22225">
            <a:solidFill>
              <a:srgbClr val="003366"/>
            </a:solidFill>
            <a:tailEnd type="triangle" w="med" len="med"/>
          </a:ln>
        </p:spPr>
      </p:cxnSp>
      <p:sp>
        <p:nvSpPr>
          <p:cNvPr id="27" name="Shape 27"/>
          <p:cNvSpPr/>
          <p:nvPr/>
        </p:nvSpPr>
        <p:spPr>
          <a:xfrm>
            <a:off x="7392924" y="960120"/>
            <a:ext cx="2057400" cy="1600200"/>
          </a:xfrm>
          <a:prstGeom prst="roundRect">
            <a:avLst>
              <a:gd name="adj" fmla="val 8000"/>
            </a:avLst>
          </a:prstGeom>
          <a:solidFill>
            <a:srgbClr val="F3F6FB"/>
          </a:solidFill>
          <a:ln w="12700">
            <a:solidFill>
              <a:srgbClr val="003366"/>
            </a:solidFill>
          </a:ln>
          <a:effectLst/>
        </p:spPr>
        <p:txBody>
          <a:bodyPr wrap="square" rtlCol="0" anchor="ctr" lIns="73152" rIns="73152" tIns="36576" bIns="36576"/>
          <a:lstStyle/>
          <a:p>
            <a:pPr algn="ctr">
              <a:spcBef>
                <a:spcPts val="0"/>
              </a:spcBef>
              <a:spcAft>
                <a:spcPts val="0"/>
              </a:spcAft>
              <a:buNone/>
            </a:pPr>
            <a:r>
              <a:rPr sz="2200" b="1">
                <a:solidFill>
                  <a:srgbClr val="003366"/>
                </a:solidFill>
                <a:latin typeface="Roboto Black"/>
                <a:ea typeface="Roboto Black"/>
                <a:cs typeface="Roboto Black"/>
              </a:rPr>
              <a:t>R2</a:t>
            </a:r>
          </a:p>
          <a:p>
            <a:pPr algn="ctr">
              <a:spcBef>
                <a:spcPts val="100"/>
              </a:spcBef>
              <a:spcAft>
                <a:spcPts val="0"/>
              </a:spcAft>
              <a:buNone/>
            </a:pPr>
            <a:r>
              <a:rPr sz="1500" b="1">
                <a:solidFill>
                  <a:srgbClr val="003366"/>
                </a:solidFill>
                <a:latin typeface="Roboto Black"/>
                <a:ea typeface="Roboto Black"/>
                <a:cs typeface="Roboto Black"/>
              </a:rPr>
              <a:t>Thảo luận 2</a:t>
            </a:r>
          </a:p>
          <a:p>
            <a:pPr algn="ctr">
              <a:spcBef>
                <a:spcPts val="200"/>
              </a:spcBef>
              <a:spcAft>
                <a:spcPts val="0"/>
              </a:spcAft>
              <a:buNone/>
            </a:pPr>
            <a:r>
              <a:rPr sz="1250" b="0">
                <a:solidFill>
                  <a:srgbClr val="222222"/>
                </a:solidFill>
                <a:latin typeface="Roboto Medium"/>
                <a:ea typeface="Roboto Medium"/>
                <a:cs typeface="Roboto Medium"/>
              </a:rPr>
              <a:t>kiểm tra liên tục thời gian, độc lập nguồn</a:t>
            </a:r>
          </a:p>
        </p:txBody>
      </p:sp>
      <p:cxnSp>
        <p:nvCxnSpPr>
          <p:cNvPr id="28" name="Connector 28"/>
          <p:cNvCxnSpPr/>
          <p:nvPr/>
        </p:nvCxnSpPr>
        <p:spPr>
          <a:xfrm>
            <a:off x="9477756" y="1760220"/>
            <a:ext cx="214884" cy="0"/>
          </a:xfrm>
          <a:prstGeom prst="straightConnector1">
            <a:avLst/>
          </a:prstGeom>
          <a:ln w="22225">
            <a:solidFill>
              <a:srgbClr val="003366"/>
            </a:solidFill>
            <a:tailEnd type="triangle" w="med" len="med"/>
          </a:ln>
        </p:spPr>
      </p:cxnSp>
      <p:sp>
        <p:nvSpPr>
          <p:cNvPr id="29" name="Shape 29"/>
          <p:cNvSpPr/>
          <p:nvPr/>
        </p:nvSpPr>
        <p:spPr>
          <a:xfrm>
            <a:off x="9720072" y="960120"/>
            <a:ext cx="2057400" cy="1600200"/>
          </a:xfrm>
          <a:prstGeom prst="roundRect">
            <a:avLst>
              <a:gd name="adj" fmla="val 8000"/>
            </a:avLst>
          </a:prstGeom>
          <a:solidFill>
            <a:srgbClr val="F3F6FB"/>
          </a:solidFill>
          <a:ln w="12700">
            <a:solidFill>
              <a:srgbClr val="003366"/>
            </a:solidFill>
          </a:ln>
          <a:effectLst/>
        </p:spPr>
        <p:txBody>
          <a:bodyPr wrap="square" rtlCol="0" anchor="ctr" lIns="73152" rIns="73152" tIns="36576" bIns="36576"/>
          <a:lstStyle/>
          <a:p>
            <a:pPr algn="ctr">
              <a:spcBef>
                <a:spcPts val="0"/>
              </a:spcBef>
              <a:spcAft>
                <a:spcPts val="0"/>
              </a:spcAft>
              <a:buNone/>
            </a:pPr>
            <a:r>
              <a:rPr sz="2200" b="1">
                <a:solidFill>
                  <a:srgbClr val="003366"/>
                </a:solidFill>
                <a:latin typeface="Roboto Black"/>
                <a:ea typeface="Roboto Black"/>
                <a:cs typeface="Roboto Black"/>
              </a:rPr>
              <a:t>R3</a:t>
            </a:r>
          </a:p>
          <a:p>
            <a:pPr algn="ctr">
              <a:spcBef>
                <a:spcPts val="100"/>
              </a:spcBef>
              <a:spcAft>
                <a:spcPts val="0"/>
              </a:spcAft>
              <a:buNone/>
            </a:pPr>
            <a:r>
              <a:rPr sz="1500" b="1">
                <a:solidFill>
                  <a:srgbClr val="003366"/>
                </a:solidFill>
                <a:latin typeface="Roboto Black"/>
                <a:ea typeface="Roboto Black"/>
                <a:cs typeface="Roboto Black"/>
              </a:rPr>
              <a:t>Thảo luận 3</a:t>
            </a:r>
          </a:p>
          <a:p>
            <a:pPr algn="ctr">
              <a:spcBef>
                <a:spcPts val="200"/>
              </a:spcBef>
              <a:spcAft>
                <a:spcPts val="0"/>
              </a:spcAft>
              <a:buNone/>
            </a:pPr>
            <a:r>
              <a:rPr sz="1250" b="0">
                <a:solidFill>
                  <a:srgbClr val="222222"/>
                </a:solidFill>
                <a:latin typeface="Roboto Medium"/>
                <a:ea typeface="Roboto Medium"/>
                <a:cs typeface="Roboto Medium"/>
              </a:rPr>
              <a:t>phán quyết cuối, tính duy nhất của đích</a:t>
            </a:r>
          </a:p>
        </p:txBody>
      </p:sp>
      <p:sp>
        <p:nvSpPr>
          <p:cNvPr id="30" name="TextBox 30"/>
          <p:cNvSpPr txBox="1"/>
          <p:nvPr/>
        </p:nvSpPr>
        <p:spPr>
          <a:xfrm>
            <a:off x="411480" y="2651760"/>
            <a:ext cx="11365992" cy="411480"/>
          </a:xfrm>
          <a:prstGeom prst="rect">
            <a:avLst/>
          </a:prstGeom>
          <a:noFill/>
        </p:spPr>
        <p:txBody>
          <a:bodyPr wrap="square" anchor="t" lIns="45720" rIns="45720" tIns="18288" bIns="18288"/>
          <a:lstStyle/>
          <a:p>
            <a:pPr algn="ctr">
              <a:spcBef>
                <a:spcPts val="0"/>
              </a:spcBef>
              <a:spcAft>
                <a:spcPts val="0"/>
              </a:spcAft>
              <a:buNone/>
            </a:pPr>
            <a:r>
              <a:rPr sz="1450" b="0">
                <a:solidFill>
                  <a:srgbClr val="666666"/>
                </a:solidFill>
                <a:latin typeface="Roboto Medium"/>
                <a:ea typeface="Roboto Medium"/>
                <a:cs typeface="Roboto Medium"/>
              </a:rPr>
              <a:t xml:space="preserve">Sau </a:t>
            </a:r>
            <a:r>
              <a:rPr sz="1450" b="1">
                <a:solidFill>
                  <a:srgbClr val="003366"/>
                </a:solidFill>
                <a:latin typeface="Roboto Black"/>
                <a:ea typeface="Roboto Black"/>
                <a:cs typeface="Roboto Black"/>
              </a:rPr>
              <a:t>mỗi</a:t>
            </a:r>
            <a:r>
              <a:rPr sz="1450" b="0">
                <a:solidFill>
                  <a:srgbClr val="666666"/>
                </a:solidFill>
                <a:latin typeface="Roboto Medium"/>
                <a:ea typeface="Roboto Medium"/>
                <a:cs typeface="Roboto Medium"/>
              </a:rPr>
              <a:t xml:space="preserve"> checkpoint, mọi agent bỏ phiếu riêng về vị trí cuối (được phép UNKNOWN).</a:t>
            </a:r>
          </a:p>
        </p:txBody>
      </p:sp>
      <p:sp>
        <p:nvSpPr>
          <p:cNvPr id="31" name="Card 31"/>
          <p:cNvSpPr/>
          <p:nvPr/>
        </p:nvSpPr>
        <p:spPr>
          <a:xfrm>
            <a:off x="411480" y="3246120"/>
            <a:ext cx="3383280" cy="265176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2" name="Card bar 32"/>
          <p:cNvSpPr/>
          <p:nvPr/>
        </p:nvSpPr>
        <p:spPr>
          <a:xfrm>
            <a:off x="411480" y="3246120"/>
            <a:ext cx="3383280" cy="54864"/>
          </a:xfrm>
          <a:prstGeom prst="rect">
            <a:avLst/>
          </a:prstGeom>
          <a:solidFill>
            <a:srgbClr val="003366"/>
          </a:solidFill>
          <a:ln>
            <a:noFill/>
          </a:ln>
          <a:effectLst/>
        </p:spPr>
        <p:txBody>
          <a:bodyPr wrap="square" rtlCol="0" anchor="ctr" lIns="73152" rIns="73152" tIns="36576" bIns="36576"/>
          <a:lstStyle/>
          <a:p/>
        </p:txBody>
      </p:sp>
      <p:sp>
        <p:nvSpPr>
          <p:cNvPr id="33" name="TextBox 33"/>
          <p:cNvSpPr txBox="1"/>
          <p:nvPr/>
        </p:nvSpPr>
        <p:spPr>
          <a:xfrm>
            <a:off x="521208" y="3337560"/>
            <a:ext cx="3163824" cy="2514600"/>
          </a:xfrm>
          <a:prstGeom prst="rect">
            <a:avLst/>
          </a:prstGeom>
          <a:noFill/>
        </p:spPr>
        <p:txBody>
          <a:bodyPr wrap="square" anchor="t" lIns="45720" rIns="45720" tIns="18288" bIns="18288"/>
          <a:lstStyle/>
          <a:p>
            <a:pPr>
              <a:spcBef>
                <a:spcPts val="0"/>
              </a:spcBef>
              <a:spcAft>
                <a:spcPts val="0"/>
              </a:spcAft>
              <a:buNone/>
            </a:pPr>
            <a:r>
              <a:rPr sz="1650" b="1">
                <a:solidFill>
                  <a:srgbClr val="003366"/>
                </a:solidFill>
                <a:latin typeface="Roboto Black"/>
                <a:ea typeface="Roboto Black"/>
                <a:cs typeface="Roboto Black"/>
              </a:rPr>
              <a:t>Thiết lập</a:t>
            </a:r>
          </a:p>
          <a:p>
            <a:pPr marL="114550" indent="-114550">
              <a:spcBef>
                <a:spcPts val="400"/>
              </a:spcBef>
              <a:spcAft>
                <a:spcPts val="0"/>
              </a:spcAft>
              <a:buClr>
                <a:srgbClr val="C00000"/>
              </a:buClr>
              <a:buFont typeface="Arial"/>
              <a:buChar char="•"/>
            </a:pPr>
            <a:r>
              <a:rPr sz="1450" b="0">
                <a:solidFill>
                  <a:srgbClr val="222222"/>
                </a:solidFill>
                <a:latin typeface="Roboto Medium"/>
                <a:ea typeface="Roboto Medium"/>
                <a:cs typeface="Roboto Medium"/>
              </a:rPr>
              <a:t>GPT-5.5, DeepSeek-v4-pro, Grok-4.5.</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 xml:space="preserve">Mỗi model: 1 hệ </a:t>
            </a:r>
            <a:r>
              <a:rPr sz="1450" b="1">
                <a:solidFill>
                  <a:srgbClr val="003366"/>
                </a:solidFill>
                <a:latin typeface="Roboto Black"/>
                <a:ea typeface="Roboto Black"/>
                <a:cs typeface="Roboto Black"/>
              </a:rPr>
              <a:t>đồng nhất</a:t>
            </a:r>
            <a:r>
              <a:rPr sz="1450" b="0">
                <a:solidFill>
                  <a:srgbClr val="222222"/>
                </a:solidFill>
                <a:latin typeface="Roboto Medium"/>
                <a:ea typeface="Roboto Medium"/>
                <a:cs typeface="Roboto Medium"/>
              </a:rPr>
              <a:t xml:space="preserve"> 5 agent, temperature 0.</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 xml:space="preserve">120 truyện × 2 điều kiện × 3 model = </a:t>
            </a:r>
            <a:r>
              <a:rPr sz="1450" b="1">
                <a:solidFill>
                  <a:srgbClr val="003366"/>
                </a:solidFill>
                <a:latin typeface="Roboto Black"/>
                <a:ea typeface="Roboto Black"/>
                <a:cs typeface="Roboto Black"/>
              </a:rPr>
              <a:t>720 run</a:t>
            </a:r>
            <a:r>
              <a:rPr sz="1450" b="0">
                <a:solidFill>
                  <a:srgbClr val="222222"/>
                </a:solidFill>
                <a:latin typeface="Roboto Medium"/>
                <a:ea typeface="Roboto Medium"/>
                <a:cs typeface="Roboto Medium"/>
              </a:rPr>
              <a:t>.</a:t>
            </a:r>
          </a:p>
        </p:txBody>
      </p:sp>
      <p:sp>
        <p:nvSpPr>
          <p:cNvPr id="34" name="Card 34"/>
          <p:cNvSpPr/>
          <p:nvPr/>
        </p:nvSpPr>
        <p:spPr>
          <a:xfrm>
            <a:off x="4023360" y="3246120"/>
            <a:ext cx="3762756" cy="265176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5" name="Card bar 35"/>
          <p:cNvSpPr/>
          <p:nvPr/>
        </p:nvSpPr>
        <p:spPr>
          <a:xfrm>
            <a:off x="4023360" y="3246120"/>
            <a:ext cx="3762756" cy="54864"/>
          </a:xfrm>
          <a:prstGeom prst="rect">
            <a:avLst/>
          </a:prstGeom>
          <a:solidFill>
            <a:srgbClr val="003366"/>
          </a:solidFill>
          <a:ln>
            <a:noFill/>
          </a:ln>
          <a:effectLst/>
        </p:spPr>
        <p:txBody>
          <a:bodyPr wrap="square" rtlCol="0" anchor="ctr" lIns="73152" rIns="73152" tIns="36576" bIns="36576"/>
          <a:lstStyle/>
          <a:p/>
        </p:txBody>
      </p:sp>
      <p:sp>
        <p:nvSpPr>
          <p:cNvPr id="36" name="TextBox 36"/>
          <p:cNvSpPr txBox="1"/>
          <p:nvPr/>
        </p:nvSpPr>
        <p:spPr>
          <a:xfrm>
            <a:off x="4133088" y="3337560"/>
            <a:ext cx="3543300" cy="2514600"/>
          </a:xfrm>
          <a:prstGeom prst="rect">
            <a:avLst/>
          </a:prstGeom>
          <a:noFill/>
        </p:spPr>
        <p:txBody>
          <a:bodyPr wrap="square" anchor="t" lIns="45720" rIns="45720" tIns="18288" bIns="18288"/>
          <a:lstStyle/>
          <a:p>
            <a:pPr>
              <a:spcBef>
                <a:spcPts val="0"/>
              </a:spcBef>
              <a:spcAft>
                <a:spcPts val="0"/>
              </a:spcAft>
              <a:buNone/>
            </a:pPr>
            <a:r>
              <a:rPr sz="1650" b="1">
                <a:solidFill>
                  <a:srgbClr val="003366"/>
                </a:solidFill>
                <a:latin typeface="Roboto Black"/>
                <a:ea typeface="Roboto Black"/>
                <a:cs typeface="Roboto Black"/>
              </a:rPr>
              <a:t>Độ đo kết quả</a:t>
            </a:r>
          </a:p>
          <a:p>
            <a:pPr marL="110600" indent="-110600">
              <a:spcBef>
                <a:spcPts val="400"/>
              </a:spcBef>
              <a:spcAft>
                <a:spcPts val="0"/>
              </a:spcAft>
              <a:buClr>
                <a:srgbClr val="C00000"/>
              </a:buClr>
              <a:buFont typeface="Arial"/>
              <a:buChar char="•"/>
            </a:pPr>
            <a:r>
              <a:rPr sz="1400" b="1">
                <a:solidFill>
                  <a:srgbClr val="003366"/>
                </a:solidFill>
                <a:latin typeface="Roboto Black"/>
                <a:ea typeface="Roboto Black"/>
                <a:cs typeface="Roboto Black"/>
              </a:rPr>
              <a:t>Truth / decoy majority</a:t>
            </a:r>
            <a:r>
              <a:rPr sz="1400" b="0">
                <a:solidFill>
                  <a:srgbClr val="222222"/>
                </a:solidFill>
                <a:latin typeface="Roboto Medium"/>
                <a:ea typeface="Roboto Medium"/>
                <a:cs typeface="Roboto Medium"/>
              </a:rPr>
              <a:t xml:space="preserve">, </a:t>
            </a:r>
            <a:r>
              <a:rPr sz="1400" b="1">
                <a:solidFill>
                  <a:srgbClr val="003366"/>
                </a:solidFill>
                <a:latin typeface="Roboto Black"/>
                <a:ea typeface="Roboto Black"/>
                <a:cs typeface="Roboto Black"/>
              </a:rPr>
              <a:t>no consensus</a:t>
            </a:r>
            <a:r>
              <a:rPr sz="1400" b="0">
                <a:solidFill>
                  <a:srgbClr val="222222"/>
                </a:solidFill>
                <a:latin typeface="Roboto Medium"/>
                <a:ea typeface="Roboto Medium"/>
                <a:cs typeface="Roboto Medium"/>
              </a:rPr>
              <a:t>: tỉ lệ run có đa số chọn đích thật / decoy / không đồng thuận.</a:t>
            </a:r>
          </a:p>
          <a:p>
            <a:pPr marL="110600" indent="-110600">
              <a:spcBef>
                <a:spcPts val="200"/>
              </a:spcBef>
              <a:spcAft>
                <a:spcPts val="0"/>
              </a:spcAft>
              <a:buClr>
                <a:srgbClr val="C00000"/>
              </a:buClr>
              <a:buFont typeface="Arial"/>
              <a:buChar char="•"/>
            </a:pPr>
            <a:r>
              <a:rPr sz="1400" b="0">
                <a:solidFill>
                  <a:srgbClr val="222222"/>
                </a:solidFill>
                <a:latin typeface="Roboto Medium"/>
                <a:ea typeface="Roboto Medium"/>
                <a:cs typeface="Roboto Medium"/>
              </a:rPr>
              <a:t>Đa số: ít nhất 3 trên 4 agent còn lại (không tính key agent).</a:t>
            </a:r>
          </a:p>
          <a:p>
            <a:pPr marL="110600" indent="-110600">
              <a:spcBef>
                <a:spcPts val="200"/>
              </a:spcBef>
              <a:spcAft>
                <a:spcPts val="0"/>
              </a:spcAft>
              <a:buClr>
                <a:srgbClr val="C00000"/>
              </a:buClr>
              <a:buFont typeface="Arial"/>
              <a:buChar char="•"/>
            </a:pPr>
            <a:r>
              <a:rPr sz="1400" b="0">
                <a:solidFill>
                  <a:srgbClr val="222222"/>
                </a:solidFill>
                <a:latin typeface="Roboto Medium"/>
                <a:ea typeface="Roboto Medium"/>
                <a:cs typeface="Roboto Medium"/>
              </a:rPr>
              <a:t>Tỉ lệ phiếu đúng / decoy / UNKNOWN.</a:t>
            </a:r>
          </a:p>
        </p:txBody>
      </p:sp>
      <p:sp>
        <p:nvSpPr>
          <p:cNvPr id="37" name="Card 37"/>
          <p:cNvSpPr/>
          <p:nvPr/>
        </p:nvSpPr>
        <p:spPr>
          <a:xfrm>
            <a:off x="8014716" y="3246120"/>
            <a:ext cx="3762756" cy="265176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38" name="Card bar 38"/>
          <p:cNvSpPr/>
          <p:nvPr/>
        </p:nvSpPr>
        <p:spPr>
          <a:xfrm>
            <a:off x="8014716" y="3246120"/>
            <a:ext cx="3762756" cy="54864"/>
          </a:xfrm>
          <a:prstGeom prst="rect">
            <a:avLst/>
          </a:prstGeom>
          <a:solidFill>
            <a:srgbClr val="C00000"/>
          </a:solidFill>
          <a:ln>
            <a:noFill/>
          </a:ln>
          <a:effectLst/>
        </p:spPr>
        <p:txBody>
          <a:bodyPr wrap="square" rtlCol="0" anchor="ctr" lIns="73152" rIns="73152" tIns="36576" bIns="36576"/>
          <a:lstStyle/>
          <a:p/>
        </p:txBody>
      </p:sp>
      <p:sp>
        <p:nvSpPr>
          <p:cNvPr id="39" name="TextBox 39"/>
          <p:cNvSpPr txBox="1"/>
          <p:nvPr/>
        </p:nvSpPr>
        <p:spPr>
          <a:xfrm>
            <a:off x="8124444" y="3337560"/>
            <a:ext cx="3543300" cy="2514600"/>
          </a:xfrm>
          <a:prstGeom prst="rect">
            <a:avLst/>
          </a:prstGeom>
          <a:noFill/>
        </p:spPr>
        <p:txBody>
          <a:bodyPr wrap="square" anchor="t" lIns="45720" rIns="45720" tIns="18288" bIns="18288"/>
          <a:lstStyle/>
          <a:p>
            <a:pPr>
              <a:spcBef>
                <a:spcPts val="0"/>
              </a:spcBef>
              <a:spcAft>
                <a:spcPts val="0"/>
              </a:spcAft>
              <a:buNone/>
            </a:pPr>
            <a:r>
              <a:rPr sz="1650" b="1">
                <a:solidFill>
                  <a:srgbClr val="C00000"/>
                </a:solidFill>
                <a:latin typeface="Roboto Black"/>
                <a:ea typeface="Roboto Black"/>
                <a:cs typeface="Roboto Black"/>
              </a:rPr>
              <a:t>Độ đo quá trình</a:t>
            </a:r>
          </a:p>
          <a:p>
            <a:pPr marL="110600" indent="-110600">
              <a:spcBef>
                <a:spcPts val="400"/>
              </a:spcBef>
              <a:spcAft>
                <a:spcPts val="0"/>
              </a:spcAft>
              <a:buClr>
                <a:srgbClr val="C00000"/>
              </a:buClr>
              <a:buFont typeface="Arial"/>
              <a:buChar char="•"/>
            </a:pPr>
            <a:r>
              <a:rPr sz="1400" b="1">
                <a:solidFill>
                  <a:srgbClr val="003366"/>
                </a:solidFill>
                <a:latin typeface="Roboto Black"/>
                <a:ea typeface="Roboto Black"/>
                <a:cs typeface="Roboto Black"/>
              </a:rPr>
              <a:t>Reference / adoption rate:</a:t>
            </a:r>
            <a:r>
              <a:rPr sz="1400" b="0">
                <a:solidFill>
                  <a:srgbClr val="222222"/>
                </a:solidFill>
                <a:latin typeface="Roboto Medium"/>
                <a:ea typeface="Roboto Medium"/>
                <a:cs typeface="Roboto Medium"/>
              </a:rPr>
              <a:t xml:space="preserve"> tỉ lệ phát biểu trích dẫn / tán thành một testimony.</a:t>
            </a:r>
          </a:p>
          <a:p>
            <a:pPr marL="110600" indent="-110600">
              <a:spcBef>
                <a:spcPts val="200"/>
              </a:spcBef>
              <a:spcAft>
                <a:spcPts val="0"/>
              </a:spcAft>
              <a:buClr>
                <a:srgbClr val="C00000"/>
              </a:buClr>
              <a:buFont typeface="Arial"/>
              <a:buChar char="•"/>
            </a:pPr>
            <a:r>
              <a:rPr sz="1400" b="1">
                <a:solidFill>
                  <a:srgbClr val="003366"/>
                </a:solidFill>
                <a:latin typeface="Roboto Black"/>
                <a:ea typeface="Roboto Black"/>
                <a:cs typeface="Roboto Black"/>
              </a:rPr>
              <a:t>Propagation order:</a:t>
            </a:r>
            <a:r>
              <a:rPr sz="1400" b="0">
                <a:solidFill>
                  <a:srgbClr val="222222"/>
                </a:solidFill>
                <a:latin typeface="Roboto Medium"/>
                <a:ea typeface="Roboto Medium"/>
                <a:cs typeface="Roboto Medium"/>
              </a:rPr>
              <a:t xml:space="preserve"> bậc 1 = trích trực tiếp, bậc 2 = trích tin nhắn mang bằng chứng đó, …</a:t>
            </a:r>
          </a:p>
          <a:p>
            <a:pPr marL="110600" indent="-110600">
              <a:spcBef>
                <a:spcPts val="200"/>
              </a:spcBef>
              <a:spcAft>
                <a:spcPts val="0"/>
              </a:spcAft>
              <a:buClr>
                <a:srgbClr val="C00000"/>
              </a:buClr>
              <a:buFont typeface="Arial"/>
              <a:buChar char="•"/>
            </a:pPr>
            <a:r>
              <a:rPr sz="1400" b="1">
                <a:solidFill>
                  <a:srgbClr val="003366"/>
                </a:solidFill>
                <a:latin typeface="Roboto Black"/>
                <a:ea typeface="Roboto Black"/>
                <a:cs typeface="Roboto Black"/>
              </a:rPr>
              <a:t>Evidence lineage:</a:t>
            </a:r>
            <a:r>
              <a:rPr sz="1400" b="0">
                <a:solidFill>
                  <a:srgbClr val="222222"/>
                </a:solidFill>
                <a:latin typeface="Roboto Medium"/>
                <a:ea typeface="Roboto Medium"/>
                <a:cs typeface="Roboto Medium"/>
              </a:rPr>
              <a:t xml:space="preserve"> ai đang giữ gốc đúng / gốc sai.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TIDE: Kết quả – một agent nói dối làm nhóm mất sự thật</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20</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Card 21"/>
          <p:cNvSpPr/>
          <p:nvPr/>
        </p:nvSpPr>
        <p:spPr>
          <a:xfrm>
            <a:off x="411480" y="914400"/>
            <a:ext cx="5852160" cy="214884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2" name="Card bar 22"/>
          <p:cNvSpPr/>
          <p:nvPr/>
        </p:nvSpPr>
        <p:spPr>
          <a:xfrm>
            <a:off x="411480" y="914400"/>
            <a:ext cx="5852160" cy="54864"/>
          </a:xfrm>
          <a:prstGeom prst="rect">
            <a:avLst/>
          </a:prstGeom>
          <a:solidFill>
            <a:srgbClr val="003366"/>
          </a:solidFill>
          <a:ln>
            <a:noFill/>
          </a:ln>
          <a:effectLst/>
        </p:spPr>
        <p:txBody>
          <a:bodyPr wrap="square" rtlCol="0" anchor="ctr" lIns="73152" rIns="73152" tIns="36576" bIns="36576"/>
          <a:lstStyle/>
          <a:p/>
        </p:txBody>
      </p:sp>
      <p:sp>
        <p:nvSpPr>
          <p:cNvPr id="23" name="TextBox 23"/>
          <p:cNvSpPr txBox="1"/>
          <p:nvPr/>
        </p:nvSpPr>
        <p:spPr>
          <a:xfrm>
            <a:off x="548640" y="1005840"/>
            <a:ext cx="5577840" cy="365760"/>
          </a:xfrm>
          <a:prstGeom prst="rect">
            <a:avLst/>
          </a:prstGeom>
          <a:noFill/>
        </p:spPr>
        <p:txBody>
          <a:bodyPr wrap="square" anchor="t" lIns="45720" rIns="45720" tIns="18288" bIns="18288"/>
          <a:lstStyle/>
          <a:p>
            <a:pPr>
              <a:spcBef>
                <a:spcPts val="0"/>
              </a:spcBef>
              <a:spcAft>
                <a:spcPts val="0"/>
              </a:spcAft>
              <a:buNone/>
            </a:pPr>
            <a:r>
              <a:rPr sz="1400" b="0">
                <a:solidFill>
                  <a:srgbClr val="666666"/>
                </a:solidFill>
                <a:latin typeface="Roboto Medium"/>
                <a:ea typeface="Roboto Medium"/>
                <a:cs typeface="Roboto Medium"/>
              </a:rPr>
              <a:t>Tỉ lệ truth majority ở R3 (C0 → C1)</a:t>
            </a:r>
          </a:p>
        </p:txBody>
      </p:sp>
      <p:sp>
        <p:nvSpPr>
          <p:cNvPr id="24" name="TextBox 24"/>
          <p:cNvSpPr txBox="1"/>
          <p:nvPr/>
        </p:nvSpPr>
        <p:spPr>
          <a:xfrm>
            <a:off x="548640" y="1371600"/>
            <a:ext cx="5577840" cy="914400"/>
          </a:xfrm>
          <a:prstGeom prst="rect">
            <a:avLst/>
          </a:prstGeom>
          <a:noFill/>
        </p:spPr>
        <p:txBody>
          <a:bodyPr wrap="square" anchor="t" lIns="45720" rIns="45720" tIns="18288" bIns="18288"/>
          <a:lstStyle/>
          <a:p>
            <a:pPr>
              <a:spcBef>
                <a:spcPts val="0"/>
              </a:spcBef>
              <a:spcAft>
                <a:spcPts val="0"/>
              </a:spcAft>
              <a:buNone/>
            </a:pPr>
            <a:r>
              <a:rPr sz="4200" b="1">
                <a:solidFill>
                  <a:srgbClr val="003366"/>
                </a:solidFill>
                <a:latin typeface="Roboto Black"/>
                <a:ea typeface="Roboto Black"/>
                <a:cs typeface="Roboto Black"/>
              </a:rPr>
              <a:t xml:space="preserve">72.50% → </a:t>
            </a:r>
            <a:r>
              <a:rPr sz="4200" b="1">
                <a:solidFill>
                  <a:srgbClr val="C00000"/>
                </a:solidFill>
                <a:latin typeface="Roboto Black"/>
                <a:ea typeface="Roboto Black"/>
                <a:cs typeface="Roboto Black"/>
              </a:rPr>
              <a:t>14.17%</a:t>
            </a:r>
          </a:p>
        </p:txBody>
      </p:sp>
      <p:sp>
        <p:nvSpPr>
          <p:cNvPr id="25" name="TextBox 25"/>
          <p:cNvSpPr txBox="1"/>
          <p:nvPr/>
        </p:nvSpPr>
        <p:spPr>
          <a:xfrm>
            <a:off x="548640" y="2331720"/>
            <a:ext cx="5577840" cy="640080"/>
          </a:xfrm>
          <a:prstGeom prst="rect">
            <a:avLst/>
          </a:prstGeom>
          <a:noFill/>
        </p:spPr>
        <p:txBody>
          <a:bodyPr wrap="square" anchor="t" lIns="45720" rIns="45720" tIns="18288" bIns="18288"/>
          <a:lstStyle/>
          <a:p>
            <a:pPr>
              <a:spcBef>
                <a:spcPts val="0"/>
              </a:spcBef>
              <a:spcAft>
                <a:spcPts val="0"/>
              </a:spcAft>
              <a:buNone/>
            </a:pPr>
            <a:r>
              <a:rPr sz="1300" b="0">
                <a:solidFill>
                  <a:srgbClr val="222222"/>
                </a:solidFill>
                <a:latin typeface="Roboto Medium"/>
                <a:ea typeface="Roboto Medium"/>
                <a:cs typeface="Roboto Medium"/>
              </a:rPr>
              <a:t xml:space="preserve">Giảm </a:t>
            </a:r>
            <a:r>
              <a:rPr sz="1300" b="1">
                <a:solidFill>
                  <a:srgbClr val="003366"/>
                </a:solidFill>
                <a:latin typeface="Roboto Black"/>
                <a:ea typeface="Roboto Black"/>
                <a:cs typeface="Roboto Black"/>
              </a:rPr>
              <a:t>58.33</a:t>
            </a:r>
            <a:r>
              <a:rPr sz="1300" b="0">
                <a:solidFill>
                  <a:srgbClr val="222222"/>
                </a:solidFill>
                <a:latin typeface="Roboto Medium"/>
                <a:ea typeface="Roboto Medium"/>
                <a:cs typeface="Roboto Medium"/>
              </a:rPr>
              <a:t xml:space="preserve"> điểm % · phiếu đúng cá nhân 75.00% → 24.38% · p &lt; .001 với cả 3 model</a:t>
            </a:r>
          </a:p>
        </p:txBody>
      </p:sp>
      <p:sp>
        <p:nvSpPr>
          <p:cNvPr id="26" name="TextBox 26"/>
          <p:cNvSpPr txBox="1"/>
          <p:nvPr/>
        </p:nvSpPr>
        <p:spPr>
          <a:xfrm>
            <a:off x="411480" y="3246120"/>
            <a:ext cx="5852160" cy="2651760"/>
          </a:xfrm>
          <a:prstGeom prst="rect">
            <a:avLst/>
          </a:prstGeom>
          <a:noFill/>
        </p:spPr>
        <p:txBody>
          <a:bodyPr wrap="square" anchor="t" lIns="45720" rIns="45720" tIns="18288" bIns="18288"/>
          <a:lstStyle/>
          <a:p>
            <a:pPr marL="110600" indent="-110600">
              <a:spcBef>
                <a:spcPts val="0"/>
              </a:spcBef>
              <a:spcAft>
                <a:spcPts val="0"/>
              </a:spcAft>
              <a:buClr>
                <a:srgbClr val="C00000"/>
              </a:buClr>
              <a:buFont typeface="Arial"/>
              <a:buChar char="•"/>
            </a:pPr>
            <a:r>
              <a:rPr sz="1400" b="0">
                <a:solidFill>
                  <a:srgbClr val="222222"/>
                </a:solidFill>
                <a:latin typeface="Roboto Medium"/>
                <a:ea typeface="Roboto Medium"/>
                <a:cs typeface="Roboto Medium"/>
              </a:rPr>
              <a:t xml:space="preserve">Trong </a:t>
            </a:r>
            <a:r>
              <a:rPr sz="1400" b="1">
                <a:solidFill>
                  <a:srgbClr val="003366"/>
                </a:solidFill>
                <a:latin typeface="Roboto Black"/>
                <a:ea typeface="Roboto Black"/>
                <a:cs typeface="Roboto Black"/>
              </a:rPr>
              <a:t>309</a:t>
            </a:r>
            <a:r>
              <a:rPr sz="1400" b="0">
                <a:solidFill>
                  <a:srgbClr val="222222"/>
                </a:solidFill>
                <a:latin typeface="Roboto Medium"/>
                <a:ea typeface="Roboto Medium"/>
                <a:cs typeface="Roboto Medium"/>
              </a:rPr>
              <a:t xml:space="preserve"> run thất bại ở C1: </a:t>
            </a:r>
            <a:r>
              <a:rPr sz="1400" b="1">
                <a:solidFill>
                  <a:srgbClr val="003366"/>
                </a:solidFill>
                <a:latin typeface="Roboto Black"/>
                <a:ea typeface="Roboto Black"/>
                <a:cs typeface="Roboto Black"/>
              </a:rPr>
              <a:t>156</a:t>
            </a:r>
            <a:r>
              <a:rPr sz="1400" b="0">
                <a:solidFill>
                  <a:srgbClr val="222222"/>
                </a:solidFill>
                <a:latin typeface="Roboto Medium"/>
                <a:ea typeface="Roboto Medium"/>
                <a:cs typeface="Roboto Medium"/>
              </a:rPr>
              <a:t xml:space="preserve"> đa số theo decoy, </a:t>
            </a:r>
            <a:r>
              <a:rPr sz="1400" b="1">
                <a:solidFill>
                  <a:srgbClr val="003366"/>
                </a:solidFill>
                <a:latin typeface="Roboto Black"/>
                <a:ea typeface="Roboto Black"/>
                <a:cs typeface="Roboto Black"/>
              </a:rPr>
              <a:t>152</a:t>
            </a:r>
            <a:r>
              <a:rPr sz="1400" b="0">
                <a:solidFill>
                  <a:srgbClr val="222222"/>
                </a:solidFill>
                <a:latin typeface="Roboto Medium"/>
                <a:ea typeface="Roboto Medium"/>
                <a:cs typeface="Roboto Medium"/>
              </a:rPr>
              <a:t xml:space="preserve"> không đồng thuận → nói dối vừa kéo về decoy vừa gây bất định.</a:t>
            </a:r>
          </a:p>
          <a:p>
            <a:pPr marL="110600" indent="-110600">
              <a:spcBef>
                <a:spcPts val="500"/>
              </a:spcBef>
              <a:spcAft>
                <a:spcPts val="0"/>
              </a:spcAft>
              <a:buClr>
                <a:srgbClr val="C00000"/>
              </a:buClr>
              <a:buFont typeface="Arial"/>
              <a:buChar char="•"/>
            </a:pPr>
            <a:r>
              <a:rPr sz="1400" b="1">
                <a:solidFill>
                  <a:srgbClr val="003366"/>
                </a:solidFill>
                <a:latin typeface="Roboto Black"/>
                <a:ea typeface="Roboto Black"/>
                <a:cs typeface="Roboto Black"/>
              </a:rPr>
              <a:t>Grok-4.5</a:t>
            </a:r>
            <a:r>
              <a:rPr sz="1400" b="0">
                <a:solidFill>
                  <a:srgbClr val="222222"/>
                </a:solidFill>
                <a:latin typeface="Roboto Medium"/>
                <a:ea typeface="Roboto Medium"/>
                <a:cs typeface="Roboto Medium"/>
              </a:rPr>
              <a:t xml:space="preserve"> tốt nhất ở C0 nhưng tệ nhất ở C1 (truth majority −79.17 điểm): gộp bằng chứng tốt khi trung thực ≠ chống chịu tốt khi bị nhiễm.</a:t>
            </a:r>
          </a:p>
        </p:txBody>
      </p:sp>
      <p:sp>
        <p:nvSpPr>
          <p:cNvPr id="27" name="TextBox 27"/>
          <p:cNvSpPr txBox="1"/>
          <p:nvPr/>
        </p:nvSpPr>
        <p:spPr>
          <a:xfrm>
            <a:off x="6537960" y="914400"/>
            <a:ext cx="5239512" cy="365760"/>
          </a:xfrm>
          <a:prstGeom prst="rect">
            <a:avLst/>
          </a:prstGeom>
          <a:noFill/>
        </p:spPr>
        <p:txBody>
          <a:bodyPr wrap="square" anchor="t" lIns="45720" rIns="45720" tIns="18288" bIns="18288"/>
          <a:lstStyle/>
          <a:p>
            <a:pPr>
              <a:spcBef>
                <a:spcPts val="0"/>
              </a:spcBef>
              <a:spcAft>
                <a:spcPts val="0"/>
              </a:spcAft>
              <a:buNone/>
            </a:pPr>
            <a:r>
              <a:rPr sz="1350" b="0">
                <a:solidFill>
                  <a:srgbClr val="666666"/>
                </a:solidFill>
                <a:latin typeface="Roboto Medium"/>
                <a:ea typeface="Roboto Medium"/>
                <a:cs typeface="Roboto Medium"/>
              </a:rPr>
              <a:t>Decoy-vote share tăng thêm ở C1 (điểm %)</a:t>
            </a:r>
          </a:p>
        </p:txBody>
      </p:sp>
      <p:sp>
        <p:nvSpPr>
          <p:cNvPr id="28" name="TextBox 28"/>
          <p:cNvSpPr txBox="1"/>
          <p:nvPr/>
        </p:nvSpPr>
        <p:spPr>
          <a:xfrm>
            <a:off x="6537960" y="1371600"/>
            <a:ext cx="1691640" cy="411480"/>
          </a:xfrm>
          <a:prstGeom prst="rect">
            <a:avLst/>
          </a:prstGeom>
          <a:noFill/>
        </p:spPr>
        <p:txBody>
          <a:bodyPr wrap="square" anchor="ctr" lIns="45720" rIns="45720" tIns="18288" bIns="18288"/>
          <a:lstStyle/>
          <a:p>
            <a:pPr>
              <a:spcBef>
                <a:spcPts val="0"/>
              </a:spcBef>
              <a:spcAft>
                <a:spcPts val="0"/>
              </a:spcAft>
              <a:buNone/>
            </a:pPr>
            <a:r>
              <a:rPr sz="1350" b="1">
                <a:solidFill>
                  <a:srgbClr val="003366"/>
                </a:solidFill>
                <a:latin typeface="Roboto Black"/>
                <a:ea typeface="Roboto Black"/>
                <a:cs typeface="Roboto Black"/>
              </a:rPr>
              <a:t>GPT-5.5</a:t>
            </a:r>
          </a:p>
        </p:txBody>
      </p:sp>
      <p:sp>
        <p:nvSpPr>
          <p:cNvPr id="29" name="Bar 29"/>
          <p:cNvSpPr/>
          <p:nvPr/>
        </p:nvSpPr>
        <p:spPr>
          <a:xfrm>
            <a:off x="8229600" y="1435608"/>
            <a:ext cx="2518623" cy="292608"/>
          </a:xfrm>
          <a:prstGeom prst="rect">
            <a:avLst/>
          </a:prstGeom>
          <a:solidFill>
            <a:srgbClr val="C00000"/>
          </a:solidFill>
          <a:ln>
            <a:noFill/>
          </a:ln>
          <a:effectLst/>
        </p:spPr>
        <p:txBody>
          <a:bodyPr wrap="square" rtlCol="0" anchor="ctr" lIns="73152" rIns="73152" tIns="36576" bIns="36576"/>
          <a:lstStyle/>
          <a:p/>
        </p:txBody>
      </p:sp>
      <p:sp>
        <p:nvSpPr>
          <p:cNvPr id="30" name="TextBox 30"/>
          <p:cNvSpPr txBox="1"/>
          <p:nvPr/>
        </p:nvSpPr>
        <p:spPr>
          <a:xfrm>
            <a:off x="10793943" y="1371600"/>
            <a:ext cx="640080" cy="411480"/>
          </a:xfrm>
          <a:prstGeom prst="rect">
            <a:avLst/>
          </a:prstGeom>
          <a:noFill/>
        </p:spPr>
        <p:txBody>
          <a:bodyPr wrap="square" anchor="ctr" lIns="45720" rIns="45720" tIns="18288" bIns="18288"/>
          <a:lstStyle/>
          <a:p>
            <a:pPr>
              <a:spcBef>
                <a:spcPts val="0"/>
              </a:spcBef>
              <a:spcAft>
                <a:spcPts val="0"/>
              </a:spcAft>
              <a:buNone/>
            </a:pPr>
            <a:r>
              <a:rPr sz="1350" b="1">
                <a:solidFill>
                  <a:srgbClr val="C00000"/>
                </a:solidFill>
                <a:latin typeface="Roboto Black"/>
                <a:ea typeface="Roboto Black"/>
                <a:cs typeface="Roboto Black"/>
              </a:rPr>
              <a:t>+44.0</a:t>
            </a:r>
          </a:p>
        </p:txBody>
      </p:sp>
      <p:sp>
        <p:nvSpPr>
          <p:cNvPr id="31" name="TextBox 31"/>
          <p:cNvSpPr txBox="1"/>
          <p:nvPr/>
        </p:nvSpPr>
        <p:spPr>
          <a:xfrm>
            <a:off x="6537960" y="1920240"/>
            <a:ext cx="1691640" cy="411480"/>
          </a:xfrm>
          <a:prstGeom prst="rect">
            <a:avLst/>
          </a:prstGeom>
          <a:noFill/>
        </p:spPr>
        <p:txBody>
          <a:bodyPr wrap="square" anchor="ctr" lIns="45720" rIns="45720" tIns="18288" bIns="18288"/>
          <a:lstStyle/>
          <a:p>
            <a:pPr>
              <a:spcBef>
                <a:spcPts val="0"/>
              </a:spcBef>
              <a:spcAft>
                <a:spcPts val="0"/>
              </a:spcAft>
              <a:buNone/>
            </a:pPr>
            <a:r>
              <a:rPr sz="1350" b="1">
                <a:solidFill>
                  <a:srgbClr val="003366"/>
                </a:solidFill>
                <a:latin typeface="Roboto Black"/>
                <a:ea typeface="Roboto Black"/>
                <a:cs typeface="Roboto Black"/>
              </a:rPr>
              <a:t>DeepSeek-v4-pro</a:t>
            </a:r>
          </a:p>
        </p:txBody>
      </p:sp>
      <p:sp>
        <p:nvSpPr>
          <p:cNvPr id="32" name="Bar 32"/>
          <p:cNvSpPr/>
          <p:nvPr/>
        </p:nvSpPr>
        <p:spPr>
          <a:xfrm>
            <a:off x="8229600" y="1984248"/>
            <a:ext cx="2541520" cy="292608"/>
          </a:xfrm>
          <a:prstGeom prst="rect">
            <a:avLst/>
          </a:prstGeom>
          <a:solidFill>
            <a:srgbClr val="C00000"/>
          </a:solidFill>
          <a:ln>
            <a:noFill/>
          </a:ln>
          <a:effectLst/>
        </p:spPr>
        <p:txBody>
          <a:bodyPr wrap="square" rtlCol="0" anchor="ctr" lIns="73152" rIns="73152" tIns="36576" bIns="36576"/>
          <a:lstStyle/>
          <a:p/>
        </p:txBody>
      </p:sp>
      <p:sp>
        <p:nvSpPr>
          <p:cNvPr id="33" name="TextBox 33"/>
          <p:cNvSpPr txBox="1"/>
          <p:nvPr/>
        </p:nvSpPr>
        <p:spPr>
          <a:xfrm>
            <a:off x="10816840" y="1920240"/>
            <a:ext cx="640080" cy="411480"/>
          </a:xfrm>
          <a:prstGeom prst="rect">
            <a:avLst/>
          </a:prstGeom>
          <a:noFill/>
        </p:spPr>
        <p:txBody>
          <a:bodyPr wrap="square" anchor="ctr" lIns="45720" rIns="45720" tIns="18288" bIns="18288"/>
          <a:lstStyle/>
          <a:p>
            <a:pPr>
              <a:spcBef>
                <a:spcPts val="0"/>
              </a:spcBef>
              <a:spcAft>
                <a:spcPts val="0"/>
              </a:spcAft>
              <a:buNone/>
            </a:pPr>
            <a:r>
              <a:rPr sz="1350" b="1">
                <a:solidFill>
                  <a:srgbClr val="C00000"/>
                </a:solidFill>
                <a:latin typeface="Roboto Black"/>
                <a:ea typeface="Roboto Black"/>
                <a:cs typeface="Roboto Black"/>
              </a:rPr>
              <a:t>+44.4</a:t>
            </a:r>
          </a:p>
        </p:txBody>
      </p:sp>
      <p:sp>
        <p:nvSpPr>
          <p:cNvPr id="34" name="TextBox 34"/>
          <p:cNvSpPr txBox="1"/>
          <p:nvPr/>
        </p:nvSpPr>
        <p:spPr>
          <a:xfrm>
            <a:off x="6537960" y="2468880"/>
            <a:ext cx="1691640" cy="411480"/>
          </a:xfrm>
          <a:prstGeom prst="rect">
            <a:avLst/>
          </a:prstGeom>
          <a:noFill/>
        </p:spPr>
        <p:txBody>
          <a:bodyPr wrap="square" anchor="ctr" lIns="45720" rIns="45720" tIns="18288" bIns="18288"/>
          <a:lstStyle/>
          <a:p>
            <a:pPr>
              <a:spcBef>
                <a:spcPts val="0"/>
              </a:spcBef>
              <a:spcAft>
                <a:spcPts val="0"/>
              </a:spcAft>
              <a:buNone/>
            </a:pPr>
            <a:r>
              <a:rPr sz="1350" b="1">
                <a:solidFill>
                  <a:srgbClr val="003366"/>
                </a:solidFill>
                <a:latin typeface="Roboto Black"/>
                <a:ea typeface="Roboto Black"/>
                <a:cs typeface="Roboto Black"/>
              </a:rPr>
              <a:t>Grok-4.5</a:t>
            </a:r>
          </a:p>
        </p:txBody>
      </p:sp>
      <p:sp>
        <p:nvSpPr>
          <p:cNvPr id="35" name="Bar 35"/>
          <p:cNvSpPr/>
          <p:nvPr/>
        </p:nvSpPr>
        <p:spPr>
          <a:xfrm>
            <a:off x="8229600" y="2532888"/>
            <a:ext cx="2169451" cy="292608"/>
          </a:xfrm>
          <a:prstGeom prst="rect">
            <a:avLst/>
          </a:prstGeom>
          <a:solidFill>
            <a:srgbClr val="C00000"/>
          </a:solidFill>
          <a:ln>
            <a:noFill/>
          </a:ln>
          <a:effectLst/>
        </p:spPr>
        <p:txBody>
          <a:bodyPr wrap="square" rtlCol="0" anchor="ctr" lIns="73152" rIns="73152" tIns="36576" bIns="36576"/>
          <a:lstStyle/>
          <a:p/>
        </p:txBody>
      </p:sp>
      <p:sp>
        <p:nvSpPr>
          <p:cNvPr id="36" name="TextBox 36"/>
          <p:cNvSpPr txBox="1"/>
          <p:nvPr/>
        </p:nvSpPr>
        <p:spPr>
          <a:xfrm>
            <a:off x="10444771" y="2468880"/>
            <a:ext cx="640080" cy="411480"/>
          </a:xfrm>
          <a:prstGeom prst="rect">
            <a:avLst/>
          </a:prstGeom>
          <a:noFill/>
        </p:spPr>
        <p:txBody>
          <a:bodyPr wrap="square" anchor="ctr" lIns="45720" rIns="45720" tIns="18288" bIns="18288"/>
          <a:lstStyle/>
          <a:p>
            <a:pPr>
              <a:spcBef>
                <a:spcPts val="0"/>
              </a:spcBef>
              <a:spcAft>
                <a:spcPts val="0"/>
              </a:spcAft>
              <a:buNone/>
            </a:pPr>
            <a:r>
              <a:rPr sz="1350" b="1">
                <a:solidFill>
                  <a:srgbClr val="C00000"/>
                </a:solidFill>
                <a:latin typeface="Roboto Black"/>
                <a:ea typeface="Roboto Black"/>
                <a:cs typeface="Roboto Black"/>
              </a:rPr>
              <a:t>+37.9</a:t>
            </a:r>
          </a:p>
        </p:txBody>
      </p:sp>
      <p:sp>
        <p:nvSpPr>
          <p:cNvPr id="37" name="Card 37"/>
          <p:cNvSpPr/>
          <p:nvPr/>
        </p:nvSpPr>
        <p:spPr>
          <a:xfrm>
            <a:off x="6537960" y="3154680"/>
            <a:ext cx="5239512" cy="274320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38" name="Card bar 38"/>
          <p:cNvSpPr/>
          <p:nvPr/>
        </p:nvSpPr>
        <p:spPr>
          <a:xfrm>
            <a:off x="6537960" y="3154680"/>
            <a:ext cx="5239512" cy="54864"/>
          </a:xfrm>
          <a:prstGeom prst="rect">
            <a:avLst/>
          </a:prstGeom>
          <a:solidFill>
            <a:srgbClr val="003366"/>
          </a:solidFill>
          <a:ln>
            <a:noFill/>
          </a:ln>
          <a:effectLst/>
        </p:spPr>
        <p:txBody>
          <a:bodyPr wrap="square" rtlCol="0" anchor="ctr" lIns="73152" rIns="73152" tIns="36576" bIns="36576"/>
          <a:lstStyle/>
          <a:p/>
        </p:txBody>
      </p:sp>
      <p:sp>
        <p:nvSpPr>
          <p:cNvPr id="39" name="TextBox 39"/>
          <p:cNvSpPr txBox="1"/>
          <p:nvPr/>
        </p:nvSpPr>
        <p:spPr>
          <a:xfrm>
            <a:off x="6675120" y="3246120"/>
            <a:ext cx="4965192" cy="2606040"/>
          </a:xfrm>
          <a:prstGeom prst="rect">
            <a:avLst/>
          </a:prstGeom>
          <a:noFill/>
        </p:spPr>
        <p:txBody>
          <a:bodyPr wrap="square" anchor="t" lIns="45720" rIns="45720" tIns="18288" bIns="18288"/>
          <a:lstStyle/>
          <a:p>
            <a:pPr>
              <a:spcBef>
                <a:spcPts val="0"/>
              </a:spcBef>
              <a:spcAft>
                <a:spcPts val="0"/>
              </a:spcAft>
              <a:buNone/>
            </a:pPr>
            <a:r>
              <a:rPr sz="1600" b="1">
                <a:solidFill>
                  <a:srgbClr val="003366"/>
                </a:solidFill>
                <a:latin typeface="Roboto Black"/>
                <a:ea typeface="Roboto Black"/>
                <a:cs typeface="Roboto Black"/>
              </a:rPr>
              <a:t>Diễn biến qua các checkpoint</a:t>
            </a:r>
          </a:p>
          <a:p>
            <a:pPr marL="106650" indent="-106650">
              <a:spcBef>
                <a:spcPts val="400"/>
              </a:spcBef>
              <a:spcAft>
                <a:spcPts val="0"/>
              </a:spcAft>
              <a:buClr>
                <a:srgbClr val="C00000"/>
              </a:buClr>
              <a:buFont typeface="Arial"/>
              <a:buChar char="•"/>
            </a:pPr>
            <a:r>
              <a:rPr sz="1350" b="1">
                <a:solidFill>
                  <a:srgbClr val="003366"/>
                </a:solidFill>
                <a:latin typeface="Roboto Black"/>
                <a:ea typeface="Roboto Black"/>
                <a:cs typeface="Roboto Black"/>
              </a:rPr>
              <a:t>T0:</a:t>
            </a:r>
            <a:r>
              <a:rPr sz="1350" b="0">
                <a:solidFill>
                  <a:srgbClr val="222222"/>
                </a:solidFill>
                <a:latin typeface="Roboto Medium"/>
                <a:ea typeface="Roboto Medium"/>
                <a:cs typeface="Roboto Medium"/>
              </a:rPr>
              <a:t xml:space="preserve"> C0 và C1 như nhau, chưa có truth majority, UNKNOWN &gt; 75%.</a:t>
            </a:r>
          </a:p>
          <a:p>
            <a:pPr marL="106650" indent="-106650">
              <a:spcBef>
                <a:spcPts val="300"/>
              </a:spcBef>
              <a:spcAft>
                <a:spcPts val="0"/>
              </a:spcAft>
              <a:buClr>
                <a:srgbClr val="C00000"/>
              </a:buClr>
              <a:buFont typeface="Arial"/>
              <a:buChar char="•"/>
            </a:pPr>
            <a:r>
              <a:rPr sz="1350" b="1">
                <a:solidFill>
                  <a:srgbClr val="003366"/>
                </a:solidFill>
                <a:latin typeface="Roboto Black"/>
                <a:ea typeface="Roboto Black"/>
                <a:cs typeface="Roboto Black"/>
              </a:rPr>
              <a:t>T1:</a:t>
            </a:r>
            <a:r>
              <a:rPr sz="1350" b="0">
                <a:solidFill>
                  <a:srgbClr val="222222"/>
                </a:solidFill>
                <a:latin typeface="Roboto Medium"/>
                <a:ea typeface="Roboto Medium"/>
                <a:cs typeface="Roboto Medium"/>
              </a:rPr>
              <a:t xml:space="preserve"> ~</a:t>
            </a:r>
            <a:r>
              <a:rPr sz="1350" b="1">
                <a:solidFill>
                  <a:srgbClr val="003366"/>
                </a:solidFill>
                <a:latin typeface="Roboto Black"/>
                <a:ea typeface="Roboto Black"/>
                <a:cs typeface="Roboto Black"/>
              </a:rPr>
              <a:t>85%</a:t>
            </a:r>
            <a:r>
              <a:rPr sz="1350" b="0">
                <a:solidFill>
                  <a:srgbClr val="222222"/>
                </a:solidFill>
                <a:latin typeface="Roboto Medium"/>
                <a:ea typeface="Roboto Medium"/>
                <a:cs typeface="Roboto Medium"/>
              </a:rPr>
              <a:t xml:space="preserve"> khoảng cách cuối cùng đã hình thành ngay khi chia sẻ testimony.</a:t>
            </a:r>
          </a:p>
          <a:p>
            <a:pPr marL="106650" indent="-106650">
              <a:spcBef>
                <a:spcPts val="300"/>
              </a:spcBef>
              <a:spcAft>
                <a:spcPts val="0"/>
              </a:spcAft>
              <a:buClr>
                <a:srgbClr val="C00000"/>
              </a:buClr>
              <a:buFont typeface="Arial"/>
              <a:buChar char="•"/>
            </a:pPr>
            <a:r>
              <a:rPr sz="1350" b="1">
                <a:solidFill>
                  <a:srgbClr val="003366"/>
                </a:solidFill>
                <a:latin typeface="Roboto Black"/>
                <a:ea typeface="Roboto Black"/>
                <a:cs typeface="Roboto Black"/>
              </a:rPr>
              <a:t>R1–R3:</a:t>
            </a:r>
            <a:r>
              <a:rPr sz="1350" b="0">
                <a:solidFill>
                  <a:srgbClr val="222222"/>
                </a:solidFill>
                <a:latin typeface="Roboto Medium"/>
                <a:ea typeface="Roboto Medium"/>
                <a:cs typeface="Roboto Medium"/>
              </a:rPr>
              <a:t xml:space="preserve"> C0 tăng truth majority +10.83 điểm; C1 chủ yếu biến UNKNOWN thành decoy majority (+15.83).</a:t>
            </a:r>
          </a:p>
          <a:p>
            <a:pPr>
              <a:spcBef>
                <a:spcPts val="400"/>
              </a:spcBef>
              <a:spcAft>
                <a:spcPts val="0"/>
              </a:spcAft>
              <a:buNone/>
            </a:pPr>
            <a:r>
              <a:rPr sz="1350" b="1">
                <a:solidFill>
                  <a:srgbClr val="C00000"/>
                </a:solidFill>
                <a:latin typeface="Roboto Black"/>
                <a:ea typeface="Roboto Black"/>
                <a:cs typeface="Roboto Black"/>
              </a:rPr>
              <a:t xml:space="preserve">→ Thảo luận </a:t>
            </a:r>
            <a:r>
              <a:rPr sz="1350" b="1" i="1">
                <a:solidFill>
                  <a:srgbClr val="C00000"/>
                </a:solidFill>
                <a:latin typeface="Roboto Black"/>
                <a:ea typeface="Roboto Black"/>
                <a:cs typeface="Roboto Black"/>
              </a:rPr>
              <a:t>khuếch đại</a:t>
            </a:r>
            <a:r>
              <a:rPr sz="1350" b="1">
                <a:solidFill>
                  <a:srgbClr val="C00000"/>
                </a:solidFill>
                <a:latin typeface="Roboto Black"/>
                <a:ea typeface="Roboto Black"/>
                <a:cs typeface="Roboto Black"/>
              </a:rPr>
              <a:t xml:space="preserve"> chiều hướng ban đầu, không tự sửa sai.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TIDE: Thông tin sai lan truyền như thế nào</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21</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Card 21"/>
          <p:cNvSpPr/>
          <p:nvPr/>
        </p:nvSpPr>
        <p:spPr>
          <a:xfrm>
            <a:off x="411480" y="914400"/>
            <a:ext cx="3657600" cy="233172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22" name="Card bar 22"/>
          <p:cNvSpPr/>
          <p:nvPr/>
        </p:nvSpPr>
        <p:spPr>
          <a:xfrm>
            <a:off x="411480" y="914400"/>
            <a:ext cx="3657600" cy="54864"/>
          </a:xfrm>
          <a:prstGeom prst="rect">
            <a:avLst/>
          </a:prstGeom>
          <a:solidFill>
            <a:srgbClr val="C00000"/>
          </a:solidFill>
          <a:ln>
            <a:noFill/>
          </a:ln>
          <a:effectLst/>
        </p:spPr>
        <p:txBody>
          <a:bodyPr wrap="square" rtlCol="0" anchor="ctr" lIns="73152" rIns="73152" tIns="36576" bIns="36576"/>
          <a:lstStyle/>
          <a:p/>
        </p:txBody>
      </p:sp>
      <p:sp>
        <p:nvSpPr>
          <p:cNvPr id="23" name="TextBox 23"/>
          <p:cNvSpPr txBox="1"/>
          <p:nvPr/>
        </p:nvSpPr>
        <p:spPr>
          <a:xfrm>
            <a:off x="548640" y="1005840"/>
            <a:ext cx="3383280" cy="365760"/>
          </a:xfrm>
          <a:prstGeom prst="rect">
            <a:avLst/>
          </a:prstGeom>
          <a:noFill/>
        </p:spPr>
        <p:txBody>
          <a:bodyPr wrap="square" anchor="t" lIns="45720" rIns="45720" tIns="18288" bIns="18288"/>
          <a:lstStyle/>
          <a:p>
            <a:pPr>
              <a:spcBef>
                <a:spcPts val="0"/>
              </a:spcBef>
              <a:spcAft>
                <a:spcPts val="0"/>
              </a:spcAft>
              <a:buNone/>
            </a:pPr>
            <a:r>
              <a:rPr sz="1400" b="0">
                <a:solidFill>
                  <a:srgbClr val="666666"/>
                </a:solidFill>
                <a:latin typeface="Roboto Medium"/>
                <a:ea typeface="Roboto Medium"/>
                <a:cs typeface="Roboto Medium"/>
              </a:rPr>
              <a:t>Adoption rate (C1)</a:t>
            </a:r>
          </a:p>
        </p:txBody>
      </p:sp>
      <p:sp>
        <p:nvSpPr>
          <p:cNvPr id="24" name="TextBox 24"/>
          <p:cNvSpPr txBox="1"/>
          <p:nvPr/>
        </p:nvSpPr>
        <p:spPr>
          <a:xfrm>
            <a:off x="548640" y="1371600"/>
            <a:ext cx="3383280" cy="731520"/>
          </a:xfrm>
          <a:prstGeom prst="rect">
            <a:avLst/>
          </a:prstGeom>
          <a:noFill/>
        </p:spPr>
        <p:txBody>
          <a:bodyPr wrap="square" anchor="t" lIns="45720" rIns="45720" tIns="18288" bIns="18288"/>
          <a:lstStyle/>
          <a:p>
            <a:pPr>
              <a:spcBef>
                <a:spcPts val="0"/>
              </a:spcBef>
              <a:spcAft>
                <a:spcPts val="0"/>
              </a:spcAft>
              <a:buNone/>
            </a:pPr>
            <a:r>
              <a:rPr sz="3000" b="1">
                <a:solidFill>
                  <a:srgbClr val="C00000"/>
                </a:solidFill>
                <a:latin typeface="Roboto Black"/>
                <a:ea typeface="Roboto Black"/>
                <a:cs typeface="Roboto Black"/>
              </a:rPr>
              <a:t>70.7%</a:t>
            </a:r>
            <a:r>
              <a:rPr sz="3000" b="1">
                <a:solidFill>
                  <a:srgbClr val="003366"/>
                </a:solidFill>
                <a:latin typeface="Roboto Black"/>
                <a:ea typeface="Roboto Black"/>
                <a:cs typeface="Roboto Black"/>
              </a:rPr>
              <a:t xml:space="preserve"> vs 25.4%</a:t>
            </a:r>
          </a:p>
        </p:txBody>
      </p:sp>
      <p:sp>
        <p:nvSpPr>
          <p:cNvPr id="25" name="TextBox 25"/>
          <p:cNvSpPr txBox="1"/>
          <p:nvPr/>
        </p:nvSpPr>
        <p:spPr>
          <a:xfrm>
            <a:off x="548640" y="2148840"/>
            <a:ext cx="3383280" cy="1051560"/>
          </a:xfrm>
          <a:prstGeom prst="rect">
            <a:avLst/>
          </a:prstGeom>
          <a:noFill/>
        </p:spPr>
        <p:txBody>
          <a:bodyPr wrap="square" anchor="t" lIns="45720" rIns="45720" tIns="18288" bIns="18288"/>
          <a:lstStyle/>
          <a:p>
            <a:pPr>
              <a:spcBef>
                <a:spcPts val="0"/>
              </a:spcBef>
              <a:spcAft>
                <a:spcPts val="0"/>
              </a:spcAft>
              <a:buNone/>
            </a:pPr>
            <a:r>
              <a:rPr sz="1300" b="0">
                <a:solidFill>
                  <a:srgbClr val="666666"/>
                </a:solidFill>
                <a:latin typeface="Roboto Medium"/>
                <a:ea typeface="Roboto Medium"/>
                <a:cs typeface="Roboto Medium"/>
              </a:rPr>
              <a:t xml:space="preserve">testimony sai của key agent (+9.3 điểm so với C0) vs testimony đúng của 2nd-key agent; tỉ lệ </a:t>
            </a:r>
            <a:r>
              <a:rPr sz="1300" b="0" i="1">
                <a:solidFill>
                  <a:srgbClr val="666666"/>
                </a:solidFill>
                <a:latin typeface="Roboto Medium"/>
                <a:ea typeface="Roboto Medium"/>
                <a:cs typeface="Roboto Medium"/>
              </a:rPr>
              <a:t>được trích</a:t>
            </a:r>
            <a:r>
              <a:rPr sz="1300" b="0">
                <a:solidFill>
                  <a:srgbClr val="666666"/>
                </a:solidFill>
                <a:latin typeface="Roboto Medium"/>
                <a:ea typeface="Roboto Medium"/>
                <a:cs typeface="Roboto Medium"/>
              </a:rPr>
              <a:t xml:space="preserve"> tương đương nhau</a:t>
            </a:r>
          </a:p>
        </p:txBody>
      </p:sp>
      <p:sp>
        <p:nvSpPr>
          <p:cNvPr id="26" name="TextBox 26"/>
          <p:cNvSpPr txBox="1"/>
          <p:nvPr/>
        </p:nvSpPr>
        <p:spPr>
          <a:xfrm>
            <a:off x="4297680" y="914400"/>
            <a:ext cx="3657600" cy="365760"/>
          </a:xfrm>
          <a:prstGeom prst="rect">
            <a:avLst/>
          </a:prstGeom>
          <a:noFill/>
        </p:spPr>
        <p:txBody>
          <a:bodyPr wrap="square" anchor="t" lIns="45720" rIns="45720" tIns="18288" bIns="18288"/>
          <a:lstStyle/>
          <a:p>
            <a:pPr>
              <a:spcBef>
                <a:spcPts val="0"/>
              </a:spcBef>
              <a:spcAft>
                <a:spcPts val="0"/>
              </a:spcAft>
              <a:buNone/>
            </a:pPr>
            <a:r>
              <a:rPr sz="1400" b="0">
                <a:solidFill>
                  <a:srgbClr val="666666"/>
                </a:solidFill>
                <a:latin typeface="Roboto Medium"/>
                <a:ea typeface="Roboto Medium"/>
                <a:cs typeface="Roboto Medium"/>
              </a:rPr>
              <a:t>Propagation order (người giữ một gốc)</a:t>
            </a:r>
          </a:p>
        </p:txBody>
      </p:sp>
      <p:graphicFrame>
        <p:nvGraphicFramePr>
          <p:cNvPr id="27" name="Table 27"/>
          <p:cNvGraphicFramePr>
            <a:graphicFrameLocks noGrp="1"/>
          </p:cNvGraphicFramePr>
          <p:nvPr/>
        </p:nvGraphicFramePr>
        <p:xfrm>
          <a:off x="4297680" y="1280160"/>
          <a:ext cx="3657600" cy="1828800"/>
        </p:xfrm>
        <a:graphic>
          <a:graphicData uri="http://schemas.openxmlformats.org/drawingml/2006/table">
            <a:tbl>
              <a:tblPr firstRow="0" bandRow="0"/>
              <a:tblGrid>
                <a:gridCol w="1188720"/>
                <a:gridCol w="1234440"/>
                <a:gridCol w="1234440"/>
              </a:tblGrid>
              <a:tr h="457200">
                <a:tc>
                  <a:txBody>
                    <a:bodyPr wrap="square"/>
                    <a:lstStyle/>
                    <a:p>
                      <a:pPr>
                        <a:spcBef>
                          <a:spcPts val="0"/>
                        </a:spcBef>
                        <a:spcAft>
                          <a:spcPts val="0"/>
                        </a:spcAft>
                        <a:buNone/>
                      </a:pPr>
                      <a:r>
                        <a:rPr sz="1450" b="1">
                          <a:solidFill>
                            <a:srgbClr val="FFFFFF"/>
                          </a:solidFill>
                          <a:latin typeface="Roboto Black"/>
                          <a:ea typeface="Roboto Black"/>
                          <a:cs typeface="Roboto Black"/>
                        </a:rPr>
                        <a:t>Vòng</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lgn="ctr">
                        <a:spcBef>
                          <a:spcPts val="0"/>
                        </a:spcBef>
                        <a:spcAft>
                          <a:spcPts val="0"/>
                        </a:spcAft>
                        <a:buNone/>
                      </a:pPr>
                      <a:r>
                        <a:rPr sz="1450" b="1">
                          <a:solidFill>
                            <a:srgbClr val="FFFFFF"/>
                          </a:solidFill>
                          <a:latin typeface="Roboto Black"/>
                          <a:ea typeface="Roboto Black"/>
                          <a:cs typeface="Roboto Black"/>
                        </a:rPr>
                        <a:t>Gốc đúng</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lgn="ctr">
                        <a:spcBef>
                          <a:spcPts val="0"/>
                        </a:spcBef>
                        <a:spcAft>
                          <a:spcPts val="0"/>
                        </a:spcAft>
                        <a:buNone/>
                      </a:pPr>
                      <a:r>
                        <a:rPr sz="1450" b="1">
                          <a:solidFill>
                            <a:srgbClr val="FFFFFF"/>
                          </a:solidFill>
                          <a:latin typeface="Roboto Black"/>
                          <a:ea typeface="Roboto Black"/>
                          <a:cs typeface="Roboto Black"/>
                        </a:rPr>
                        <a:t>Gốc sai</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r>
              <a:tr h="457200">
                <a:tc>
                  <a:txBody>
                    <a:bodyPr wrap="square"/>
                    <a:lstStyle/>
                    <a:p>
                      <a:pPr>
                        <a:spcBef>
                          <a:spcPts val="0"/>
                        </a:spcBef>
                        <a:spcAft>
                          <a:spcPts val="0"/>
                        </a:spcAft>
                        <a:buNone/>
                      </a:pPr>
                      <a:r>
                        <a:rPr sz="1450" b="1">
                          <a:solidFill>
                            <a:srgbClr val="003366"/>
                          </a:solidFill>
                          <a:latin typeface="Roboto Black"/>
                          <a:ea typeface="Roboto Black"/>
                          <a:cs typeface="Roboto Black"/>
                        </a:rPr>
                        <a:t>R1</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450" b="0">
                          <a:solidFill>
                            <a:srgbClr val="222222"/>
                          </a:solidFill>
                          <a:latin typeface="Roboto Medium"/>
                          <a:ea typeface="Roboto Medium"/>
                          <a:cs typeface="Roboto Medium"/>
                        </a:rPr>
                        <a:t>1.00</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450" b="0">
                          <a:solidFill>
                            <a:srgbClr val="222222"/>
                          </a:solidFill>
                          <a:latin typeface="Roboto Medium"/>
                          <a:ea typeface="Roboto Medium"/>
                          <a:cs typeface="Roboto Medium"/>
                        </a:rPr>
                        <a:t>1.00</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57200">
                <a:tc>
                  <a:txBody>
                    <a:bodyPr wrap="square"/>
                    <a:lstStyle/>
                    <a:p>
                      <a:pPr>
                        <a:spcBef>
                          <a:spcPts val="0"/>
                        </a:spcBef>
                        <a:spcAft>
                          <a:spcPts val="0"/>
                        </a:spcAft>
                        <a:buNone/>
                      </a:pPr>
                      <a:r>
                        <a:rPr sz="1450" b="1">
                          <a:solidFill>
                            <a:srgbClr val="003366"/>
                          </a:solidFill>
                          <a:latin typeface="Roboto Black"/>
                          <a:ea typeface="Roboto Black"/>
                          <a:cs typeface="Roboto Black"/>
                        </a:rPr>
                        <a:t>R2</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450" b="0">
                          <a:solidFill>
                            <a:srgbClr val="222222"/>
                          </a:solidFill>
                          <a:latin typeface="Roboto Medium"/>
                          <a:ea typeface="Roboto Medium"/>
                          <a:cs typeface="Roboto Medium"/>
                        </a:rPr>
                        <a:t>1.44</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450" b="1">
                          <a:solidFill>
                            <a:srgbClr val="C00000"/>
                          </a:solidFill>
                          <a:latin typeface="Roboto Black"/>
                          <a:ea typeface="Roboto Black"/>
                          <a:cs typeface="Roboto Black"/>
                        </a:rPr>
                        <a:t>1.83</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57200">
                <a:tc>
                  <a:txBody>
                    <a:bodyPr wrap="square"/>
                    <a:lstStyle/>
                    <a:p>
                      <a:pPr>
                        <a:spcBef>
                          <a:spcPts val="0"/>
                        </a:spcBef>
                        <a:spcAft>
                          <a:spcPts val="0"/>
                        </a:spcAft>
                        <a:buNone/>
                      </a:pPr>
                      <a:r>
                        <a:rPr sz="1450" b="1">
                          <a:solidFill>
                            <a:srgbClr val="003366"/>
                          </a:solidFill>
                          <a:latin typeface="Roboto Black"/>
                          <a:ea typeface="Roboto Black"/>
                          <a:cs typeface="Roboto Black"/>
                        </a:rPr>
                        <a:t>R3</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450" b="0">
                          <a:solidFill>
                            <a:srgbClr val="222222"/>
                          </a:solidFill>
                          <a:latin typeface="Roboto Medium"/>
                          <a:ea typeface="Roboto Medium"/>
                          <a:cs typeface="Roboto Medium"/>
                        </a:rPr>
                        <a:t>1.33</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lgn="ctr">
                        <a:spcBef>
                          <a:spcPts val="0"/>
                        </a:spcBef>
                        <a:spcAft>
                          <a:spcPts val="0"/>
                        </a:spcAft>
                        <a:buNone/>
                      </a:pPr>
                      <a:r>
                        <a:rPr sz="1450" b="1">
                          <a:solidFill>
                            <a:srgbClr val="C00000"/>
                          </a:solidFill>
                          <a:latin typeface="Roboto Black"/>
                          <a:ea typeface="Roboto Black"/>
                          <a:cs typeface="Roboto Black"/>
                        </a:rPr>
                        <a:t>2.66</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bl>
          </a:graphicData>
        </a:graphic>
      </p:graphicFrame>
      <p:sp>
        <p:nvSpPr>
          <p:cNvPr id="28" name="Card 28"/>
          <p:cNvSpPr/>
          <p:nvPr/>
        </p:nvSpPr>
        <p:spPr>
          <a:xfrm>
            <a:off x="8183880" y="914400"/>
            <a:ext cx="3593592" cy="233172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9" name="Card bar 29"/>
          <p:cNvSpPr/>
          <p:nvPr/>
        </p:nvSpPr>
        <p:spPr>
          <a:xfrm>
            <a:off x="8183880" y="914400"/>
            <a:ext cx="3593592" cy="54864"/>
          </a:xfrm>
          <a:prstGeom prst="rect">
            <a:avLst/>
          </a:prstGeom>
          <a:solidFill>
            <a:srgbClr val="003366"/>
          </a:solidFill>
          <a:ln>
            <a:noFill/>
          </a:ln>
          <a:effectLst/>
        </p:spPr>
        <p:txBody>
          <a:bodyPr wrap="square" rtlCol="0" anchor="ctr" lIns="73152" rIns="73152" tIns="36576" bIns="36576"/>
          <a:lstStyle/>
          <a:p/>
        </p:txBody>
      </p:sp>
      <p:sp>
        <p:nvSpPr>
          <p:cNvPr id="30" name="TextBox 30"/>
          <p:cNvSpPr txBox="1"/>
          <p:nvPr/>
        </p:nvSpPr>
        <p:spPr>
          <a:xfrm>
            <a:off x="8321040" y="1005840"/>
            <a:ext cx="3319272" cy="2194560"/>
          </a:xfrm>
          <a:prstGeom prst="rect">
            <a:avLst/>
          </a:prstGeom>
          <a:noFill/>
        </p:spPr>
        <p:txBody>
          <a:bodyPr wrap="square" anchor="t" lIns="45720" rIns="45720" tIns="18288" bIns="18288"/>
          <a:lstStyle/>
          <a:p>
            <a:pPr>
              <a:spcBef>
                <a:spcPts val="0"/>
              </a:spcBef>
              <a:spcAft>
                <a:spcPts val="0"/>
              </a:spcAft>
              <a:buNone/>
            </a:pPr>
            <a:r>
              <a:rPr sz="1550" b="1">
                <a:solidFill>
                  <a:srgbClr val="003366"/>
                </a:solidFill>
                <a:latin typeface="Roboto Black"/>
                <a:ea typeface="Roboto Black"/>
                <a:cs typeface="Roboto Black"/>
              </a:rPr>
              <a:t>Gốc sai xâm nhập gốc đúng</a:t>
            </a:r>
          </a:p>
          <a:p>
            <a:pPr marL="106650" indent="-106650">
              <a:spcBef>
                <a:spcPts val="400"/>
              </a:spcBef>
              <a:spcAft>
                <a:spcPts val="0"/>
              </a:spcAft>
              <a:buClr>
                <a:srgbClr val="C00000"/>
              </a:buClr>
              <a:buFont typeface="Arial"/>
              <a:buChar char="•"/>
            </a:pPr>
            <a:r>
              <a:rPr sz="1350" b="0">
                <a:solidFill>
                  <a:srgbClr val="222222"/>
                </a:solidFill>
                <a:latin typeface="Roboto Medium"/>
                <a:ea typeface="Roboto Medium"/>
                <a:cs typeface="Roboto Medium"/>
              </a:rPr>
              <a:t xml:space="preserve">Người giữ </a:t>
            </a:r>
            <a:r>
              <a:rPr sz="1350" b="0" i="1">
                <a:solidFill>
                  <a:srgbClr val="222222"/>
                </a:solidFill>
                <a:latin typeface="Roboto Medium"/>
                <a:ea typeface="Roboto Medium"/>
                <a:cs typeface="Roboto Medium"/>
              </a:rPr>
              <a:t>cả hai</a:t>
            </a:r>
            <a:r>
              <a:rPr sz="1350" b="0">
                <a:solidFill>
                  <a:srgbClr val="222222"/>
                </a:solidFill>
                <a:latin typeface="Roboto Medium"/>
                <a:ea typeface="Roboto Medium"/>
                <a:cs typeface="Roboto Medium"/>
              </a:rPr>
              <a:t xml:space="preserve"> gốc: 0% (R1) → 49.4% (R2) → 57.6% (R3).</a:t>
            </a:r>
          </a:p>
          <a:p>
            <a:pPr marL="106650" indent="-106650">
              <a:spcBef>
                <a:spcPts val="200"/>
              </a:spcBef>
              <a:spcAft>
                <a:spcPts val="0"/>
              </a:spcAft>
              <a:buClr>
                <a:srgbClr val="C00000"/>
              </a:buClr>
              <a:buFont typeface="Arial"/>
              <a:buChar char="•"/>
            </a:pPr>
            <a:r>
              <a:rPr sz="1350" b="1">
                <a:solidFill>
                  <a:srgbClr val="003366"/>
                </a:solidFill>
                <a:latin typeface="Roboto Black"/>
                <a:ea typeface="Roboto Black"/>
                <a:cs typeface="Roboto Black"/>
              </a:rPr>
              <a:t>82.87%</a:t>
            </a:r>
            <a:r>
              <a:rPr sz="1350" b="0">
                <a:solidFill>
                  <a:srgbClr val="222222"/>
                </a:solidFill>
                <a:latin typeface="Roboto Medium"/>
                <a:ea typeface="Roboto Medium"/>
                <a:cs typeface="Roboto Medium"/>
              </a:rPr>
              <a:t xml:space="preserve"> người chỉ có gốc đúng nhận thêm gốc sai; chiều ngược lại chỉ </a:t>
            </a:r>
            <a:r>
              <a:rPr sz="1350" b="1">
                <a:solidFill>
                  <a:srgbClr val="003366"/>
                </a:solidFill>
                <a:latin typeface="Roboto Black"/>
                <a:ea typeface="Roboto Black"/>
                <a:cs typeface="Roboto Black"/>
              </a:rPr>
              <a:t>38.31%</a:t>
            </a:r>
            <a:r>
              <a:rPr sz="1350" b="0">
                <a:solidFill>
                  <a:srgbClr val="222222"/>
                </a:solidFill>
                <a:latin typeface="Roboto Medium"/>
                <a:ea typeface="Roboto Medium"/>
                <a:cs typeface="Roboto Medium"/>
              </a:rPr>
              <a:t>.</a:t>
            </a:r>
          </a:p>
          <a:p>
            <a:pPr marL="106650" indent="-106650">
              <a:spcBef>
                <a:spcPts val="200"/>
              </a:spcBef>
              <a:spcAft>
                <a:spcPts val="0"/>
              </a:spcAft>
              <a:buClr>
                <a:srgbClr val="C00000"/>
              </a:buClr>
              <a:buFont typeface="Arial"/>
              <a:buChar char="•"/>
            </a:pPr>
            <a:r>
              <a:rPr sz="1350" b="0">
                <a:solidFill>
                  <a:srgbClr val="222222"/>
                </a:solidFill>
                <a:latin typeface="Roboto Medium"/>
                <a:ea typeface="Roboto Medium"/>
                <a:cs typeface="Roboto Medium"/>
              </a:rPr>
              <a:t>Giữ cả hai gốc: &lt; 45% bỏ phiếu đúng.</a:t>
            </a:r>
          </a:p>
        </p:txBody>
      </p:sp>
      <p:sp>
        <p:nvSpPr>
          <p:cNvPr id="31" name="TextBox 31"/>
          <p:cNvSpPr txBox="1"/>
          <p:nvPr/>
        </p:nvSpPr>
        <p:spPr>
          <a:xfrm>
            <a:off x="411480" y="3474720"/>
            <a:ext cx="11365992" cy="1188720"/>
          </a:xfrm>
          <a:prstGeom prst="rect">
            <a:avLst/>
          </a:prstGeom>
          <a:noFill/>
        </p:spPr>
        <p:txBody>
          <a:bodyPr wrap="square" anchor="t" lIns="45720" rIns="45720" tIns="18288" bIns="18288"/>
          <a:lstStyle/>
          <a:p>
            <a:pPr marL="118500" indent="-118500">
              <a:spcBef>
                <a:spcPts val="0"/>
              </a:spcBef>
              <a:spcAft>
                <a:spcPts val="0"/>
              </a:spcAft>
              <a:buClr>
                <a:srgbClr val="C00000"/>
              </a:buClr>
              <a:buFont typeface="Arial"/>
              <a:buChar char="•"/>
            </a:pPr>
            <a:r>
              <a:rPr sz="1500" b="0">
                <a:solidFill>
                  <a:srgbClr val="222222"/>
                </a:solidFill>
                <a:latin typeface="Roboto Medium"/>
                <a:ea typeface="Roboto Medium"/>
                <a:cs typeface="Roboto Medium"/>
              </a:rPr>
              <a:t xml:space="preserve">Claim về key agent nhiều hơn </a:t>
            </a:r>
            <a:r>
              <a:rPr sz="1500" b="1">
                <a:solidFill>
                  <a:srgbClr val="003366"/>
                </a:solidFill>
                <a:latin typeface="Roboto Black"/>
                <a:ea typeface="Roboto Black"/>
                <a:cs typeface="Roboto Black"/>
              </a:rPr>
              <a:t>17%</a:t>
            </a:r>
            <a:r>
              <a:rPr sz="1500" b="0">
                <a:solidFill>
                  <a:srgbClr val="222222"/>
                </a:solidFill>
                <a:latin typeface="Roboto Medium"/>
                <a:ea typeface="Roboto Medium"/>
                <a:cs typeface="Roboto Medium"/>
              </a:rPr>
              <a:t xml:space="preserve"> so với claim về 2nd-key agent (C1), dù hai bên đều có testimony.</a:t>
            </a:r>
          </a:p>
          <a:p>
            <a:pPr marL="118500" indent="-118500">
              <a:spcBef>
                <a:spcPts val="400"/>
              </a:spcBef>
              <a:spcAft>
                <a:spcPts val="0"/>
              </a:spcAft>
              <a:buClr>
                <a:srgbClr val="C00000"/>
              </a:buClr>
              <a:buFont typeface="Arial"/>
              <a:buChar char="•"/>
            </a:pPr>
            <a:r>
              <a:rPr sz="1500" b="0">
                <a:solidFill>
                  <a:srgbClr val="222222"/>
                </a:solidFill>
                <a:latin typeface="Roboto Medium"/>
                <a:ea typeface="Roboto Medium"/>
                <a:cs typeface="Roboto Medium"/>
              </a:rPr>
              <a:t xml:space="preserve">Gốc đúng hiếm khi lan sâu một mình; gốc sai tạo ra các chuỗi chuyển tiếp </a:t>
            </a:r>
            <a:r>
              <a:rPr sz="1500" b="0" i="1">
                <a:solidFill>
                  <a:srgbClr val="222222"/>
                </a:solidFill>
                <a:latin typeface="Roboto Medium"/>
                <a:ea typeface="Roboto Medium"/>
                <a:cs typeface="Roboto Medium"/>
              </a:rPr>
              <a:t>độc lập</a:t>
            </a:r>
            <a:r>
              <a:rPr sz="1500" b="0">
                <a:solidFill>
                  <a:srgbClr val="222222"/>
                </a:solidFill>
                <a:latin typeface="Roboto Medium"/>
                <a:ea typeface="Roboto Medium"/>
                <a:cs typeface="Roboto Medium"/>
              </a:rPr>
              <a:t xml:space="preserve"> ngày càng dài.</a:t>
            </a:r>
          </a:p>
        </p:txBody>
      </p:sp>
      <p:sp>
        <p:nvSpPr>
          <p:cNvPr id="32" name="Shape 32"/>
          <p:cNvSpPr/>
          <p:nvPr/>
        </p:nvSpPr>
        <p:spPr>
          <a:xfrm>
            <a:off x="411480" y="4526280"/>
            <a:ext cx="11365992" cy="1188720"/>
          </a:xfrm>
          <a:prstGeom prst="rect">
            <a:avLst/>
          </a:prstGeom>
          <a:solidFill>
            <a:srgbClr val="EEF3FA"/>
          </a:solidFill>
          <a:ln>
            <a:noFill/>
          </a:ln>
          <a:effectLst/>
        </p:spPr>
        <p:txBody>
          <a:bodyPr wrap="square" rtlCol="0" anchor="ctr" lIns="182880" rIns="182880" tIns="91440" bIns="91440"/>
          <a:lstStyle/>
          <a:p>
            <a:pPr>
              <a:spcBef>
                <a:spcPts val="0"/>
              </a:spcBef>
              <a:spcAft>
                <a:spcPts val="0"/>
              </a:spcAft>
              <a:buNone/>
            </a:pPr>
            <a:r>
              <a:rPr sz="1550" b="1">
                <a:solidFill>
                  <a:srgbClr val="003366"/>
                </a:solidFill>
                <a:latin typeface="Roboto Black"/>
                <a:ea typeface="Roboto Black"/>
                <a:cs typeface="Roboto Black"/>
              </a:rPr>
              <a:t>Thông điệp:</a:t>
            </a:r>
            <a:r>
              <a:rPr sz="1550" b="0">
                <a:solidFill>
                  <a:srgbClr val="222222"/>
                </a:solidFill>
                <a:latin typeface="Roboto Medium"/>
                <a:ea typeface="Roboto Medium"/>
                <a:cs typeface="Roboto Medium"/>
              </a:rPr>
              <a:t xml:space="preserve"> agent nói dối </a:t>
            </a:r>
            <a:r>
              <a:rPr sz="1550" b="0" i="1">
                <a:solidFill>
                  <a:srgbClr val="222222"/>
                </a:solidFill>
                <a:latin typeface="Roboto Medium"/>
                <a:ea typeface="Roboto Medium"/>
                <a:cs typeface="Roboto Medium"/>
              </a:rPr>
              <a:t>không chặn</a:t>
            </a:r>
            <a:r>
              <a:rPr sz="1550" b="0">
                <a:solidFill>
                  <a:srgbClr val="222222"/>
                </a:solidFill>
                <a:latin typeface="Roboto Medium"/>
                <a:ea typeface="Roboto Medium"/>
                <a:cs typeface="Roboto Medium"/>
              </a:rPr>
              <a:t xml:space="preserve"> thông tin đúng đi vào thảo luận, mà cản trở việc nó được </a:t>
            </a:r>
            <a:r>
              <a:rPr sz="1550" b="0" i="1">
                <a:solidFill>
                  <a:srgbClr val="222222"/>
                </a:solidFill>
                <a:latin typeface="Roboto Medium"/>
                <a:ea typeface="Roboto Medium"/>
                <a:cs typeface="Roboto Medium"/>
              </a:rPr>
              <a:t>chấp nhận</a:t>
            </a:r>
            <a:r>
              <a:rPr sz="1550" b="0">
                <a:solidFill>
                  <a:srgbClr val="222222"/>
                </a:solidFill>
                <a:latin typeface="Roboto Medium"/>
                <a:ea typeface="Roboto Medium"/>
                <a:cs typeface="Roboto Medium"/>
              </a:rPr>
              <a:t>. Muốn MAS bền vững cần tăng trọng số và khả năng lan truyền của bằng chứng đúng.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TIDE: Phân tích sâu và nhận xét</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22</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sp>
        <p:nvSpPr>
          <p:cNvPr id="21" name="Card 21"/>
          <p:cNvSpPr/>
          <p:nvPr/>
        </p:nvSpPr>
        <p:spPr>
          <a:xfrm>
            <a:off x="411480" y="914400"/>
            <a:ext cx="3636264" cy="329184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2" name="Card bar 22"/>
          <p:cNvSpPr/>
          <p:nvPr/>
        </p:nvSpPr>
        <p:spPr>
          <a:xfrm>
            <a:off x="411480" y="914400"/>
            <a:ext cx="3636264" cy="54864"/>
          </a:xfrm>
          <a:prstGeom prst="rect">
            <a:avLst/>
          </a:prstGeom>
          <a:solidFill>
            <a:srgbClr val="003366"/>
          </a:solidFill>
          <a:ln>
            <a:noFill/>
          </a:ln>
          <a:effectLst/>
        </p:spPr>
        <p:txBody>
          <a:bodyPr wrap="square" rtlCol="0" anchor="ctr" lIns="73152" rIns="73152" tIns="36576" bIns="36576"/>
          <a:lstStyle/>
          <a:p/>
        </p:txBody>
      </p:sp>
      <p:sp>
        <p:nvSpPr>
          <p:cNvPr id="23" name="TextBox 23"/>
          <p:cNvSpPr txBox="1"/>
          <p:nvPr/>
        </p:nvSpPr>
        <p:spPr>
          <a:xfrm>
            <a:off x="521208" y="1005840"/>
            <a:ext cx="3416808" cy="3154680"/>
          </a:xfrm>
          <a:prstGeom prst="rect">
            <a:avLst/>
          </a:prstGeom>
          <a:noFill/>
        </p:spPr>
        <p:txBody>
          <a:bodyPr wrap="square" anchor="t" lIns="45720" rIns="45720" tIns="18288" bIns="18288"/>
          <a:lstStyle/>
          <a:p>
            <a:pPr>
              <a:spcBef>
                <a:spcPts val="0"/>
              </a:spcBef>
              <a:spcAft>
                <a:spcPts val="0"/>
              </a:spcAft>
              <a:buNone/>
            </a:pPr>
            <a:r>
              <a:rPr sz="1650" b="1">
                <a:solidFill>
                  <a:srgbClr val="003366"/>
                </a:solidFill>
                <a:latin typeface="Roboto Black"/>
                <a:ea typeface="Roboto Black"/>
                <a:cs typeface="Roboto Black"/>
              </a:rPr>
              <a:t>Deceiver-Exit (GPT-5.5)</a:t>
            </a:r>
          </a:p>
          <a:p>
            <a:pPr>
              <a:spcBef>
                <a:spcPts val="300"/>
              </a:spcBef>
              <a:spcAft>
                <a:spcPts val="0"/>
              </a:spcAft>
              <a:buNone/>
            </a:pPr>
            <a:r>
              <a:rPr sz="1400" b="0">
                <a:solidFill>
                  <a:srgbClr val="666666"/>
                </a:solidFill>
                <a:latin typeface="Roboto Medium"/>
                <a:ea typeface="Roboto Medium"/>
                <a:cs typeface="Roboto Medium"/>
              </a:rPr>
              <a:t>Key agent nộp testimony ở T1 rồi rời nhóm.</a:t>
            </a:r>
          </a:p>
          <a:p>
            <a:pPr marL="114550" indent="-114550">
              <a:spcBef>
                <a:spcPts val="400"/>
              </a:spcBef>
              <a:spcAft>
                <a:spcPts val="0"/>
              </a:spcAft>
              <a:buClr>
                <a:srgbClr val="C00000"/>
              </a:buClr>
              <a:buFont typeface="Arial"/>
              <a:buChar char="•"/>
            </a:pPr>
            <a:r>
              <a:rPr sz="1450" b="0">
                <a:solidFill>
                  <a:srgbClr val="222222"/>
                </a:solidFill>
                <a:latin typeface="Roboto Medium"/>
                <a:ea typeface="Roboto Medium"/>
                <a:cs typeface="Roboto Medium"/>
              </a:rPr>
              <a:t xml:space="preserve">Null-Exit vẫn đạt </a:t>
            </a:r>
            <a:r>
              <a:rPr sz="1450" b="1">
                <a:solidFill>
                  <a:srgbClr val="003366"/>
                </a:solidFill>
                <a:latin typeface="Roboto Black"/>
                <a:ea typeface="Roboto Black"/>
                <a:cs typeface="Roboto Black"/>
              </a:rPr>
              <a:t>93</a:t>
            </a:r>
            <a:r>
              <a:rPr sz="1450" b="0">
                <a:solidFill>
                  <a:srgbClr val="222222"/>
                </a:solidFill>
                <a:latin typeface="Roboto Medium"/>
                <a:ea typeface="Roboto Medium"/>
                <a:cs typeface="Roboto Medium"/>
              </a:rPr>
              <a:t xml:space="preserve"> truth majority → 4 agent còn lại đủ bằng chứng.</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 xml:space="preserve">False-Exit thấp hơn Null-Exit </a:t>
            </a:r>
            <a:r>
              <a:rPr sz="1450" b="1">
                <a:solidFill>
                  <a:srgbClr val="003366"/>
                </a:solidFill>
                <a:latin typeface="Roboto Black"/>
                <a:ea typeface="Roboto Black"/>
                <a:cs typeface="Roboto Black"/>
              </a:rPr>
              <a:t>46.67</a:t>
            </a:r>
            <a:r>
              <a:rPr sz="1450" b="0">
                <a:solidFill>
                  <a:srgbClr val="222222"/>
                </a:solidFill>
                <a:latin typeface="Roboto Medium"/>
                <a:ea typeface="Roboto Medium"/>
                <a:cs typeface="Roboto Medium"/>
              </a:rPr>
              <a:t xml:space="preserve"> điểm, gần như C1.</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 xml:space="preserve">R3 False-Exit: </a:t>
            </a:r>
            <a:r>
              <a:rPr sz="1450" b="1">
                <a:solidFill>
                  <a:srgbClr val="003366"/>
                </a:solidFill>
                <a:latin typeface="Roboto Black"/>
                <a:ea typeface="Roboto Black"/>
                <a:cs typeface="Roboto Black"/>
              </a:rPr>
              <a:t>273</a:t>
            </a:r>
            <a:r>
              <a:rPr sz="1450" b="0">
                <a:solidFill>
                  <a:srgbClr val="222222"/>
                </a:solidFill>
                <a:latin typeface="Roboto Medium"/>
                <a:ea typeface="Roboto Medium"/>
                <a:cs typeface="Roboto Medium"/>
              </a:rPr>
              <a:t xml:space="preserve"> agent trung thực vẫn trích, </a:t>
            </a:r>
            <a:r>
              <a:rPr sz="1450" b="1">
                <a:solidFill>
                  <a:srgbClr val="003366"/>
                </a:solidFill>
                <a:latin typeface="Roboto Black"/>
                <a:ea typeface="Roboto Black"/>
                <a:cs typeface="Roboto Black"/>
              </a:rPr>
              <a:t>197</a:t>
            </a:r>
            <a:r>
              <a:rPr sz="1450" b="0">
                <a:solidFill>
                  <a:srgbClr val="222222"/>
                </a:solidFill>
                <a:latin typeface="Roboto Medium"/>
                <a:ea typeface="Roboto Medium"/>
                <a:cs typeface="Roboto Medium"/>
              </a:rPr>
              <a:t xml:space="preserve"> tán thành testimony sai.</a:t>
            </a:r>
          </a:p>
        </p:txBody>
      </p:sp>
      <p:sp>
        <p:nvSpPr>
          <p:cNvPr id="24" name="Card 24"/>
          <p:cNvSpPr/>
          <p:nvPr/>
        </p:nvSpPr>
        <p:spPr>
          <a:xfrm>
            <a:off x="4276344" y="914400"/>
            <a:ext cx="3636264" cy="3291840"/>
          </a:xfrm>
          <a:prstGeom prst="rect">
            <a:avLst/>
          </a:prstGeom>
          <a:solidFill>
            <a:srgbClr val="F3F6FB"/>
          </a:solidFill>
          <a:ln w="9525">
            <a:solidFill>
              <a:srgbClr val="CFDAE8"/>
            </a:solidFill>
          </a:ln>
          <a:effectLst/>
        </p:spPr>
        <p:txBody>
          <a:bodyPr wrap="square" rtlCol="0" anchor="ctr" lIns="73152" rIns="73152" tIns="36576" bIns="36576"/>
          <a:lstStyle/>
          <a:p/>
        </p:txBody>
      </p:sp>
      <p:sp>
        <p:nvSpPr>
          <p:cNvPr id="25" name="Card bar 25"/>
          <p:cNvSpPr/>
          <p:nvPr/>
        </p:nvSpPr>
        <p:spPr>
          <a:xfrm>
            <a:off x="4276344" y="914400"/>
            <a:ext cx="3636264" cy="54864"/>
          </a:xfrm>
          <a:prstGeom prst="rect">
            <a:avLst/>
          </a:prstGeom>
          <a:solidFill>
            <a:srgbClr val="003366"/>
          </a:solidFill>
          <a:ln>
            <a:noFill/>
          </a:ln>
          <a:effectLst/>
        </p:spPr>
        <p:txBody>
          <a:bodyPr wrap="square" rtlCol="0" anchor="ctr" lIns="73152" rIns="73152" tIns="36576" bIns="36576"/>
          <a:lstStyle/>
          <a:p/>
        </p:txBody>
      </p:sp>
      <p:sp>
        <p:nvSpPr>
          <p:cNvPr id="26" name="TextBox 26"/>
          <p:cNvSpPr txBox="1"/>
          <p:nvPr/>
        </p:nvSpPr>
        <p:spPr>
          <a:xfrm>
            <a:off x="4386072" y="1005840"/>
            <a:ext cx="3416808" cy="3154680"/>
          </a:xfrm>
          <a:prstGeom prst="rect">
            <a:avLst/>
          </a:prstGeom>
          <a:noFill/>
        </p:spPr>
        <p:txBody>
          <a:bodyPr wrap="square" anchor="t" lIns="45720" rIns="45720" tIns="18288" bIns="18288"/>
          <a:lstStyle/>
          <a:p>
            <a:pPr>
              <a:spcBef>
                <a:spcPts val="0"/>
              </a:spcBef>
              <a:spcAft>
                <a:spcPts val="0"/>
              </a:spcAft>
              <a:buNone/>
            </a:pPr>
            <a:r>
              <a:rPr sz="1650" b="1">
                <a:solidFill>
                  <a:srgbClr val="003366"/>
                </a:solidFill>
                <a:latin typeface="Roboto Black"/>
                <a:ea typeface="Roboto Black"/>
                <a:cs typeface="Roboto Black"/>
              </a:rPr>
              <a:t>Observer can thiệp</a:t>
            </a:r>
          </a:p>
          <a:p>
            <a:pPr>
              <a:spcBef>
                <a:spcPts val="300"/>
              </a:spcBef>
              <a:spcAft>
                <a:spcPts val="0"/>
              </a:spcAft>
              <a:buNone/>
            </a:pPr>
            <a:r>
              <a:rPr sz="1400" b="0">
                <a:solidFill>
                  <a:srgbClr val="666666"/>
                </a:solidFill>
                <a:latin typeface="Roboto Medium"/>
                <a:ea typeface="Roboto Medium"/>
                <a:cs typeface="Roboto Medium"/>
              </a:rPr>
              <a:t>Thêm 3 observer không có bằng chứng trực tiếp.</a:t>
            </a:r>
          </a:p>
          <a:p>
            <a:pPr marL="114550" indent="-114550">
              <a:spcBef>
                <a:spcPts val="400"/>
              </a:spcBef>
              <a:spcAft>
                <a:spcPts val="0"/>
              </a:spcAft>
              <a:buClr>
                <a:srgbClr val="C00000"/>
              </a:buClr>
              <a:buFont typeface="Arial"/>
              <a:buChar char="•"/>
            </a:pPr>
            <a:r>
              <a:rPr sz="1450" b="1">
                <a:solidFill>
                  <a:srgbClr val="003366"/>
                </a:solidFill>
                <a:latin typeface="Roboto Black"/>
                <a:ea typeface="Roboto Black"/>
                <a:cs typeface="Roboto Black"/>
              </a:rPr>
              <a:t>Passive</a:t>
            </a:r>
            <a:r>
              <a:rPr sz="1450" b="0">
                <a:solidFill>
                  <a:srgbClr val="222222"/>
                </a:solidFill>
                <a:latin typeface="Roboto Medium"/>
                <a:ea typeface="Roboto Medium"/>
                <a:cs typeface="Roboto Medium"/>
              </a:rPr>
              <a:t xml:space="preserve"> (chỉ đọc): observer đạt 32 truth / 18 decoy majority, so với 31 / 51 của participant.</a:t>
            </a:r>
          </a:p>
          <a:p>
            <a:pPr marL="114550" indent="-114550">
              <a:spcBef>
                <a:spcPts val="200"/>
              </a:spcBef>
              <a:spcAft>
                <a:spcPts val="0"/>
              </a:spcAft>
              <a:buClr>
                <a:srgbClr val="C00000"/>
              </a:buClr>
              <a:buFont typeface="Arial"/>
              <a:buChar char="•"/>
            </a:pPr>
            <a:r>
              <a:rPr sz="1450" b="1">
                <a:solidFill>
                  <a:srgbClr val="003366"/>
                </a:solidFill>
                <a:latin typeface="Roboto Black"/>
                <a:ea typeface="Roboto Black"/>
                <a:cs typeface="Roboto Black"/>
              </a:rPr>
              <a:t>Active</a:t>
            </a:r>
            <a:r>
              <a:rPr sz="1450" b="0">
                <a:solidFill>
                  <a:srgbClr val="222222"/>
                </a:solidFill>
                <a:latin typeface="Roboto Medium"/>
                <a:ea typeface="Roboto Medium"/>
                <a:cs typeface="Roboto Medium"/>
              </a:rPr>
              <a:t xml:space="preserve"> (phát biểu): decoy majority giảm </a:t>
            </a:r>
            <a:r>
              <a:rPr sz="1450" b="1">
                <a:solidFill>
                  <a:srgbClr val="003366"/>
                </a:solidFill>
                <a:latin typeface="Roboto Black"/>
                <a:ea typeface="Roboto Black"/>
                <a:cs typeface="Roboto Black"/>
              </a:rPr>
              <a:t>~90%</a:t>
            </a:r>
            <a:r>
              <a:rPr sz="1450" b="0">
                <a:solidFill>
                  <a:srgbClr val="222222"/>
                </a:solidFill>
                <a:latin typeface="Roboto Medium"/>
                <a:ea typeface="Roboto Medium"/>
                <a:cs typeface="Roboto Medium"/>
              </a:rPr>
              <a:t xml:space="preserve">, nhưng truth majority </a:t>
            </a:r>
            <a:r>
              <a:rPr sz="1450" b="1">
                <a:solidFill>
                  <a:srgbClr val="003366"/>
                </a:solidFill>
                <a:latin typeface="Roboto Black"/>
                <a:ea typeface="Roboto Black"/>
                <a:cs typeface="Roboto Black"/>
              </a:rPr>
              <a:t>không</a:t>
            </a:r>
            <a:r>
              <a:rPr sz="1450" b="0">
                <a:solidFill>
                  <a:srgbClr val="222222"/>
                </a:solidFill>
                <a:latin typeface="Roboto Medium"/>
                <a:ea typeface="Roboto Medium"/>
                <a:cs typeface="Roboto Medium"/>
              </a:rPr>
              <a:t xml:space="preserve"> tăng mà còn giảm.</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Observer làm nhóm thận trọng hơn chứ không phân biệt được đúng / sai.</a:t>
            </a:r>
          </a:p>
        </p:txBody>
      </p:sp>
      <p:sp>
        <p:nvSpPr>
          <p:cNvPr id="27" name="Card 27"/>
          <p:cNvSpPr/>
          <p:nvPr/>
        </p:nvSpPr>
        <p:spPr>
          <a:xfrm>
            <a:off x="8141208" y="914400"/>
            <a:ext cx="3636264" cy="3291840"/>
          </a:xfrm>
          <a:prstGeom prst="rect">
            <a:avLst/>
          </a:prstGeom>
          <a:solidFill>
            <a:srgbClr val="FCF4F4"/>
          </a:solidFill>
          <a:ln w="9525">
            <a:solidFill>
              <a:srgbClr val="EBCBCB"/>
            </a:solidFill>
          </a:ln>
          <a:effectLst/>
        </p:spPr>
        <p:txBody>
          <a:bodyPr wrap="square" rtlCol="0" anchor="ctr" lIns="73152" rIns="73152" tIns="36576" bIns="36576"/>
          <a:lstStyle/>
          <a:p/>
        </p:txBody>
      </p:sp>
      <p:sp>
        <p:nvSpPr>
          <p:cNvPr id="28" name="Card bar 28"/>
          <p:cNvSpPr/>
          <p:nvPr/>
        </p:nvSpPr>
        <p:spPr>
          <a:xfrm>
            <a:off x="8141208" y="914400"/>
            <a:ext cx="3636264" cy="54864"/>
          </a:xfrm>
          <a:prstGeom prst="rect">
            <a:avLst/>
          </a:prstGeom>
          <a:solidFill>
            <a:srgbClr val="C00000"/>
          </a:solidFill>
          <a:ln>
            <a:noFill/>
          </a:ln>
          <a:effectLst/>
        </p:spPr>
        <p:txBody>
          <a:bodyPr wrap="square" rtlCol="0" anchor="ctr" lIns="73152" rIns="73152" tIns="36576" bIns="36576"/>
          <a:lstStyle/>
          <a:p/>
        </p:txBody>
      </p:sp>
      <p:sp>
        <p:nvSpPr>
          <p:cNvPr id="29" name="TextBox 29"/>
          <p:cNvSpPr txBox="1"/>
          <p:nvPr/>
        </p:nvSpPr>
        <p:spPr>
          <a:xfrm>
            <a:off x="8250936" y="1005840"/>
            <a:ext cx="3416808" cy="3154680"/>
          </a:xfrm>
          <a:prstGeom prst="rect">
            <a:avLst/>
          </a:prstGeom>
          <a:noFill/>
        </p:spPr>
        <p:txBody>
          <a:bodyPr wrap="square" anchor="t" lIns="45720" rIns="45720" tIns="18288" bIns="18288"/>
          <a:lstStyle/>
          <a:p>
            <a:pPr>
              <a:spcBef>
                <a:spcPts val="0"/>
              </a:spcBef>
              <a:spcAft>
                <a:spcPts val="0"/>
              </a:spcAft>
              <a:buNone/>
            </a:pPr>
            <a:r>
              <a:rPr sz="1650" b="1">
                <a:solidFill>
                  <a:srgbClr val="C00000"/>
                </a:solidFill>
                <a:latin typeface="Roboto Black"/>
                <a:ea typeface="Roboto Black"/>
                <a:cs typeface="Roboto Black"/>
              </a:rPr>
              <a:t>Hạn chế</a:t>
            </a:r>
          </a:p>
          <a:p>
            <a:pPr marL="114550" indent="-114550">
              <a:spcBef>
                <a:spcPts val="400"/>
              </a:spcBef>
              <a:spcAft>
                <a:spcPts val="0"/>
              </a:spcAft>
              <a:buClr>
                <a:srgbClr val="C00000"/>
              </a:buClr>
              <a:buFont typeface="Arial"/>
              <a:buChar char="•"/>
            </a:pPr>
            <a:r>
              <a:rPr sz="1450" b="0">
                <a:solidFill>
                  <a:srgbClr val="222222"/>
                </a:solidFill>
                <a:latin typeface="Roboto Medium"/>
                <a:ea typeface="Roboto Medium"/>
                <a:cs typeface="Roboto Medium"/>
              </a:rPr>
              <a:t>Chỉ 1 tác vụ hẹp (vị trí đồ vật); mỗi cấu hình chạy 1 lần.</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Hệ đồng nhất 5 agent, kết nối đầy đủ; phân tích sâu chỉ dùng GPT-5.5.</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Decoy luôn là lₘ₋₁ (vài agent trung thực cũng thấy là “cuối”) → có thể thổi phồng lừa dối.</a:t>
            </a:r>
          </a:p>
          <a:p>
            <a:pPr marL="114550" indent="-114550">
              <a:spcBef>
                <a:spcPts val="200"/>
              </a:spcBef>
              <a:spcAft>
                <a:spcPts val="0"/>
              </a:spcAft>
              <a:buClr>
                <a:srgbClr val="C00000"/>
              </a:buClr>
              <a:buFont typeface="Arial"/>
              <a:buChar char="•"/>
            </a:pPr>
            <a:r>
              <a:rPr sz="1450" b="0">
                <a:solidFill>
                  <a:srgbClr val="222222"/>
                </a:solidFill>
                <a:latin typeface="Roboto Medium"/>
                <a:ea typeface="Roboto Medium"/>
                <a:cs typeface="Roboto Medium"/>
              </a:rPr>
              <a:t>Chưa đề xuất phòng thủ.</a:t>
            </a:r>
          </a:p>
        </p:txBody>
      </p:sp>
      <p:sp>
        <p:nvSpPr>
          <p:cNvPr id="30" name="Shape 30"/>
          <p:cNvSpPr/>
          <p:nvPr/>
        </p:nvSpPr>
        <p:spPr>
          <a:xfrm>
            <a:off x="411480" y="4434840"/>
            <a:ext cx="11365992" cy="1463040"/>
          </a:xfrm>
          <a:prstGeom prst="rect">
            <a:avLst/>
          </a:prstGeom>
          <a:solidFill>
            <a:srgbClr val="EEF3FA"/>
          </a:solidFill>
          <a:ln>
            <a:noFill/>
          </a:ln>
          <a:effectLst/>
        </p:spPr>
        <p:txBody>
          <a:bodyPr wrap="square" rtlCol="0" anchor="ctr" lIns="182880" rIns="182880" tIns="91440" bIns="91440"/>
          <a:lstStyle/>
          <a:p>
            <a:pPr>
              <a:spcBef>
                <a:spcPts val="0"/>
              </a:spcBef>
              <a:spcAft>
                <a:spcPts val="0"/>
              </a:spcAft>
              <a:buNone/>
            </a:pPr>
            <a:r>
              <a:rPr sz="1600" b="1">
                <a:solidFill>
                  <a:srgbClr val="003366"/>
                </a:solidFill>
                <a:latin typeface="Roboto Black"/>
                <a:ea typeface="Roboto Black"/>
                <a:cs typeface="Roboto Black"/>
              </a:rPr>
              <a:t>Điểm mạnh:</a:t>
            </a:r>
            <a:r>
              <a:rPr sz="1600" b="0">
                <a:solidFill>
                  <a:srgbClr val="222222"/>
                </a:solidFill>
                <a:latin typeface="Roboto Medium"/>
                <a:ea typeface="Roboto Medium"/>
                <a:cs typeface="Roboto Medium"/>
              </a:rPr>
              <a:t xml:space="preserve"> thiết kế ghép cặp cô lập đúng tác động của lừa dối; tính đủ / thiếu thông tin được đảm bảo khi xây môi trường; truy vết evidence lineage vượt xa độ đo chỉ nhìn kết quả; kiểm định thống kê chặt (bootstrap, McNemar).</a:t>
            </a:r>
          </a:p>
          <a:p>
            <a:pPr>
              <a:spcBef>
                <a:spcPts val="400"/>
              </a:spcBef>
              <a:spcAft>
                <a:spcPts val="0"/>
              </a:spcAft>
              <a:buNone/>
            </a:pPr>
            <a:r>
              <a:rPr sz="1600" b="1">
                <a:solidFill>
                  <a:srgbClr val="003366"/>
                </a:solidFill>
                <a:latin typeface="Roboto Black"/>
                <a:ea typeface="Roboto Black"/>
                <a:cs typeface="Roboto Black"/>
              </a:rPr>
              <a:t>Gợi ý thiết kế:</a:t>
            </a:r>
            <a:r>
              <a:rPr sz="1600" b="0">
                <a:solidFill>
                  <a:srgbClr val="222222"/>
                </a:solidFill>
                <a:latin typeface="Roboto Medium"/>
                <a:ea typeface="Roboto Medium"/>
                <a:cs typeface="Roboto Medium"/>
              </a:rPr>
              <a:t xml:space="preserve"> phân biệt bằng chứng </a:t>
            </a:r>
            <a:r>
              <a:rPr sz="1600" b="0" i="1">
                <a:solidFill>
                  <a:srgbClr val="222222"/>
                </a:solidFill>
                <a:latin typeface="Roboto Medium"/>
                <a:ea typeface="Roboto Medium"/>
                <a:cs typeface="Roboto Medium"/>
              </a:rPr>
              <a:t>tận mắt</a:t>
            </a:r>
            <a:r>
              <a:rPr sz="1600" b="0">
                <a:solidFill>
                  <a:srgbClr val="222222"/>
                </a:solidFill>
                <a:latin typeface="Roboto Medium"/>
                <a:ea typeface="Roboto Medium"/>
                <a:cs typeface="Roboto Medium"/>
              </a:rPr>
              <a:t xml:space="preserve"> với </a:t>
            </a:r>
            <a:r>
              <a:rPr sz="1600" b="0" i="1">
                <a:solidFill>
                  <a:srgbClr val="222222"/>
                </a:solidFill>
                <a:latin typeface="Roboto Medium"/>
                <a:ea typeface="Roboto Medium"/>
                <a:cs typeface="Roboto Medium"/>
              </a:rPr>
              <a:t>chuyển tiếp</a:t>
            </a:r>
            <a:r>
              <a:rPr sz="1600" b="0">
                <a:solidFill>
                  <a:srgbClr val="222222"/>
                </a:solidFill>
                <a:latin typeface="Roboto Medium"/>
                <a:ea typeface="Roboto Medium"/>
                <a:cs typeface="Roboto Medium"/>
              </a:rPr>
              <a:t>; kiểm tra provenance và độc lập nguồn thay vì chỉ tìm đồng thuận.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320040" y="64008"/>
            <a:ext cx="9509760" cy="548640"/>
          </a:xfrm>
          <a:prstGeom prst="rect">
            <a:avLst/>
          </a:prstGeom>
          <a:noFill/>
        </p:spPr>
        <p:txBody>
          <a:bodyPr wrap="square" anchor="ctr" lIns="45720" rIns="45720" tIns="18288" bIns="18288"/>
          <a:lstStyle/>
          <a:p>
            <a:pPr>
              <a:spcBef>
                <a:spcPts val="0"/>
              </a:spcBef>
              <a:buNone/>
            </a:pPr>
            <a:r>
              <a:rPr sz="2200" b="1">
                <a:solidFill>
                  <a:srgbClr val="FFFFFF"/>
                </a:solidFill>
                <a:latin typeface="Roboto Black"/>
                <a:ea typeface="Roboto Black"/>
                <a:cs typeface="Roboto Black"/>
              </a:rPr>
              <a:t>Safety &amp; Robustness: So sánh MIRAGE và TIDE</a:t>
            </a:r>
          </a:p>
        </p:txBody>
      </p:sp>
      <p:sp>
        <p:nvSpPr>
          <p:cNvPr id="3" name="Section"/>
          <p:cNvSpPr txBox="1"/>
          <p:nvPr/>
        </p:nvSpPr>
        <p:spPr>
          <a:xfrm>
            <a:off x="9784080" y="64008"/>
            <a:ext cx="2103120" cy="548640"/>
          </a:xfrm>
          <a:prstGeom prst="rect">
            <a:avLst/>
          </a:prstGeom>
          <a:noFill/>
        </p:spPr>
        <p:txBody>
          <a:bodyPr wrap="square" anchor="ctr" lIns="45720" rIns="45720" tIns="18288" bIns="18288"/>
          <a:lstStyle/>
          <a:p>
            <a:pPr algn="r">
              <a:spcBef>
                <a:spcPts val="0"/>
              </a:spcBef>
              <a:buNone/>
            </a:pPr>
            <a:r>
              <a:rPr sz="1100" b="0">
                <a:solidFill>
                  <a:srgbClr val="B8C6D4"/>
                </a:solidFill>
                <a:latin typeface="Roboto Medium"/>
                <a:ea typeface="Roboto Medium"/>
                <a:cs typeface="Roboto Medium"/>
              </a:rPr>
              <a:t>2. Safety</a:t>
            </a:r>
          </a:p>
        </p:txBody>
      </p:sp>
      <p:sp>
        <p:nvSpPr>
          <p:cNvPr id="4" name="Slide number"/>
          <p:cNvSpPr txBox="1"/>
          <p:nvPr/>
        </p:nvSpPr>
        <p:spPr>
          <a:xfrm>
            <a:off x="11155680" y="6199632"/>
            <a:ext cx="731520" cy="256032"/>
          </a:xfrm>
          <a:prstGeom prst="rect">
            <a:avLst/>
          </a:prstGeom>
          <a:noFill/>
        </p:spPr>
        <p:txBody>
          <a:bodyPr wrap="square" anchor="t" lIns="45720" rIns="45720" tIns="18288" bIns="18288"/>
          <a:lstStyle/>
          <a:p>
            <a:pPr algn="r">
              <a:spcBef>
                <a:spcPts val="0"/>
              </a:spcBef>
              <a:buNone/>
            </a:pPr>
            <a:r>
              <a:rPr sz="1000" b="0">
                <a:solidFill>
                  <a:srgbClr val="666666"/>
                </a:solidFill>
                <a:latin typeface="Roboto Medium"/>
                <a:ea typeface="Roboto Medium"/>
                <a:cs typeface="Roboto Medium"/>
              </a:rPr>
              <a:t>23</a:t>
            </a:r>
          </a:p>
        </p:txBody>
      </p:sp>
      <p:sp>
        <p:nvSpPr>
          <p:cNvPr id="5" name="HUST footer name mask"/>
          <p:cNvSpPr/>
          <p:nvPr/>
        </p:nvSpPr>
        <p:spPr>
          <a:xfrm>
            <a:off x="649224" y="6126480"/>
            <a:ext cx="3273552"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UST footer Vietnamese name"/>
          <p:cNvSpPr txBox="1"/>
          <p:nvPr/>
        </p:nvSpPr>
        <p:spPr>
          <a:xfrm>
            <a:off x="667512" y="6135624"/>
            <a:ext cx="3236976" cy="256032"/>
          </a:xfrm>
          <a:prstGeom prst="rect">
            <a:avLst/>
          </a:prstGeom>
          <a:noFill/>
        </p:spPr>
        <p:txBody>
          <a:bodyPr wrap="square" anchor="t" lIns="0" rIns="0" tIns="0" bIns="0"/>
          <a:lstStyle/>
          <a:p>
            <a:pPr>
              <a:spcBef>
                <a:spcPts val="0"/>
              </a:spcBef>
              <a:buNone/>
            </a:pPr>
            <a:r>
              <a:rPr sz="1688" b="1">
                <a:solidFill>
                  <a:srgbClr val="3F3F3F"/>
                </a:solidFill>
                <a:latin typeface="Roboto Black"/>
                <a:ea typeface="Roboto Black"/>
                <a:cs typeface="Roboto Black"/>
              </a:rPr>
              <a:t>ĐẠI HỌC BÁCH KHOA HÀ NỘI</a:t>
            </a:r>
          </a:p>
        </p:txBody>
      </p:sp>
      <p:sp>
        <p:nvSpPr>
          <p:cNvPr id="7" name="HUST footer English name"/>
          <p:cNvSpPr txBox="1"/>
          <p:nvPr/>
        </p:nvSpPr>
        <p:spPr>
          <a:xfrm>
            <a:off x="667512" y="6391656"/>
            <a:ext cx="3236976" cy="219456"/>
          </a:xfrm>
          <a:prstGeom prst="rect">
            <a:avLst/>
          </a:prstGeom>
          <a:noFill/>
        </p:spPr>
        <p:txBody>
          <a:bodyPr wrap="square" anchor="t" lIns="0" rIns="0" tIns="0" bIns="0"/>
          <a:lstStyle/>
          <a:p>
            <a:pPr>
              <a:spcBef>
                <a:spcPts val="0"/>
              </a:spcBef>
              <a:buNone/>
            </a:pPr>
            <a:r>
              <a:rPr sz="1000" b="0">
                <a:solidFill>
                  <a:srgbClr val="3F3F3F"/>
                </a:solidFill>
                <a:latin typeface="Roboto Medium"/>
                <a:ea typeface="Roboto Medium"/>
                <a:cs typeface="Roboto Medium"/>
              </a:rPr>
              <a:t>HANOI UNIVERSITY OF SCIENCE AND TECHNOLOGY</a:t>
            </a:r>
          </a:p>
        </p:txBody>
      </p:sp>
      <p:graphicFrame>
        <p:nvGraphicFramePr>
          <p:cNvPr id="21" name="Table 21"/>
          <p:cNvGraphicFramePr>
            <a:graphicFrameLocks noGrp="1"/>
          </p:cNvGraphicFramePr>
          <p:nvPr/>
        </p:nvGraphicFramePr>
        <p:xfrm>
          <a:off x="411480" y="914400"/>
          <a:ext cx="11365992" cy="3785616"/>
        </p:xfrm>
        <a:graphic>
          <a:graphicData uri="http://schemas.openxmlformats.org/drawingml/2006/table">
            <a:tbl>
              <a:tblPr firstRow="0" bandRow="0"/>
              <a:tblGrid>
                <a:gridCol w="2377440"/>
                <a:gridCol w="4480560"/>
                <a:gridCol w="4507992"/>
              </a:tblGrid>
              <a:tr h="420624">
                <a:tc>
                  <a:txBody>
                    <a:bodyPr wrap="square"/>
                    <a:lstStyle/>
                    <a:p>
                      <a:pPr>
                        <a:spcBef>
                          <a:spcPts val="0"/>
                        </a:spcBef>
                        <a:spcAft>
                          <a:spcPts val="0"/>
                        </a:spcAft>
                        <a:buNone/>
                      </a:pPr>
                      <a:r>
                        <a:rPr sz="1450" b="1">
                          <a:solidFill>
                            <a:srgbClr val="FFFFFF"/>
                          </a:solidFill>
                          <a:latin typeface="Roboto Black"/>
                          <a:ea typeface="Roboto Black"/>
                          <a:cs typeface="Roboto Black"/>
                        </a:rPr>
                        <a:t>Tiêu chí</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spcBef>
                          <a:spcPts val="0"/>
                        </a:spcBef>
                        <a:spcAft>
                          <a:spcPts val="0"/>
                        </a:spcAft>
                        <a:buNone/>
                      </a:pPr>
                      <a:r>
                        <a:rPr sz="1450" b="1">
                          <a:solidFill>
                            <a:srgbClr val="FFFFFF"/>
                          </a:solidFill>
                          <a:latin typeface="Roboto Black"/>
                          <a:ea typeface="Roboto Black"/>
                          <a:cs typeface="Roboto Black"/>
                        </a:rPr>
                        <a:t>MIRAGE</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c>
                  <a:txBody>
                    <a:bodyPr wrap="square"/>
                    <a:lstStyle/>
                    <a:p>
                      <a:pPr>
                        <a:spcBef>
                          <a:spcPts val="0"/>
                        </a:spcBef>
                        <a:spcAft>
                          <a:spcPts val="0"/>
                        </a:spcAft>
                        <a:buNone/>
                      </a:pPr>
                      <a:r>
                        <a:rPr sz="1450" b="1">
                          <a:solidFill>
                            <a:srgbClr val="FFFFFF"/>
                          </a:solidFill>
                          <a:latin typeface="Roboto Black"/>
                          <a:ea typeface="Roboto Black"/>
                          <a:cs typeface="Roboto Black"/>
                        </a:rPr>
                        <a:t>TIDE</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003366"/>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Loại đóng góp</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Phương pháp phòng thủ</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Khung đánh giá (benchmark)</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Nguồn đe dọa</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Kẻ tấn công bên ngoài, truy vấn hộp đen</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Agent bên trong nói dối</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Tài sản bảo vệ</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Tính bí mật của topology</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Tính đúng của kết luận tập thể</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Topology</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DAG tối ưu (G-Designer, AGP, ARG-Designer)</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Kết nối đầy đủ, broadcast + kênh riêng</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Độ đo chính</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AUC / ACC / F1 của cạnh bị suy ra</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Truth / decoy majority, lineage, propagation</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Kết quả nổi bật</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AUC tấn công còn 0.64–0.68</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Truth majority 72.50% → 14.17%</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Kiểm định thống kê</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Không</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Có (bootstrap, McNemar)</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r h="420624">
                <a:tc>
                  <a:txBody>
                    <a:bodyPr wrap="square"/>
                    <a:lstStyle/>
                    <a:p>
                      <a:pPr>
                        <a:spcBef>
                          <a:spcPts val="0"/>
                        </a:spcBef>
                        <a:spcAft>
                          <a:spcPts val="0"/>
                        </a:spcAft>
                        <a:buNone/>
                      </a:pPr>
                      <a:r>
                        <a:rPr sz="1450" b="1">
                          <a:solidFill>
                            <a:srgbClr val="003366"/>
                          </a:solidFill>
                          <a:latin typeface="Roboto Black"/>
                          <a:ea typeface="Roboto Black"/>
                          <a:cs typeface="Roboto Black"/>
                        </a:rPr>
                        <a:t>Hạn chế chính</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1 tấn công, chưa có adaptive attacker</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c>
                  <a:txBody>
                    <a:bodyPr wrap="square"/>
                    <a:lstStyle/>
                    <a:p>
                      <a:pPr>
                        <a:spcBef>
                          <a:spcPts val="0"/>
                        </a:spcBef>
                        <a:spcAft>
                          <a:spcPts val="0"/>
                        </a:spcAft>
                        <a:buNone/>
                      </a:pPr>
                      <a:r>
                        <a:rPr sz="1450" b="0">
                          <a:solidFill>
                            <a:srgbClr val="222222"/>
                          </a:solidFill>
                          <a:latin typeface="Roboto Medium"/>
                          <a:ea typeface="Roboto Medium"/>
                          <a:cs typeface="Roboto Medium"/>
                        </a:rPr>
                        <a:t>1 tác vụ, chưa có phòng thủ</a:t>
                      </a:r>
                    </a:p>
                  </a:txBody>
                  <a:tcPr marL="64008" marR="64008" marT="27432" marB="27432" anchor="ctr">
                    <a:lnL w="9525">
                      <a:solidFill>
                        <a:srgbClr val="CFDAE8"/>
                      </a:solidFill>
                    </a:lnL>
                    <a:lnR w="9525">
                      <a:solidFill>
                        <a:srgbClr val="CFDAE8"/>
                      </a:solidFill>
                    </a:lnR>
                    <a:lnT w="9525">
                      <a:solidFill>
                        <a:srgbClr val="CFDAE8"/>
                      </a:solidFill>
                    </a:lnT>
                    <a:lnB w="9525">
                      <a:solidFill>
                        <a:srgbClr val="CFDAE8"/>
                      </a:solidFill>
                    </a:lnB>
                    <a:solidFill>
                      <a:srgbClr val="FFFFFF"/>
                    </a:solidFill>
                  </a:tcPr>
                </a:tc>
              </a:tr>
            </a:tbl>
          </a:graphicData>
        </a:graphic>
      </p:graphicFrame>
      <p:sp>
        <p:nvSpPr>
          <p:cNvPr id="22" name="Shape 22"/>
          <p:cNvSpPr/>
          <p:nvPr/>
        </p:nvSpPr>
        <p:spPr>
          <a:xfrm>
            <a:off x="411480" y="4846320"/>
            <a:ext cx="11365992" cy="1051560"/>
          </a:xfrm>
          <a:prstGeom prst="rect">
            <a:avLst/>
          </a:prstGeom>
          <a:solidFill>
            <a:srgbClr val="EEF3FA"/>
          </a:solidFill>
          <a:ln>
            <a:noFill/>
          </a:ln>
          <a:effectLst/>
        </p:spPr>
        <p:txBody>
          <a:bodyPr wrap="square" rtlCol="0" anchor="ctr" lIns="182880" rIns="182880" tIns="91440" bIns="91440"/>
          <a:lstStyle/>
          <a:p>
            <a:pPr>
              <a:spcBef>
                <a:spcPts val="0"/>
              </a:spcBef>
              <a:spcAft>
                <a:spcPts val="0"/>
              </a:spcAft>
              <a:buNone/>
            </a:pPr>
            <a:r>
              <a:rPr sz="1550" b="1">
                <a:solidFill>
                  <a:srgbClr val="003366"/>
                </a:solidFill>
                <a:latin typeface="Roboto Black"/>
                <a:ea typeface="Roboto Black"/>
                <a:cs typeface="Roboto Black"/>
              </a:rPr>
              <a:t>Bổ sung cho nhau:</a:t>
            </a:r>
            <a:r>
              <a:rPr sz="1550" b="0">
                <a:solidFill>
                  <a:srgbClr val="222222"/>
                </a:solidFill>
                <a:latin typeface="Roboto Medium"/>
                <a:ea typeface="Roboto Medium"/>
                <a:cs typeface="Roboto Medium"/>
              </a:rPr>
              <a:t xml:space="preserve"> TIDE cho thấy thông tin sai đã vào hệ thống thì thảo luận khó sửa; MIRAGE làm kẻ tấn công khó tìm agent then chốt để chèn thông tin sai. </a:t>
            </a:r>
            <a:r>
              <a:rPr sz="1550" b="1">
                <a:solidFill>
                  <a:srgbClr val="C00000"/>
                </a:solidFill>
                <a:latin typeface="Roboto Black"/>
                <a:ea typeface="Roboto Black"/>
                <a:cs typeface="Roboto Black"/>
              </a:rPr>
              <a:t>Khoảng trống:</a:t>
            </a:r>
            <a:r>
              <a:rPr sz="1550" b="0">
                <a:solidFill>
                  <a:srgbClr val="222222"/>
                </a:solidFill>
                <a:latin typeface="Roboto Medium"/>
                <a:ea typeface="Roboto Medium"/>
                <a:cs typeface="Roboto Medium"/>
              </a:rPr>
              <a:t xml:space="preserve"> chưa có cơ chế </a:t>
            </a:r>
            <a:r>
              <a:rPr sz="1550" b="0" i="1">
                <a:solidFill>
                  <a:srgbClr val="222222"/>
                </a:solidFill>
                <a:latin typeface="Roboto Medium"/>
                <a:ea typeface="Roboto Medium"/>
                <a:cs typeface="Roboto Medium"/>
              </a:rPr>
              <a:t>khôi phục</a:t>
            </a:r>
            <a:r>
              <a:rPr sz="1550" b="0">
                <a:solidFill>
                  <a:srgbClr val="222222"/>
                </a:solidFill>
                <a:latin typeface="Roboto Medium"/>
                <a:ea typeface="Roboto Medium"/>
                <a:cs typeface="Roboto Medium"/>
              </a:rPr>
              <a:t xml:space="preserve"> sự thật sau khi bị tấn công.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12165</Words>
  <Application>Microsoft Macintosh PowerPoint</Application>
  <DocSecurity>0</DocSecurity>
  <PresentationFormat>Widescreen</PresentationFormat>
  <Paragraphs>998</Paragraphs>
  <Slides>34</Slides>
  <Notes>34</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34</vt:i4>
      </vt:variant>
    </vt:vector>
  </HeadingPairs>
  <TitlesOfParts>
    <vt:vector size="50" baseType="lpstr">
      <vt:lpstr>Arial</vt:lpstr>
      <vt:lpstr>Calibri</vt:lpstr>
      <vt:lpstr>Lato</vt:lpstr>
      <vt:lpstr>Roboto</vt:lpstr>
      <vt:lpstr>Roboto Black</vt:lpstr>
      <vt:lpstr>Roboto Medium</vt:lpstr>
      <vt:lpstr>Symbol</vt:lpstr>
      <vt:lpstr>Wingdings</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Tran Xuan Huong 20240618P</cp:lastModifiedBy>
  <cp:revision>13</cp:revision>
  <dcterms:created xsi:type="dcterms:W3CDTF">2026-10-17T12:46:23Z</dcterms:created>
  <dcterms:modified xsi:type="dcterms:W3CDTF">2026-10-19T02:10:07Z</dcterms:modified>
</cp:coreProperties>
</file>